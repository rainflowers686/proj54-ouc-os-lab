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  <p:txStyles>
    <p:titleStyle/>
    <p:bodyStyle/>
    <p:otherStyle/>
  </p:txStyles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  <Relationship Id="rId2" Type="http://schemas.openxmlformats.org/officeDocument/2006/relationships/notesMaster" Target="../notesMasters/notesMaster1.xml"/>
</Relationships>
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  <Relationship Id="rId2" Type="http://schemas.openxmlformats.org/officeDocument/2006/relationships/notesMaster" Target="../notesMasters/notesMaster1.xml"/>
</Relationships>
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  <Relationship Id="rId2" Type="http://schemas.openxmlformats.org/officeDocument/2006/relationships/notesMaster" Target="../notesMasters/notesMaster1.xml"/>
</Relationships>
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  <Relationship Id="rId2" Type="http://schemas.openxmlformats.org/officeDocument/2006/relationships/notesMaster" Target="../notesMasters/notesMaster1.xml"/>
</Relationships>
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  <Relationship Id="rId2" Type="http://schemas.openxmlformats.org/officeDocument/2006/relationships/notesMaster" Target="../notesMasters/notesMaster1.xml"/>
</Relationships>
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  <Relationship Id="rId2" Type="http://schemas.openxmlformats.org/officeDocument/2006/relationships/notesMaster" Target="../notesMasters/notesMaster1.xml"/>
</Relationships>
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  <Relationship Id="rId2" Type="http://schemas.openxmlformats.org/officeDocument/2006/relationships/notesMaster" Target="../notesMasters/notesMaster1.xml"/>
</Relationships>
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  <Relationship Id="rId2" Type="http://schemas.openxmlformats.org/officeDocument/2006/relationships/notesMaster" Target="../notesMasters/notesMaster1.xml"/>
</Relationships>
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  <Relationship Id="rId2" Type="http://schemas.openxmlformats.org/officeDocument/2006/relationships/notesMaster" Target="../notesMasters/notesMaster1.xml"/>
</Relationships>
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  <Relationship Id="rId2" Type="http://schemas.openxmlformats.org/officeDocument/2006/relationships/notesMaster" Target="../notesMasters/notesMaster1.xml"/>
</Relationships>
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  <Relationship Id="rId2" Type="http://schemas.openxmlformats.org/officeDocument/2006/relationships/notesMaster" Target="../notesMasters/notesMaster1.xml"/>
</Relationships>
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  <Relationship Id="rId2" Type="http://schemas.openxmlformats.org/officeDocument/2006/relationships/notesMaster" Target="../notesMasters/notesMaster1.xml"/>
</Relationships>
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  <Relationship Id="rId2" Type="http://schemas.openxmlformats.org/officeDocument/2006/relationships/notesMaster" Target="../notesMasters/notesMaster1.xml"/>
</Relationships>
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  <Relationship Id="rId2" Type="http://schemas.openxmlformats.org/officeDocument/2006/relationships/notesMaster" Target="../notesMasters/notesMaster1.xml"/>
</Relationships>
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  <Relationship Id="rId2" Type="http://schemas.openxmlformats.org/officeDocument/2006/relationships/notesMaster" Target="../notesMasters/notesMaster1.xml"/>
</Relationships>
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  <Relationship Id="rId2" Type="http://schemas.openxmlformats.org/officeDocument/2006/relationships/notesMaster" Target="../notesMasters/notesMaster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1: OUC xv6 Lab Kit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开场先明确本项目是教学型功能挑战项目，主线是课程实验体系和可复现验证，不是内核实现赛道的 LTP 覆盖项目。</a:t>
            </a:r>
            <a:endParaRPr 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2: 赛题理解：教学型 OS 功能挑战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解释为什么我们没有把目标设成大规模内核功能，也没有把 timeout 证据包装成长期稳定性测试。</a:t>
            </a:r>
            <a:endParaRPr 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3: 课程实验痛点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这页把工程工具链和文档体系的价值讲清楚：它们不是附属物，而是教学项目能落地的基础设施。</a:t>
            </a:r>
            <a:endParaRPr 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4: 项目定位：OUC xv6-riscv 实验包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强调课程适配：降低入门门槛，同时保留对 user/kernel 边界、进程表、页表和文件表的真实理解。</a:t>
            </a:r>
            <a:endParaRPr 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5: 实验体系总览：Lab0-Lab5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 lab 都对应一个课程知识点，Lab5 是复现与报告训练，不应被理解成新的内核功能。</a:t>
            </a:r>
            <a:endParaRPr 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6: Lab1：系统调用机制 hello/add2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这不是为了增加一个有业务价值的 syscall，而是让学生第一次完整走通 xv6 系统调用机制。</a:t>
            </a:r>
            <a:endParaRPr 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7: Lab2：进程观察 pstate/pcount/pchildtest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这里的教学价值是观察和解释，不是实现完整 `ps`，也不是修改调度器。</a:t>
            </a:r>
            <a:endParaRPr 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8: Lab3：页表映射与 eager/lazy allocation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明确边界：`pgcount()` 是页表映射观察实验，不是完整内存管理实验。</a:t>
            </a:r>
            <a:endParaRPr lang="zh-CN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9: Lab4：文件表与 fd table 观察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这页必须避免夸大：这是文件表和 fd 表观察，不是完整文件系统或 inode/磁盘布局实验。</a:t>
            </a:r>
            <a:endParaRPr lang="zh-CN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10: Lab5：capstone 综合复现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Lab5 是课程综合训练，不新增内核机制；它的价值是把工程复现和机制解释连起来。</a:t>
            </a:r>
            <a:endParaRPr lang="zh-CN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11: integrated-labs 0001-0009 与一键验证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integrated patch 解决独立 patch 之间的 syscall number 冲突，并提供评委、队友和队长可复现的统一路径。</a:t>
            </a:r>
            <a:endParaRPr lang="zh-CN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12: 三方复现证据：rain/root/z2996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区分本机验证与队友复现；旧 `1ba9db6` 证据只作为 historical/superseded evidence。</a:t>
            </a:r>
            <a:endParaRPr lang="zh-CN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13: 演示视频与 evidence manifest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解释为什么不把视频、截图、raw logs 放进 Git：既控制仓库卫生，也避免隐私和大文件风险。</a:t>
            </a:r>
            <a:endParaRPr lang="zh-CN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14: 同类项目对比与差异化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这页的目标不是贬低同类项目，而是讲清本项目为何适合 proj54 和 OUC 课程语境。</a:t>
            </a:r>
            <a:endParaRPr lang="zh-CN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15: 创新点与教学价值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把创新性落到可维护、可教学、可验收的工程实践上，而不是夸大为完整内核系统。</a:t>
            </a:r>
            <a:endParaRPr lang="zh-CN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16: 边界、未来工作与总结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用诚实边界收尾：材料冲奖的关键不是说满，而是让评委相信每个结论都能追溯到真实证据。</a:t>
            </a:r>
            <a:endParaRPr 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4" name="Shape 4"/>
          <p:cNvSpPr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OUC xv6 Lab Kit</a:t>
            </a:r>
            <a:endParaRPr lang="zh-CN" sz="3400"/>
          </a:p>
        </p:txBody>
      </p:sp>
      <p:sp>
        <p:nvSpPr>
          <p:cNvPr id="5" name="Shape 5"/>
          <p:cNvSpPr/>
          <p:nvPr/>
        </p:nvSpPr>
        <p:spPr>
          <a:xfrm>
            <a:off x="1234440" y="1783080"/>
            <a:ext cx="9738360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1600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面向中国海洋大学操作系统课程的 xv6-riscv 分阶段实验指导、参考实现与可复现验证体系。</a:t>
            </a:r>
            <a:endParaRPr lang="zh-CN" sz="1600"/>
          </a:p>
        </p:txBody>
      </p:sp>
      <p:sp>
        <p:nvSpPr>
          <p:cNvPr id="6" name="Shape 6"/>
          <p:cNvSpPr/>
          <p:nvPr/>
        </p:nvSpPr>
        <p:spPr>
          <a:xfrm>
            <a:off x="1234440" y="3063240"/>
            <a:ext cx="2880360" cy="71323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Lab0-Lab5</a:t>
            </a:r>
            <a:endParaRPr lang="zh-CN" sz="1600"/>
          </a:p>
        </p:txBody>
      </p:sp>
      <p:sp>
        <p:nvSpPr>
          <p:cNvPr id="7" name="Shape 7"/>
          <p:cNvSpPr/>
          <p:nvPr/>
        </p:nvSpPr>
        <p:spPr>
          <a:xfrm>
            <a:off x="4663440" y="3063240"/>
            <a:ext cx="2880360" cy="71323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integrated 0001-0007</a:t>
            </a:r>
            <a:endParaRPr lang="zh-CN" sz="1500"/>
          </a:p>
        </p:txBody>
      </p:sp>
      <p:sp>
        <p:nvSpPr>
          <p:cNvPr id="8" name="Shape 8"/>
          <p:cNvSpPr/>
          <p:nvPr/>
        </p:nvSpPr>
        <p:spPr>
          <a:xfrm>
            <a:off x="8092440" y="3063240"/>
            <a:ext cx="2880360" cy="71323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rain/root/z2996 PASS</a:t>
            </a:r>
            <a:endParaRPr lang="zh-CN" sz="1400"/>
          </a:p>
        </p:txBody>
      </p:sp>
      <p:sp>
        <p:nvSpPr>
          <p:cNvPr id="9" name="Shape 9"/>
          <p:cNvSpPr/>
          <p:nvPr/>
        </p:nvSpPr>
        <p:spPr>
          <a:xfrm>
            <a:off x="1508760" y="4315968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赛题：2026 全国大学生计算机系统能力大赛 OS 功能挑战赛道 proj54。</a:t>
            </a:r>
            <a:endParaRPr lang="zh-CN" sz="1200"/>
          </a:p>
          <a:p>
            <a:pPr algn="c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队伍：中国海洋大学“蓝色系统队”。</a:t>
            </a:r>
            <a:endParaRPr lang="zh-CN" sz="1200"/>
          </a:p>
          <a:p>
            <a:pPr algn="c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current final commit：`db85947`（integrated `0001-0009`，rain/root/z2996 三方 full PASS + 新视频 + SHA256 已登记）。</a:t>
            </a:r>
            <a:endParaRPr lang="zh-CN" sz="1200"/>
          </a:p>
          <a:p>
            <a:pPr algn="c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historical stable checkpoint commit：`e8e2fb9`（integrated `0001-0007`，三方 full PASS；evidence commit `03aad04`）。</a:t>
            </a:r>
            <a:endParaRPr lang="zh-CN" sz="1200"/>
          </a:p>
        </p:txBody>
      </p:sp>
      <p:sp>
        <p:nvSpPr>
          <p:cNvPr id="10" name="Shape 10"/>
          <p:cNvSpPr/>
          <p:nvPr/>
        </p:nvSpPr>
        <p:spPr>
          <a:xfrm>
            <a:off x="3840480" y="6236208"/>
            <a:ext cx="4480560" cy="219456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9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2026 OS Function Challenge proj54</a:t>
            </a:r>
            <a:endParaRPr lang="zh-CN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赛题理解：教学型 OS 功能挑战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2/16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proj54 的重点是课程实验设计、文档和复现闭环，不是盲目扩展内核或刷测试集。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文档完整度 50%：正式文档体系、每个 lab 的教学说明、报告与提交材料。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实现完整度 30%：系统调用、进程、页表、文件表和 capstone 复现。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测试完整度 10%：脚本验证、QEMU 输出匹配、三方复现证据。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创新性 10%：OUC 本校课程化组织、clean-baseline patch、evidence manifest。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材料组织目标：学生能看懂、老师能布置、助教能验收、评委能复现。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scoring fit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132320" y="2331720"/>
            <a:ext cx="1508760" cy="896112"/>
          </a:xfrm>
          <a:prstGeom prst="round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6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文档</a:t>
            </a:r>
            <a:endParaRPr lang="zh-CN" sz="1600"/>
          </a:p>
          <a:p>
            <a:pPr algn="c"/>
            <a:r>
              <a:rPr lang="zh-CN" sz="16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50%</a:t>
            </a:r>
            <a:endParaRPr lang="zh-CN" sz="1600"/>
          </a:p>
        </p:txBody>
      </p:sp>
      <p:sp>
        <p:nvSpPr>
          <p:cNvPr id="10" name="Shape 10"/>
          <p:cNvSpPr/>
          <p:nvPr/>
        </p:nvSpPr>
        <p:spPr>
          <a:xfrm>
            <a:off x="9006840" y="2331720"/>
            <a:ext cx="1508760" cy="89611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6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endParaRPr lang="zh-CN" sz="1600"/>
          </a:p>
          <a:p>
            <a:pPr algn="c"/>
            <a:r>
              <a:rPr lang="zh-CN" sz="16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30%</a:t>
            </a:r>
            <a:endParaRPr lang="zh-CN" sz="1600"/>
          </a:p>
        </p:txBody>
      </p:sp>
      <p:sp>
        <p:nvSpPr>
          <p:cNvPr id="11" name="Shape 11"/>
          <p:cNvSpPr/>
          <p:nvPr/>
        </p:nvSpPr>
        <p:spPr>
          <a:xfrm>
            <a:off x="7132320" y="3566160"/>
            <a:ext cx="1508760" cy="896112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6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测试</a:t>
            </a:r>
            <a:endParaRPr lang="zh-CN" sz="1600"/>
          </a:p>
          <a:p>
            <a:pPr algn="c"/>
            <a:r>
              <a:rPr lang="zh-CN" sz="16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10%</a:t>
            </a:r>
            <a:endParaRPr lang="zh-CN" sz="1600"/>
          </a:p>
        </p:txBody>
      </p:sp>
      <p:sp>
        <p:nvSpPr>
          <p:cNvPr id="12" name="Shape 12"/>
          <p:cNvSpPr/>
          <p:nvPr/>
        </p:nvSpPr>
        <p:spPr>
          <a:xfrm>
            <a:off x="9006840" y="3566160"/>
            <a:ext cx="1508760" cy="896112"/>
          </a:xfrm>
          <a:prstGeom prst="roundRect">
            <a:avLst/>
          </a:prstGeom>
          <a:solidFill>
            <a:srgbClr val="F0A202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6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</a:t>
            </a:r>
            <a:endParaRPr lang="zh-CN" sz="1600"/>
          </a:p>
          <a:p>
            <a:pPr algn="c"/>
            <a:r>
              <a:rPr lang="zh-CN" sz="16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10%</a:t>
            </a:r>
            <a:endParaRPr lang="zh-CN" sz="1600"/>
          </a:p>
        </p:txBody>
      </p:sp>
      <p:sp>
        <p:nvSpPr>
          <p:cNvPr id="13" name="Shape 13"/>
          <p:cNvSpPr/>
          <p:nvPr/>
        </p:nvSpPr>
        <p:spPr>
          <a:xfrm>
            <a:off x="7086600" y="5120640"/>
            <a:ext cx="402336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1100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文档体系优先，功能实现适度，验证证据可追溯。</a:t>
            </a:r>
            <a:endParaRPr lang="zh-CN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课程实验痛点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3/16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OS 实验的真实难点经常不是“写不出一行代码”，而是环境、过程、验收和证据链断裂。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环境工具链复杂：WSL2、RISC-V 工具链、QEMU、xv6 baseline。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运行体验不稳定：QEMU 可能卡住，`Ctrl+Z` 是挂起而不是退出。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学生难判断哪一步成功：make、boot、用户程序输出边界不清。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助教难验收：单个 syscall demo 难形成课程体系。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提交材料易混乱：本机验证、队友复现、视频证据和 raw logs 需要分层管理。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reproduction flow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114032" y="2212848"/>
            <a:ext cx="169164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doctor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7114032" y="2743200"/>
            <a:ext cx="169164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apply + make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7114032" y="3273552"/>
            <a:ext cx="169164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boot/run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7114032" y="3803904"/>
            <a:ext cx="169164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summary</a:t>
            </a:r>
            <a:endParaRPr lang="zh-CN" sz="1000"/>
          </a:p>
        </p:txBody>
      </p:sp>
      <p:sp>
        <p:nvSpPr>
          <p:cNvPr id="13" name="Shape 13"/>
          <p:cNvSpPr/>
          <p:nvPr/>
        </p:nvSpPr>
        <p:spPr>
          <a:xfrm>
            <a:off x="7114032" y="4334256"/>
            <a:ext cx="1691640" cy="347472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manifest</a:t>
            </a:r>
            <a:endParaRPr lang="zh-CN" sz="1000"/>
          </a:p>
        </p:txBody>
      </p:sp>
      <p:sp>
        <p:nvSpPr>
          <p:cNvPr id="14" name="Shape 14"/>
          <p:cNvSpPr/>
          <p:nvPr/>
        </p:nvSpPr>
        <p:spPr>
          <a:xfrm>
            <a:off x="9189720" y="2450592"/>
            <a:ext cx="1600200" cy="82296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QEMU timeout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cleanup</a:t>
            </a:r>
            <a:endParaRPr lang="zh-CN" sz="1000"/>
          </a:p>
        </p:txBody>
      </p:sp>
      <p:sp>
        <p:nvSpPr>
          <p:cNvPr id="15" name="Shape 15"/>
          <p:cNvSpPr/>
          <p:nvPr/>
        </p:nvSpPr>
        <p:spPr>
          <a:xfrm>
            <a:off x="9189720" y="3749039"/>
            <a:ext cx="1600200" cy="82296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copy-to-lead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summary</a:t>
            </a:r>
            <a:endParaRPr lang="zh-CN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项目定位：OUC xv6-riscv 实验包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4/16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本项目把 xv6-riscv 组织成面向 OUC OS 课程的分阶段实验包，而不是孤立的 syscall 样例集合。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基于 xv6-riscv clean baseline，提交增量 patch、脚本、文档和证据摘要。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学生路径：先复现，再修改，再解释机制。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助教路径：可检查、可复现、可复用、可扩展。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仓库边界清晰：`external/xv6-riscv/`、raw logs、视频和截图不入 Git。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正式材料入口：`README.md`、`docs/final/`、`submissions/evidence_manifest.md`。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6995160" y="2148840"/>
            <a:ext cx="3337560" cy="36576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xv6 baseline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6995160" y="2715768"/>
            <a:ext cx="3337560" cy="36576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labs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6995160" y="3282696"/>
            <a:ext cx="3337560" cy="36576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integrated patches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6995160" y="3849624"/>
            <a:ext cx="3337560" cy="36576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verify scripts</a:t>
            </a:r>
            <a:endParaRPr lang="zh-CN" sz="1000"/>
          </a:p>
        </p:txBody>
      </p:sp>
      <p:sp>
        <p:nvSpPr>
          <p:cNvPr id="13" name="Shape 13"/>
          <p:cNvSpPr/>
          <p:nvPr/>
        </p:nvSpPr>
        <p:spPr>
          <a:xfrm>
            <a:off x="6995160" y="4416552"/>
            <a:ext cx="3337560" cy="36576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evidence</a:t>
            </a:r>
            <a:endParaRPr lang="zh-CN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实验体系总览：Lab0-Lab5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5/16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实验主线从环境复现逐步推进到系统调用、进程、页表、文件表，最后汇总成 capstone 综合复现实验。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Lab0：baseline/build/boot，先确认环境可靠。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Lab1：`hello()` / `add2()`，建立 syscall 全链路。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Lab2：`pstate()` / `pcount()` / `pchildtest`，观察进程状态。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Lab3：`pgcount()`，观察页表映射数量和 eager/lazy allocation。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Lab4：`fcount()` / `fdcount()`，观察全局 file table 与当前进程 fd table。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Lab5：capstone 综合复现，不新增内核机制。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Lab0-Lab5 roadmap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059168" y="2331720"/>
            <a:ext cx="960120" cy="62179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Lab0</a:t>
            </a:r>
            <a:endParaRPr lang="zh-CN" sz="1200"/>
          </a:p>
        </p:txBody>
      </p:sp>
      <p:sp>
        <p:nvSpPr>
          <p:cNvPr id="10" name="Shape 10"/>
          <p:cNvSpPr/>
          <p:nvPr/>
        </p:nvSpPr>
        <p:spPr>
          <a:xfrm>
            <a:off x="8321040" y="2331720"/>
            <a:ext cx="960120" cy="62179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Lab1</a:t>
            </a:r>
            <a:endParaRPr lang="zh-CN" sz="1200"/>
          </a:p>
        </p:txBody>
      </p:sp>
      <p:sp>
        <p:nvSpPr>
          <p:cNvPr id="11" name="Shape 11"/>
          <p:cNvSpPr/>
          <p:nvPr/>
        </p:nvSpPr>
        <p:spPr>
          <a:xfrm>
            <a:off x="9582912" y="2331720"/>
            <a:ext cx="960120" cy="62179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Lab2</a:t>
            </a:r>
            <a:endParaRPr lang="zh-CN" sz="1200"/>
          </a:p>
        </p:txBody>
      </p:sp>
      <p:sp>
        <p:nvSpPr>
          <p:cNvPr id="12" name="Shape 12"/>
          <p:cNvSpPr/>
          <p:nvPr/>
        </p:nvSpPr>
        <p:spPr>
          <a:xfrm>
            <a:off x="7059168" y="3474720"/>
            <a:ext cx="960120" cy="62179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Lab3</a:t>
            </a:r>
            <a:endParaRPr lang="zh-CN" sz="1200"/>
          </a:p>
        </p:txBody>
      </p:sp>
      <p:sp>
        <p:nvSpPr>
          <p:cNvPr id="13" name="Shape 13"/>
          <p:cNvSpPr/>
          <p:nvPr/>
        </p:nvSpPr>
        <p:spPr>
          <a:xfrm>
            <a:off x="8321040" y="3474720"/>
            <a:ext cx="960120" cy="62179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Lab4</a:t>
            </a:r>
            <a:endParaRPr lang="zh-CN" sz="1200"/>
          </a:p>
        </p:txBody>
      </p:sp>
      <p:sp>
        <p:nvSpPr>
          <p:cNvPr id="14" name="Shape 14"/>
          <p:cNvSpPr/>
          <p:nvPr/>
        </p:nvSpPr>
        <p:spPr>
          <a:xfrm>
            <a:off x="9582912" y="3474720"/>
            <a:ext cx="960120" cy="621792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Lab5</a:t>
            </a:r>
            <a:endParaRPr lang="zh-CN" sz="1200"/>
          </a:p>
        </p:txBody>
      </p:sp>
      <p:sp>
        <p:nvSpPr>
          <p:cNvPr id="15" name="Shape 15"/>
          <p:cNvSpPr/>
          <p:nvPr/>
        </p:nvSpPr>
        <p:spPr>
          <a:xfrm>
            <a:off x="7086600" y="4983480"/>
            <a:ext cx="3977639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1000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env -&gt; syscall -&gt; proc -&gt; pagetable -&gt; file/fd -&gt; capstone</a:t>
            </a:r>
            <a:endParaRPr lang="zh-CN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Lab1：系统调用机制 hello/add2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6/16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Lab1 用最小 syscall 和带参数 syscall 帮学生建立 user/kernel 调用链路。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`hello()`：最小系统调用，适合建立路径感。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`add2(int, int)`：引入参数传递和 `argint()`。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涉及 syscall number、dispatch table、user stub、kernel handler。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测试输出稳定，适合作为后续实验的入门验收。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integrated 编号：`SYS_hello=22`，`SYS_add2=23`。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syscall path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086600" y="2103120"/>
            <a:ext cx="3063240" cy="329184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user program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7086600" y="2606039"/>
            <a:ext cx="3063240" cy="329184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usys stub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7086600" y="3108960"/>
            <a:ext cx="3063240" cy="329184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syscall.c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7086600" y="3611880"/>
            <a:ext cx="3063240" cy="329184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sys_* handler</a:t>
            </a:r>
            <a:endParaRPr lang="zh-CN" sz="1000"/>
          </a:p>
        </p:txBody>
      </p:sp>
      <p:sp>
        <p:nvSpPr>
          <p:cNvPr id="13" name="Shape 13"/>
          <p:cNvSpPr/>
          <p:nvPr/>
        </p:nvSpPr>
        <p:spPr>
          <a:xfrm>
            <a:off x="7086600" y="4114800"/>
            <a:ext cx="3063240" cy="329184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return</a:t>
            </a:r>
            <a:endParaRPr lang="zh-CN" sz="1000"/>
          </a:p>
        </p:txBody>
      </p:sp>
      <p:sp>
        <p:nvSpPr>
          <p:cNvPr id="14" name="Shape 14"/>
          <p:cNvSpPr/>
          <p:nvPr/>
        </p:nvSpPr>
        <p:spPr>
          <a:xfrm>
            <a:off x="10378440" y="2743200"/>
            <a:ext cx="713232" cy="1005840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hello=22</a:t>
            </a:r>
            <a:endParaRPr lang="zh-CN" sz="900"/>
          </a:p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add2=23</a:t>
            </a:r>
            <a:endParaRPr lang="zh-CN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Lab2：进程观察 pstate/pcount/pchildtest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7/16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Lab2 把系统调用和 `proc[]`、进程状态枚举、调度时序连接起来。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`pstate(pid)`：观察指定进程状态。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`pcount(state)`：统计某类状态的进程数量。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`pchildtest`：观察子进程状态，理解调度时序影响。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不固定 `pcount(RUNNING)` 的绝对数字。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不把 `pchildtest` 状态写成确定常量。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proc[] snapshot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132320" y="2240280"/>
            <a:ext cx="1325880" cy="34747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pid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8641080" y="2240280"/>
            <a:ext cx="1325880" cy="34747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state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7132320" y="2770632"/>
            <a:ext cx="132588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8641080" y="2770632"/>
            <a:ext cx="132588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RUNNING</a:t>
            </a:r>
            <a:endParaRPr lang="zh-CN" sz="1000"/>
          </a:p>
        </p:txBody>
      </p:sp>
      <p:sp>
        <p:nvSpPr>
          <p:cNvPr id="13" name="Shape 13"/>
          <p:cNvSpPr/>
          <p:nvPr/>
        </p:nvSpPr>
        <p:spPr>
          <a:xfrm>
            <a:off x="7132320" y="3300984"/>
            <a:ext cx="132588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1000"/>
          </a:p>
        </p:txBody>
      </p:sp>
      <p:sp>
        <p:nvSpPr>
          <p:cNvPr id="14" name="Shape 14"/>
          <p:cNvSpPr/>
          <p:nvPr/>
        </p:nvSpPr>
        <p:spPr>
          <a:xfrm>
            <a:off x="8641080" y="3300984"/>
            <a:ext cx="132588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SLEEPING</a:t>
            </a:r>
            <a:endParaRPr lang="zh-CN" sz="1000"/>
          </a:p>
        </p:txBody>
      </p:sp>
      <p:sp>
        <p:nvSpPr>
          <p:cNvPr id="15" name="Shape 15"/>
          <p:cNvSpPr/>
          <p:nvPr/>
        </p:nvSpPr>
        <p:spPr>
          <a:xfrm>
            <a:off x="7132320" y="3831335"/>
            <a:ext cx="132588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1000"/>
          </a:p>
        </p:txBody>
      </p:sp>
      <p:sp>
        <p:nvSpPr>
          <p:cNvPr id="16" name="Shape 16"/>
          <p:cNvSpPr/>
          <p:nvPr/>
        </p:nvSpPr>
        <p:spPr>
          <a:xfrm>
            <a:off x="8641080" y="3831335"/>
            <a:ext cx="132588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RUNNABLE</a:t>
            </a:r>
            <a:endParaRPr lang="zh-CN" sz="1000"/>
          </a:p>
        </p:txBody>
      </p:sp>
      <p:sp>
        <p:nvSpPr>
          <p:cNvPr id="17" name="Shape 17"/>
          <p:cNvSpPr/>
          <p:nvPr/>
        </p:nvSpPr>
        <p:spPr>
          <a:xfrm>
            <a:off x="8641080" y="4572000"/>
            <a:ext cx="1737360" cy="658368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lock protected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state read</a:t>
            </a:r>
            <a:endParaRPr lang="zh-CN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Lab3：页表映射与 eager/lazy allocation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8/16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Lab3 用 `pgcount()` 区分“地址空间大小”和“实际页表映射数量”。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`pgcount()` 统计当前进程用户页表中 `PTE_V &amp;&amp; PTE_U` 的页。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eager `sbrk(2*PGSIZE)`：真实计算 delta = 2。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lazy `sbrklazy(2*PGSIZE)`：touch 前 delta = 0。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touch one page 后 delta = 1；touch two pages 后 delta = 2。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不输出物理地址，不修改 page fault/lazy allocation 逻辑。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eager vs lazy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178040" y="2157984"/>
            <a:ext cx="1645920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10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eager sbrk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9189720" y="2157984"/>
            <a:ext cx="1645920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10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lazy sbrklazy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7315200" y="2606040"/>
            <a:ext cx="1143000" cy="411480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mapped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7315200" y="3200400"/>
            <a:ext cx="1143000" cy="411480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mapped</a:t>
            </a:r>
            <a:endParaRPr lang="zh-CN" sz="1000"/>
          </a:p>
        </p:txBody>
      </p:sp>
      <p:sp>
        <p:nvSpPr>
          <p:cNvPr id="13" name="Shape 13"/>
          <p:cNvSpPr/>
          <p:nvPr/>
        </p:nvSpPr>
        <p:spPr>
          <a:xfrm>
            <a:off x="7187184" y="4096512"/>
            <a:ext cx="1417320" cy="43891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delta = 2</a:t>
            </a:r>
            <a:endParaRPr lang="zh-CN" sz="1100"/>
          </a:p>
        </p:txBody>
      </p:sp>
      <p:sp>
        <p:nvSpPr>
          <p:cNvPr id="14" name="Shape 14"/>
          <p:cNvSpPr/>
          <p:nvPr/>
        </p:nvSpPr>
        <p:spPr>
          <a:xfrm>
            <a:off x="9326880" y="2606040"/>
            <a:ext cx="1234440" cy="50292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reserve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  <a:endParaRPr lang="zh-CN" sz="1000"/>
          </a:p>
        </p:txBody>
      </p:sp>
      <p:sp>
        <p:nvSpPr>
          <p:cNvPr id="15" name="Shape 15"/>
          <p:cNvSpPr/>
          <p:nvPr/>
        </p:nvSpPr>
        <p:spPr>
          <a:xfrm>
            <a:off x="9326880" y="3291840"/>
            <a:ext cx="1234440" cy="50292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touch 1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1000"/>
          </a:p>
        </p:txBody>
      </p:sp>
      <p:sp>
        <p:nvSpPr>
          <p:cNvPr id="16" name="Shape 16"/>
          <p:cNvSpPr/>
          <p:nvPr/>
        </p:nvSpPr>
        <p:spPr>
          <a:xfrm>
            <a:off x="9326880" y="3977639"/>
            <a:ext cx="1234440" cy="502920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touch 2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Lab4：文件表与 fd table 观察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9/16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Lab4 帮学生区分当前进程 fd table 和全局 file table 两个层次。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`fcount()`：观察全局 file table 中引用计数大于 0 的 `struct file`。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`fdcount()`：观察当前进程 `ofile[]` 中非空 fd 数量。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`open` / `dup` / `close` 展示 fd 变化趋势。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`dup()` 会增加 fd 引用，但不等同于新增全局 file entry。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进阶 `fdinfo(int fd, struct fdinfo*)`：用 `argint + argaddr + copyout` 把 `{type, readable, writable, ref}` 拷回用户态（只查自己的 `ofile[fd]`，不返回路径/inode/内容）。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integrated 编号：`SYS_fcount=26`，`SYS_fdcount=28`，进阶 `SYS_fdinfo=30`（integrated `0009`）。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fd table -&gt; file table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114032" y="2514600"/>
            <a:ext cx="1600200" cy="89611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proc.ofile[]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 0/1/2/3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9189720" y="2514600"/>
            <a:ext cx="1417320" cy="89611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struct file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ref &gt; 0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9144000" y="3886200"/>
            <a:ext cx="1737360" cy="502920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global ftable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7269480" y="4800600"/>
            <a:ext cx="3429000" cy="50292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fdcount: current proc</a:t>
            </a:r>
            <a:endParaRPr lang="zh-CN" sz="900"/>
          </a:p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fcount: global table</a:t>
            </a:r>
            <a:endParaRPr lang="zh-CN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Lab5：capstone 综合复现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10/16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Lab5 把分散实验组织成一次可提交、可验收、可报告的综合复现实验。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从 clean xv6-riscv baseline 出发。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顺序应用 integrated `0001-0009`。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完成 make、boot 和所有用户程序验证。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阅读每个 patch 对应的机制和边界。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输出实验报告和复现摘要。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capstone checklist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132320" y="2148840"/>
            <a:ext cx="324612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clean baseline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7132320" y="2679192"/>
            <a:ext cx="324612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apply 0001-0007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7132320" y="3209544"/>
            <a:ext cx="324612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make + boot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7132320" y="3739896"/>
            <a:ext cx="324612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all user tests</a:t>
            </a:r>
            <a:endParaRPr lang="zh-CN" sz="1000"/>
          </a:p>
        </p:txBody>
      </p:sp>
      <p:sp>
        <p:nvSpPr>
          <p:cNvPr id="13" name="Shape 13"/>
          <p:cNvSpPr/>
          <p:nvPr/>
        </p:nvSpPr>
        <p:spPr>
          <a:xfrm>
            <a:off x="7132320" y="4270248"/>
            <a:ext cx="3246120" cy="347472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report</a:t>
            </a:r>
            <a:endParaRPr lang="zh-CN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integrated-labs 0001-0009 与一键验证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11/16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最终 integrated sequence 支持从 clean baseline 一键复现完整实验链。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`0001-0002`：Lab1 hello/add2。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`0003-0004`：Lab2 pstate/pcount/pchildtest。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`0005`：Lab4 fcount。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`0006`：Lab3 pgcount。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`0007`：Lab4 v0.2 fdcount。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`0008`：Lab3 进阶 memstat（`SYS 29`，argaddr+copyout+struct ABI）。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`0009`：Lab4 进阶 fdinfo（`SYS 30`，argint+argaddr+copyout+struct ABI）。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推荐命令：`bash scripts/xv6/teammate-verify.sh --full`（现含 memstattest/fdinfotest）。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integrated sequence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6995160" y="2240280"/>
            <a:ext cx="777240" cy="475488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0001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8001000" y="2240280"/>
            <a:ext cx="777240" cy="475488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0002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9006840" y="2240280"/>
            <a:ext cx="777240" cy="475488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0003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10012680" y="2240280"/>
            <a:ext cx="777240" cy="475488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0004</a:t>
            </a:r>
            <a:endParaRPr lang="zh-CN" sz="1000"/>
          </a:p>
        </p:txBody>
      </p:sp>
      <p:sp>
        <p:nvSpPr>
          <p:cNvPr id="13" name="Shape 13"/>
          <p:cNvSpPr/>
          <p:nvPr/>
        </p:nvSpPr>
        <p:spPr>
          <a:xfrm>
            <a:off x="6995160" y="3108960"/>
            <a:ext cx="777240" cy="475488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0005</a:t>
            </a:r>
            <a:endParaRPr lang="zh-CN" sz="1000"/>
          </a:p>
        </p:txBody>
      </p:sp>
      <p:sp>
        <p:nvSpPr>
          <p:cNvPr id="14" name="Shape 14"/>
          <p:cNvSpPr/>
          <p:nvPr/>
        </p:nvSpPr>
        <p:spPr>
          <a:xfrm>
            <a:off x="8001000" y="3108960"/>
            <a:ext cx="777240" cy="475488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0006</a:t>
            </a:r>
            <a:endParaRPr lang="zh-CN" sz="1000"/>
          </a:p>
        </p:txBody>
      </p:sp>
      <p:sp>
        <p:nvSpPr>
          <p:cNvPr id="15" name="Shape 15"/>
          <p:cNvSpPr/>
          <p:nvPr/>
        </p:nvSpPr>
        <p:spPr>
          <a:xfrm>
            <a:off x="9006840" y="3108960"/>
            <a:ext cx="777240" cy="475488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0007</a:t>
            </a:r>
            <a:endParaRPr lang="zh-CN" sz="1000"/>
          </a:p>
        </p:txBody>
      </p:sp>
      <p:sp>
        <p:nvSpPr>
          <p:cNvPr id="16" name="Shape 16"/>
          <p:cNvSpPr/>
          <p:nvPr/>
        </p:nvSpPr>
        <p:spPr>
          <a:xfrm>
            <a:off x="7315200" y="4434840"/>
            <a:ext cx="3337560" cy="56692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teammate-verify.sh --full</a:t>
            </a:r>
            <a:endParaRPr lang="zh-CN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三方复现证据：rain/root/z2996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12/16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current final `db85947 / 0001-0009`（含 memstat/fdinfo）已完成 rain/root/z2996 三方 full verification PASS；更早的 `e8e2fb9 / 0001-0007` 三方 PASS 保留为 historical stable checkpoint。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`rain`：team lead local full verification PASS。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`root`：teammate A full verification PASS。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`z2996`：teammate B full verification PASS。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current final：`db85947 / 0001-0009` 三方 full PASS，覆盖全部 10 个用户程序（含 memstattest/fdinfotest）。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三份 summary 经 grade-summaries 批量核对 3/3 clean PASS；summary/screenshot SHA256 已登记并可一键核验。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historical：`e8e2fb9 / 0001-0007` 三方 PASS 保留为 checkpoint；raw summary/log/screenshot 不入 Git，仓库只记录摘要和 SHA256。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final full verification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040880" y="2423160"/>
            <a:ext cx="1143000" cy="1371600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rain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lead local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PASS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8394192" y="2423160"/>
            <a:ext cx="1143000" cy="1371600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root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teammate A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PASS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9747504" y="2423160"/>
            <a:ext cx="1143000" cy="1371600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z2996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teammate B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PASS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7315200" y="4297680"/>
            <a:ext cx="338328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1100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commit e8e2fb9</a:t>
            </a:r>
            <a:endParaRPr lang="zh-CN" sz="1100"/>
          </a:p>
          <a:p>
            <a:pPr algn="c"/>
            <a:r>
              <a:rPr lang="zh-CN" sz="1100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integrated 0001-0007</a:t>
            </a:r>
            <a:endParaRPr lang="zh-CN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演示视频与 evidence manifest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13/16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最终证据以 metadata + SHA256 管理，原始大文件保存在仓库外。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`0001-0007` 视频（historical stable checkpoint）：`20260606_final_integrated_0001_0007_demo.mp4`。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该视频 SHA256：`0FF2D3581552B3FD3A2630E827251CF46C36BC3BE8F8B9D9DDB691FC0668A93B`（只覆盖 `0001-0007`）。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current final 视频：`20260611_final_integrated_0001_0009_demo.mp4`（31,529,984 bytes），SHA256 `2A2C9863...C7BC0365` 已登记。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中央索引：`submissions/evidence_manifest.md`。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historical videos 只覆盖 earlier `0001-0005`，不覆盖 `e8e2fb9`。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隐私复核状态：`pending final manual review`。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evidence manifest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178040" y="2121408"/>
            <a:ext cx="347472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final video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7178040" y="2651760"/>
            <a:ext cx="3474720" cy="347472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SHA256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7178040" y="3182111"/>
            <a:ext cx="347472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teammate summaries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7178040" y="3712463"/>
            <a:ext cx="347472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historical boundary</a:t>
            </a:r>
            <a:endParaRPr lang="zh-CN" sz="1000"/>
          </a:p>
        </p:txBody>
      </p:sp>
      <p:sp>
        <p:nvSpPr>
          <p:cNvPr id="13" name="Shape 13"/>
          <p:cNvSpPr/>
          <p:nvPr/>
        </p:nvSpPr>
        <p:spPr>
          <a:xfrm>
            <a:off x="7178040" y="4242816"/>
            <a:ext cx="347472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 raw files in Git</a:t>
            </a:r>
            <a:endParaRPr lang="zh-CN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同类项目对比与差异化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14/16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uCore/rCore/YatSen/F-Tutorials 更偏完整课程或生态，本项目聚焦 OUC 本校 xv6-riscv 入门实验与提交友好复现。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uCore/rCore：完整 OS 教学体系或 Rust OS 生态，本项目不重写其路线。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YatSen OS / F-Tutorials：可作为课程材料和展示组织参考。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本项目差异：xv6-riscv clean-baseline patch、三方复现、QEMU 体验治理。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证据差异：metadata + SHA256 + non-committed raw evidence policy。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URL/license 未最终核对的参考项保持“待核对”，不编造来源。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differentiation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004304" y="2331720"/>
            <a:ext cx="1691640" cy="402336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uCore/rCore</a:t>
            </a:r>
            <a:endParaRPr lang="zh-CN" sz="900"/>
          </a:p>
        </p:txBody>
      </p:sp>
      <p:sp>
        <p:nvSpPr>
          <p:cNvPr id="10" name="Shape 10"/>
          <p:cNvSpPr/>
          <p:nvPr/>
        </p:nvSpPr>
        <p:spPr>
          <a:xfrm>
            <a:off x="8878824" y="2331720"/>
            <a:ext cx="1691640" cy="402336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完整课程/生态</a:t>
            </a:r>
            <a:endParaRPr lang="zh-CN" sz="900"/>
          </a:p>
        </p:txBody>
      </p:sp>
      <p:sp>
        <p:nvSpPr>
          <p:cNvPr id="11" name="Shape 11"/>
          <p:cNvSpPr/>
          <p:nvPr/>
        </p:nvSpPr>
        <p:spPr>
          <a:xfrm>
            <a:off x="7004304" y="3008376"/>
            <a:ext cx="1691640" cy="402336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YatSen/F-Tutorials</a:t>
            </a:r>
            <a:endParaRPr lang="zh-CN" sz="900"/>
          </a:p>
        </p:txBody>
      </p:sp>
      <p:sp>
        <p:nvSpPr>
          <p:cNvPr id="12" name="Shape 12"/>
          <p:cNvSpPr/>
          <p:nvPr/>
        </p:nvSpPr>
        <p:spPr>
          <a:xfrm>
            <a:off x="8878824" y="3008376"/>
            <a:ext cx="1691640" cy="402336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材料组织参考</a:t>
            </a:r>
            <a:endParaRPr lang="zh-CN" sz="900"/>
          </a:p>
        </p:txBody>
      </p:sp>
      <p:sp>
        <p:nvSpPr>
          <p:cNvPr id="13" name="Shape 13"/>
          <p:cNvSpPr/>
          <p:nvPr/>
        </p:nvSpPr>
        <p:spPr>
          <a:xfrm>
            <a:off x="7004304" y="3685031"/>
            <a:ext cx="1691640" cy="402336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本项目</a:t>
            </a:r>
            <a:endParaRPr lang="zh-CN" sz="900"/>
          </a:p>
        </p:txBody>
      </p:sp>
      <p:sp>
        <p:nvSpPr>
          <p:cNvPr id="14" name="Shape 14"/>
          <p:cNvSpPr/>
          <p:nvPr/>
        </p:nvSpPr>
        <p:spPr>
          <a:xfrm>
            <a:off x="8878824" y="3685031"/>
            <a:ext cx="1691640" cy="402336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OUC+xv6+复现证据</a:t>
            </a:r>
            <a:endParaRPr lang="zh-CN" sz="900"/>
          </a:p>
        </p:txBody>
      </p:sp>
      <p:sp>
        <p:nvSpPr>
          <p:cNvPr id="15" name="Shape 15"/>
          <p:cNvSpPr/>
          <p:nvPr/>
        </p:nvSpPr>
        <p:spPr>
          <a:xfrm>
            <a:off x="7132320" y="4892040"/>
            <a:ext cx="361188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1000">
                <a:solidFill>
                  <a:srgbClr val="F0A202"/>
                </a:solidFill>
                <a:latin typeface="Microsoft YaHei"/>
                <a:ea typeface="Microsoft YaHei"/>
                <a:cs typeface="Microsoft YaHei"/>
              </a:rPr>
              <a:t>URL/license 未确认项保持待核对</a:t>
            </a:r>
            <a:endParaRPr lang="zh-CN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创新点与教学价值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15/16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创新点集中在课程化组织、可复现验证和诚实证据边界，而不是盲目扩大内核功能。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分阶段实验体系覆盖 syscall、proc、pagetable、file/fd table，进阶 memstat/fdinfo 补上 copyout + struct ABI。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可直接开课：每个 lab 有学生任务书（必做/选做/rubric），配教师指南、评分标准、troubleshooting。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clean-baseline patch workflow 便于教学、审查和复现。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full/quick teammate verification 降低队友复现门槛；QEMU timeout/cleanup 处理真实卡点。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AI 使用透明记录，真实验证不由 AI 替代。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teaching value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059168" y="2148840"/>
            <a:ext cx="1508760" cy="45720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课程体系</a:t>
            </a:r>
            <a:endParaRPr lang="zh-CN" sz="900"/>
          </a:p>
        </p:txBody>
      </p:sp>
      <p:sp>
        <p:nvSpPr>
          <p:cNvPr id="10" name="Shape 10"/>
          <p:cNvSpPr/>
          <p:nvPr/>
        </p:nvSpPr>
        <p:spPr>
          <a:xfrm>
            <a:off x="8842248" y="2148840"/>
            <a:ext cx="1508760" cy="45720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patch workflow</a:t>
            </a:r>
            <a:endParaRPr lang="zh-CN" sz="900"/>
          </a:p>
        </p:txBody>
      </p:sp>
      <p:sp>
        <p:nvSpPr>
          <p:cNvPr id="11" name="Shape 11"/>
          <p:cNvSpPr/>
          <p:nvPr/>
        </p:nvSpPr>
        <p:spPr>
          <a:xfrm>
            <a:off x="7059168" y="2935224"/>
            <a:ext cx="1508760" cy="45720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teammate verify</a:t>
            </a:r>
            <a:endParaRPr lang="zh-CN" sz="900"/>
          </a:p>
        </p:txBody>
      </p:sp>
      <p:sp>
        <p:nvSpPr>
          <p:cNvPr id="12" name="Shape 12"/>
          <p:cNvSpPr/>
          <p:nvPr/>
        </p:nvSpPr>
        <p:spPr>
          <a:xfrm>
            <a:off x="8842248" y="2935224"/>
            <a:ext cx="1508760" cy="45720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QEMU cleanup</a:t>
            </a:r>
            <a:endParaRPr lang="zh-CN" sz="900"/>
          </a:p>
        </p:txBody>
      </p:sp>
      <p:sp>
        <p:nvSpPr>
          <p:cNvPr id="13" name="Shape 13"/>
          <p:cNvSpPr/>
          <p:nvPr/>
        </p:nvSpPr>
        <p:spPr>
          <a:xfrm>
            <a:off x="7059168" y="3721608"/>
            <a:ext cx="1508760" cy="45720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evidence manifest</a:t>
            </a:r>
            <a:endParaRPr lang="zh-CN" sz="900"/>
          </a:p>
        </p:txBody>
      </p:sp>
      <p:sp>
        <p:nvSpPr>
          <p:cNvPr id="14" name="Shape 14"/>
          <p:cNvSpPr/>
          <p:nvPr/>
        </p:nvSpPr>
        <p:spPr>
          <a:xfrm>
            <a:off x="8842248" y="3721608"/>
            <a:ext cx="1508760" cy="45720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transparency</a:t>
            </a:r>
            <a:endParaRPr lang="zh-CN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边界、未来工作与总结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16/16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当前成果已经形成课程实验和验证闭环；剩余事项以人工确认和后续课程扩展为主。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`pgcount()`/`memstat()` 不是完整内存管理；`fcount()`/`fdcount()`/`fdinfo()` 不是完整文件系统。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Lab5 是 capstone，不是新增内核机制。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timeout/QEMU 输出捕获不是长期稳定性测试。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待确认：平台提交方式、最终隐私复核、队友真实姓名/系统版本、参考 URL/license。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总结：学生能看懂、老师能布置、助教能验收、评委能复现。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final boundary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6967728" y="2331720"/>
            <a:ext cx="1078992" cy="384048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已完成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6885432" y="2880360"/>
            <a:ext cx="1243584" cy="117043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Lab0-Lab5</a:t>
            </a:r>
            <a:endParaRPr lang="zh-CN" sz="800"/>
          </a:p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0001-0007</a:t>
            </a:r>
            <a:endParaRPr lang="zh-CN" sz="800"/>
          </a:p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三方 PASS</a:t>
            </a:r>
            <a:endParaRPr lang="zh-CN" sz="800"/>
          </a:p>
        </p:txBody>
      </p:sp>
      <p:sp>
        <p:nvSpPr>
          <p:cNvPr id="11" name="Shape 11"/>
          <p:cNvSpPr/>
          <p:nvPr/>
        </p:nvSpPr>
        <p:spPr>
          <a:xfrm>
            <a:off x="8293608" y="2331720"/>
            <a:ext cx="1078992" cy="384048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8211312" y="2880360"/>
            <a:ext cx="1243584" cy="117043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非 LTP</a:t>
            </a:r>
            <a:endParaRPr lang="zh-CN" sz="800"/>
          </a:p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非完整 FS/MM</a:t>
            </a:r>
            <a:endParaRPr lang="zh-CN" sz="800"/>
          </a:p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非长期稳定性</a:t>
            </a:r>
            <a:endParaRPr lang="zh-CN" sz="800"/>
          </a:p>
        </p:txBody>
      </p:sp>
      <p:sp>
        <p:nvSpPr>
          <p:cNvPr id="13" name="Shape 13"/>
          <p:cNvSpPr/>
          <p:nvPr/>
        </p:nvSpPr>
        <p:spPr>
          <a:xfrm>
            <a:off x="9619488" y="2331720"/>
            <a:ext cx="1078992" cy="384048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</a:t>
            </a:r>
            <a:endParaRPr lang="zh-CN" sz="1000"/>
          </a:p>
        </p:txBody>
      </p:sp>
      <p:sp>
        <p:nvSpPr>
          <p:cNvPr id="14" name="Shape 14"/>
          <p:cNvSpPr/>
          <p:nvPr/>
        </p:nvSpPr>
        <p:spPr>
          <a:xfrm>
            <a:off x="9537192" y="2880360"/>
            <a:ext cx="1243584" cy="117043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平台方式</a:t>
            </a:r>
            <a:endParaRPr lang="zh-CN" sz="800"/>
          </a:p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隐私复核</a:t>
            </a:r>
            <a:endParaRPr lang="zh-CN" sz="800"/>
          </a:p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引用核对</a:t>
            </a:r>
            <a:endParaRPr lang="zh-CN" sz="800"/>
          </a:p>
        </p:txBody>
      </p:sp>
      <p:sp>
        <p:nvSpPr>
          <p:cNvPr id="15" name="Shape 15"/>
          <p:cNvSpPr/>
          <p:nvPr/>
        </p:nvSpPr>
        <p:spPr>
          <a:xfrm>
            <a:off x="7040880" y="4828032"/>
            <a:ext cx="3840480" cy="365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12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可教 · 可复现 · 可验证 · 可扩展</a:t>
            </a:r>
            <a:endParaRPr lang="zh-CN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UC xv6">
  <a:themeElements>
    <a:clrScheme name="OUC">
      <a:dk1>
        <a:srgbClr val="0B1F3A"/>
      </a:dk1>
      <a:lt1>
        <a:srgbClr val="FFFFFF"/>
      </a:lt1>
      <a:dk2>
        <a:srgbClr val="123C69"/>
      </a:dk2>
      <a:lt2>
        <a:srgbClr val="EAF4FF"/>
      </a:lt2>
      <a:accent1>
        <a:srgbClr val="1E88E5"/>
      </a:accent1>
      <a:accent2>
        <a:srgbClr val="21C4D6"/>
      </a:accent2>
      <a:accent3>
        <a:srgbClr val="23A36D"/>
      </a:accent3>
      <a:accent4>
        <a:srgbClr val="F0A202"/>
      </a:accent4>
      <a:accent5>
        <a:srgbClr val="AFC4D8"/>
      </a:accent5>
      <a:accent6>
        <a:srgbClr val="102A4C"/>
      </a:accent6>
      <a:hlink>
        <a:srgbClr val="21C4D6"/>
      </a:hlink>
      <a:folHlink>
        <a:srgbClr val="1E88E5"/>
      </a:folHlink>
    </a:clrScheme>
    <a:fontScheme name="OUC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UC">
      <a:fillStyleLst>
        <a:solidFill>
          <a:schemeClr val="accent1"/>
        </a:solidFill>
      </a:fillStyleLst>
      <a:lnStyleLst>
        <a:ln w="12700">
          <a:solidFill>
            <a:schemeClr val="accent2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generated OpenXML</Application>
  <PresentationFormat>On-screen Show (16:9)</PresentationFormat>
  <Slides>16</Slides>
  <Notes>16</Notes>
  <Company>Ocean University of China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OUC xv6 Lab Kit Final Defense</dc:title>
  <dc:creator>OUC Blue System Team</dc:creator>
  <dc:subject>OS Function Challenge proj54</dc:subject>
  <cp:keywords>xv6-riscv; OUC; proj54; reproducibility</cp:keywords>
  <dcterms:created xsi:type="dcterms:W3CDTF">2026-06-07T00:00:00Z</dcterms:created>
  <dcterms:modified xsi:type="dcterms:W3CDTF">2026-06-07T00:00:00Z</dcterms:modified>
</cp:coreProperties>
</file>