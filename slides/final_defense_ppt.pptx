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14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76A37E-E816-4A73-9653-190516B38373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63AC9B-4540-4870-B076-ED4637A3BA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229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开场要把主线说清楚：这不是一组零散系统调用展示，而是一套面向课程的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xv6-riscv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实验包。我们的重点是让学生能按阶段学习，让助教能按统一口径验收，让评委能从 干净基线复现。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3AC9B-4540-4870-B076-ED4637A3BAC5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9753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这一页必须纠正旧版本的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50/30/10/10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表述。我们现在按官方口径讲：初赛看执行展示和文档，决赛还看现场答辩、过程记录、源码分析、最终方案、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PPT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和演示视频。因此项目建设不能只做内核功能。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3AC9B-4540-4870-B076-ED4637A3BAC5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6567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这里讲真实痛点，不讲空话。队友复现里曾出现等待过久、误按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Ctrl+Z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、不知道哪一步成功的问题，所以我们把“复现体验”作为工程目标来做。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3AC9B-4540-4870-B076-ED4637A3BAC5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45212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这个仓库不是只给开发者看的。学生、老师、助教和评委都有不同入口，所以我们把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README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docs/final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labs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scripts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submissions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分开组织。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3AC9B-4540-4870-B076-ED4637A3BAC5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30148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这一页讲工程可信度。第三方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xv6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源码不进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Git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，补丁序列是仓库里的事实，验证脚本把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make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boot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、用户程序和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summary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串起来，最后由 证据索引管理外部证据。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3AC9B-4540-4870-B076-ED4637A3BAC5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96058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Lab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矩阵要让评委一眼看到课程设计，而不是看到一堆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syscall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名字。每个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Lab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都有机制、用户程序、测试和文档。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3AC9B-4540-4870-B076-ED4637A3BAC5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82210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Lab1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是入口，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Lab2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是第一个内核表观察。这里强调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pchildtest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输出受调度影响，这不是失败，而是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OS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课程里应该讲清楚的现象。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3AC9B-4540-4870-B076-ED4637A3BAC5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26499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这一页是技术亮点。学生常把“申请地址空间”和“真实映射页面”混在一起。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pgcount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和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lazy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对比把这个差异变成可观察结果；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memstat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再引入结构化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copyout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3AC9B-4540-4870-B076-ED4637A3BAC5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94646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这里要把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fd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和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file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的关系讲出来。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fd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是进程视角，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file table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是内核全局结构；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open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dup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close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的趋势比绝对数更适合教学。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3AC9B-4540-4870-B076-ED4637A3BAC5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20854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Lab5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的定位要避免误解。它不是新系统调用，而是综合复现实验。学生最终要交的不只是“能跑”，还要说明如何验证、哪里失败过、边界是什么。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3AC9B-4540-4870-B076-ED4637A3BAC5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99476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这一页讲工具链升级。我们不是把脚本堆在一起，而是把它组织成课程入口、复现入口、验收入口和提交前门禁。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3AC9B-4540-4870-B076-ED4637A3BAC5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01389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这里保持克制：我们只说已经有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summary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和外部证据的事实，不编造队友真实姓名或系统版本。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root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和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z2996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是终端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user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3AC9B-4540-4870-B076-ED4637A3BAC5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64993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这页解决“证据在哪里”和“如何证明没改过”。仓库不提交大文件，但记录了足够的元数据和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SHA256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；下载外部资产后可以用脚本重新核验。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3AC9B-4540-4870-B076-ED4637A3BAC5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9957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不要贬低同类项目，也不要在答辩页上放旁支引用说明。这里强调差异：本项目更轻、更贴近本校课程，更强调干净基线、三方复现和证据边界。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3AC9B-4540-4870-B076-ED4637A3BAC5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43923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这页不能写成“赋能”“闭环”。直接指向仓库里的东西：补丁序列、课程材料、验证脚本、摘要解析和证据索引。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3AC9B-4540-4870-B076-ED4637A3BAC5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57938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最后回到可信度。我们完成了课程实验包和证据链，但不把观察型实验包装成完整内核能力。答辩收束在“真实、可复现、可教学”。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3AC9B-4540-4870-B076-ED4637A3BAC5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7755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BAB6D0-8FB6-A822-8395-E69D0428B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7B45B50-5212-A084-488D-88E0A5DB8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BF3300-B7CE-D9B3-D994-785562299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2391-A4DD-43E6-B9B0-4ECCF2FB388B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5665CE-7BD0-BAED-22DF-E8571FDD1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262210-A1F5-706B-25FB-E8E26C133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886B-2453-4F0C-A339-24213FCE6F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6228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C5B78C-73C9-0560-C6E8-096D0B26D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E45BE94-059E-A8AA-D2B1-0AFE76771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2CB9224-624C-4BAE-FD37-7D2CA0C8A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2391-A4DD-43E6-B9B0-4ECCF2FB388B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CC192EE-D4A8-3968-F2B0-295C7333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44EE77-90FB-7A4E-8CAA-ED557FF00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886B-2453-4F0C-A339-24213FCE6F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0069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421844-05C1-D672-193D-E6CFC7FBF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DA4474-FB94-92D6-B170-CB993DE2B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3A81231-9803-E8FA-F4BE-E210E993C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2391-A4DD-43E6-B9B0-4ECCF2FB388B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F4EFA8-B418-8756-E6DD-E9D99665B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2909F60-335C-A687-5CE1-D895BCFB6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886B-2453-4F0C-A339-24213FCE6F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5544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746585-39AF-FD81-212B-4F0944EB9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611AEE-C5C0-0072-239F-087124544D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4C3563B-6D1B-C45F-924C-B5D5DE2733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50BAB22-B2FB-03FA-B652-7E90ACE76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2391-A4DD-43E6-B9B0-4ECCF2FB388B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362FA74-A0C9-16AA-D7A8-5E996330B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96C6736-B0FF-3396-43E5-6A8985D6B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886B-2453-4F0C-A339-24213FCE6F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52543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067ED4-9654-296C-2B15-842DD8530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E1717A7-A287-AA44-4E2C-FBAB732CD6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6DADE8D-0DD5-7970-2D1D-A39F686623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E3228AA-034B-FE12-3F90-699DD34843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A7C5C5F-D2C5-604F-FB5C-C27462F8B3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4F33C2E-573B-2D60-4A35-4973D4672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2391-A4DD-43E6-B9B0-4ECCF2FB388B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2A28ED-6773-57B2-1086-BE44869DF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3D829A7-6FC3-A33B-70D5-437C3975C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886B-2453-4F0C-A339-24213FCE6F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61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1FD518-63EA-1426-484D-A4E07C511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E9AE478-BCCA-9C1C-8D5B-09E5F18C6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2391-A4DD-43E6-B9B0-4ECCF2FB388B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32D639-A8FF-6448-801F-CE9E0548A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3B6F76D-6245-8B23-96F3-6E26E0915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886B-2453-4F0C-A339-24213FCE6F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5530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7BC17B3-F9B4-547D-6037-EDF65E4F0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2391-A4DD-43E6-B9B0-4ECCF2FB388B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94C95B6-1E2B-3366-923C-F3005E8C7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54F20A-97F5-EDA6-0424-C77FB9AAD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886B-2453-4F0C-A339-24213FCE6F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9714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7C621C-ECFF-7D1D-FB8E-1ED4620C5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E8C6F58-7980-2B94-0432-5428E42B65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D273499-5811-0D8A-64BF-51E9AB0A4D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A7AAC29-FD21-617F-DB5C-1C94037D9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2391-A4DD-43E6-B9B0-4ECCF2FB388B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3612E0A-34FF-829B-7DD5-87B4CD2F0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10BB22-2FC2-F967-D7EF-3FDA5E47E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886B-2453-4F0C-A339-24213FCE6F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751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EBC479-B7D6-A75A-221B-090D99C44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ED3165A-3406-E0D0-1847-5E332EA8C3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D8D3841-CDC4-71FE-E6E1-6D41DB60D4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246ABCE-EFE5-DB0C-9215-1810B6093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2391-A4DD-43E6-B9B0-4ECCF2FB388B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36BF6F3-E976-8EFC-4AEE-1B46F9EF0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362A250-9C6C-71C6-A512-AF48EE16E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886B-2453-4F0C-A339-24213FCE6F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2972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70A85F-82B3-E31A-8E9A-AAE49B0DD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A52C733-1D66-32A0-5838-CBA823C1E4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87E72A4-4B4D-3A68-21C0-D546605CB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2391-A4DD-43E6-B9B0-4ECCF2FB388B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05261C-EDEB-E9D1-57F0-995C2FC5B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10B000-8CFF-7470-4E58-6E34E1D36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886B-2453-4F0C-A339-24213FCE6F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2276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5D8879E-68C5-A1A7-DCFA-5042B3D9BB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C595B6D-2E9C-D947-687A-B0E534BACA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D4215D-E3D8-4BC5-E042-DBEC9E1BA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2391-A4DD-43E6-B9B0-4ECCF2FB388B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20354D1-7686-7CDC-236D-E209A9E66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BE1CC4-F4EB-D169-D705-432C4CE04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886B-2453-4F0C-A339-24213FCE6F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6463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6089386-CC22-AC8A-36E2-1D17C4D8E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1DF9755-6E61-16AF-32D6-4226F140FA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4D8F0D-9976-B141-8152-BBA53A604F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6D2391-A4DD-43E6-B9B0-4ECCF2FB388B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9E1DE2D-DB41-571D-FB02-B8845C6B7B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BC5E65-2DCA-62F2-3A46-F8872AEC00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3D886B-2453-4F0C-A339-24213FCE6F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2117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60219D2-6019-BE1C-7C57-0AF14460282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7264270-B5E7-EE5C-BDD8-BC21D1578FF3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FF0A0C2-4F71-C653-E117-25CB1143F716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DD848BF-EB72-1F94-EE00-851C0A8CF4B2}"/>
              </a:ext>
            </a:extLst>
          </p:cNvPr>
          <p:cNvSpPr txBox="1"/>
          <p:nvPr/>
        </p:nvSpPr>
        <p:spPr>
          <a:xfrm>
            <a:off x="889000" y="1016000"/>
            <a:ext cx="87630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3600" b="1">
                <a:solidFill>
                  <a:srgbClr val="FFFFFF"/>
                </a:solidFill>
                <a:latin typeface="Microsoft YaHei" panose="020B0503020204020204" pitchFamily="34" charset="-122"/>
              </a:rPr>
              <a:t>OUC xv6 Lab Kit</a:t>
            </a:r>
            <a:endParaRPr lang="zh-CN" altLang="en-US" sz="36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453DB46-96CD-4872-5F84-193A9BF3907C}"/>
              </a:ext>
            </a:extLst>
          </p:cNvPr>
          <p:cNvSpPr txBox="1"/>
          <p:nvPr/>
        </p:nvSpPr>
        <p:spPr>
          <a:xfrm>
            <a:off x="914400" y="1905000"/>
            <a:ext cx="82550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>
                <a:solidFill>
                  <a:srgbClr val="EEF8FC"/>
                </a:solidFill>
                <a:latin typeface="Microsoft YaHei" panose="020B0503020204020204" pitchFamily="34" charset="-122"/>
              </a:rPr>
              <a:t>我们不只是给 </a:t>
            </a:r>
            <a:r>
              <a:rPr lang="en-US" altLang="zh-CN">
                <a:solidFill>
                  <a:srgbClr val="EEF8FC"/>
                </a:solidFill>
                <a:latin typeface="Microsoft YaHei" panose="020B0503020204020204" pitchFamily="34" charset="-122"/>
              </a:rPr>
              <a:t>xv6 </a:t>
            </a:r>
            <a:r>
              <a:rPr lang="zh-CN" altLang="en-US">
                <a:solidFill>
                  <a:srgbClr val="EEF8FC"/>
                </a:solidFill>
                <a:latin typeface="Microsoft YaHei" panose="020B0503020204020204" pitchFamily="34" charset="-122"/>
              </a:rPr>
              <a:t>加了九个系统调用，而是把它整理成一套可学习、可复现、可验收的 </a:t>
            </a:r>
            <a:r>
              <a:rPr lang="en-US" altLang="zh-CN">
                <a:solidFill>
                  <a:srgbClr val="EEF8FC"/>
                </a:solidFill>
                <a:latin typeface="Microsoft YaHei" panose="020B0503020204020204" pitchFamily="34" charset="-122"/>
              </a:rPr>
              <a:t>OS </a:t>
            </a:r>
            <a:r>
              <a:rPr lang="zh-CN" altLang="en-US">
                <a:solidFill>
                  <a:srgbClr val="EEF8FC"/>
                </a:solidFill>
                <a:latin typeface="Microsoft YaHei" panose="020B0503020204020204" pitchFamily="34" charset="-122"/>
              </a:rPr>
              <a:t>入门实验包。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ACA3814-1F4B-BF27-8473-879328AB4876}"/>
              </a:ext>
            </a:extLst>
          </p:cNvPr>
          <p:cNvSpPr/>
          <p:nvPr/>
        </p:nvSpPr>
        <p:spPr>
          <a:xfrm>
            <a:off x="914400" y="2984500"/>
            <a:ext cx="7112000" cy="38100"/>
          </a:xfrm>
          <a:prstGeom prst="rect">
            <a:avLst/>
          </a:prstGeom>
          <a:solidFill>
            <a:srgbClr val="19D3E6"/>
          </a:solidFill>
          <a:ln w="1270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EE13946-4B66-3445-EFB4-7295A5B0AB41}"/>
              </a:ext>
            </a:extLst>
          </p:cNvPr>
          <p:cNvSpPr/>
          <p:nvPr/>
        </p:nvSpPr>
        <p:spPr>
          <a:xfrm>
            <a:off x="914400" y="3429000"/>
            <a:ext cx="2396067" cy="7366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可学习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1B3C0BB-AFC9-E5A2-71C0-C55CC93D976F}"/>
              </a:ext>
            </a:extLst>
          </p:cNvPr>
          <p:cNvSpPr/>
          <p:nvPr/>
        </p:nvSpPr>
        <p:spPr>
          <a:xfrm>
            <a:off x="3462867" y="3429000"/>
            <a:ext cx="2396066" cy="7366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可复现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3CD0442-7A3C-8CA1-1CCB-7710923172AF}"/>
              </a:ext>
            </a:extLst>
          </p:cNvPr>
          <p:cNvSpPr/>
          <p:nvPr/>
        </p:nvSpPr>
        <p:spPr>
          <a:xfrm>
            <a:off x="6011333" y="3429000"/>
            <a:ext cx="2396067" cy="736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可验收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54EEAC3-F31E-D53A-DB33-62A028EC93AA}"/>
              </a:ext>
            </a:extLst>
          </p:cNvPr>
          <p:cNvSpPr/>
          <p:nvPr/>
        </p:nvSpPr>
        <p:spPr>
          <a:xfrm>
            <a:off x="9144000" y="1397000"/>
            <a:ext cx="1905000" cy="7366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600" b="1">
                <a:solidFill>
                  <a:srgbClr val="7CE8F2"/>
                </a:solidFill>
                <a:latin typeface="Microsoft YaHei" panose="020B0503020204020204" pitchFamily="34" charset="-122"/>
              </a:rPr>
              <a:t>db85947</a:t>
            </a:r>
            <a:endParaRPr lang="zh-CN" altLang="en-US" sz="16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86623F25-60A4-D949-79AA-3AC777CFADF1}"/>
              </a:ext>
            </a:extLst>
          </p:cNvPr>
          <p:cNvSpPr/>
          <p:nvPr/>
        </p:nvSpPr>
        <p:spPr>
          <a:xfrm>
            <a:off x="9144000" y="2476500"/>
            <a:ext cx="1905000" cy="7366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600" b="1">
                <a:solidFill>
                  <a:srgbClr val="7CE8F2"/>
                </a:solidFill>
                <a:latin typeface="Microsoft YaHei" panose="020B0503020204020204" pitchFamily="34" charset="-122"/>
              </a:rPr>
              <a:t>0001-0009</a:t>
            </a:r>
            <a:endParaRPr lang="zh-CN" altLang="en-US" sz="16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19FFFEEF-20D2-CD58-71CD-6B34D95F13A4}"/>
              </a:ext>
            </a:extLst>
          </p:cNvPr>
          <p:cNvSpPr/>
          <p:nvPr/>
        </p:nvSpPr>
        <p:spPr>
          <a:xfrm>
            <a:off x="9144000" y="3556000"/>
            <a:ext cx="1905000" cy="736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600" b="1">
                <a:solidFill>
                  <a:srgbClr val="09243D"/>
                </a:solidFill>
                <a:latin typeface="Microsoft YaHei" panose="020B0503020204020204" pitchFamily="34" charset="-122"/>
              </a:rPr>
              <a:t>三方通过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5BA591E2-5FB7-AFF6-F97B-11393A3AFFA8}"/>
              </a:ext>
            </a:extLst>
          </p:cNvPr>
          <p:cNvSpPr txBox="1"/>
          <p:nvPr/>
        </p:nvSpPr>
        <p:spPr>
          <a:xfrm>
            <a:off x="914400" y="5384800"/>
            <a:ext cx="7112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100">
                <a:solidFill>
                  <a:srgbClr val="7F98A9"/>
                </a:solidFill>
                <a:latin typeface="Microsoft YaHei" panose="020B0503020204020204" pitchFamily="34" charset="-122"/>
              </a:rPr>
              <a:t>赛题：</a:t>
            </a:r>
            <a:r>
              <a:rPr lang="en-US" altLang="zh-CN" sz="1100">
                <a:solidFill>
                  <a:srgbClr val="7F98A9"/>
                </a:solidFill>
                <a:latin typeface="Microsoft YaHei" panose="020B0503020204020204" pitchFamily="34" charset="-122"/>
              </a:rPr>
              <a:t>2026 OS </a:t>
            </a:r>
            <a:r>
              <a:rPr lang="zh-CN" altLang="en-US" sz="1100">
                <a:solidFill>
                  <a:srgbClr val="7F98A9"/>
                </a:solidFill>
                <a:latin typeface="Microsoft YaHei" panose="020B0503020204020204" pitchFamily="34" charset="-122"/>
              </a:rPr>
              <a:t>功能挑战赛道 </a:t>
            </a:r>
            <a:r>
              <a:rPr lang="en-US" altLang="zh-CN" sz="1100">
                <a:solidFill>
                  <a:srgbClr val="7F98A9"/>
                </a:solidFill>
                <a:latin typeface="Microsoft YaHei" panose="020B0503020204020204" pitchFamily="34" charset="-122"/>
              </a:rPr>
              <a:t>proj54</a:t>
            </a:r>
            <a:endParaRPr lang="zh-CN" altLang="en-US" sz="1100">
              <a:solidFill>
                <a:srgbClr val="7F98A9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F95E8AB-23E8-3A5A-1617-D379E6CC9CEE}"/>
              </a:ext>
            </a:extLst>
          </p:cNvPr>
          <p:cNvSpPr txBox="1"/>
          <p:nvPr/>
        </p:nvSpPr>
        <p:spPr>
          <a:xfrm>
            <a:off x="914400" y="5740400"/>
            <a:ext cx="7112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100">
                <a:solidFill>
                  <a:srgbClr val="7F98A9"/>
                </a:solidFill>
                <a:latin typeface="Microsoft YaHei" panose="020B0503020204020204" pitchFamily="34" charset="-122"/>
              </a:rPr>
              <a:t>队伍：中国海洋大学“蓝色系统队”</a:t>
            </a:r>
          </a:p>
        </p:txBody>
      </p:sp>
    </p:spTree>
    <p:extLst>
      <p:ext uri="{BB962C8B-B14F-4D97-AF65-F5344CB8AC3E}">
        <p14:creationId xmlns:p14="http://schemas.microsoft.com/office/powerpoint/2010/main" val="2244638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F43E655-DB2D-E5B5-EF61-D79494B291A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CC0B8D9-B572-0E1A-5866-7B9F7D8669CA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BF24689-DAFA-E235-D0F4-4D81501E4FA1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76CD90-C33C-261D-B049-493B641BD643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评分口径决定路线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52FEC61-8044-26B3-F56F-A88072DCDE81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02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FED3B8F-D989-E84B-3A0F-2DE1834D728B}"/>
              </a:ext>
            </a:extLst>
          </p:cNvPr>
          <p:cNvSpPr txBox="1"/>
          <p:nvPr/>
        </p:nvSpPr>
        <p:spPr>
          <a:xfrm>
            <a:off x="2006600" y="1117600"/>
            <a:ext cx="8382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这个赛题不是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LTP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刷分赛道，官方评价把源代码执行、文档、答辩过程和演示材料放在同一条线上。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B19A2EC1-ADCA-40AE-7485-D91379F41BD7}"/>
              </a:ext>
            </a:extLst>
          </p:cNvPr>
          <p:cNvSpPr/>
          <p:nvPr/>
        </p:nvSpPr>
        <p:spPr>
          <a:xfrm>
            <a:off x="2082800" y="2349500"/>
            <a:ext cx="2603500" cy="482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初赛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60E4742-FEC4-4E54-3FDC-39CCA0FDF402}"/>
              </a:ext>
            </a:extLst>
          </p:cNvPr>
          <p:cNvSpPr/>
          <p:nvPr/>
        </p:nvSpPr>
        <p:spPr>
          <a:xfrm>
            <a:off x="2082800" y="2984500"/>
            <a:ext cx="2603500" cy="1651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源代码执行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50%</a:t>
            </a:r>
          </a:p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文档展示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50%</a:t>
            </a:r>
            <a:endParaRPr lang="zh-CN" altLang="en-US" sz="14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AD8B77FD-A80D-2435-9B2B-B4A14CA20D16}"/>
              </a:ext>
            </a:extLst>
          </p:cNvPr>
          <p:cNvSpPr/>
          <p:nvPr/>
        </p:nvSpPr>
        <p:spPr>
          <a:xfrm>
            <a:off x="5207000" y="2349500"/>
            <a:ext cx="2603500" cy="482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决赛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B30FDED-7B99-57E2-6A4A-CE7F0E1155B1}"/>
              </a:ext>
            </a:extLst>
          </p:cNvPr>
          <p:cNvSpPr/>
          <p:nvPr/>
        </p:nvSpPr>
        <p:spPr>
          <a:xfrm>
            <a:off x="5207000" y="2984500"/>
            <a:ext cx="2603500" cy="1651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初赛成绩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20%</a:t>
            </a:r>
          </a:p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决赛表现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80%</a:t>
            </a:r>
            <a:endParaRPr lang="zh-CN" altLang="en-US" sz="14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171909A-8D46-FF4E-04BA-F41843D7D1D5}"/>
              </a:ext>
            </a:extLst>
          </p:cNvPr>
          <p:cNvSpPr/>
          <p:nvPr/>
        </p:nvSpPr>
        <p:spPr>
          <a:xfrm>
            <a:off x="8331200" y="2349500"/>
            <a:ext cx="2603500" cy="482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决赛阶段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4830F4A-BAE8-C520-87C6-F77D9B2DCF50}"/>
              </a:ext>
            </a:extLst>
          </p:cNvPr>
          <p:cNvSpPr/>
          <p:nvPr/>
        </p:nvSpPr>
        <p:spPr>
          <a:xfrm>
            <a:off x="8331200" y="2984500"/>
            <a:ext cx="2603500" cy="1651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执行展示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15%</a:t>
            </a:r>
          </a:p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设计文档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25%</a:t>
            </a:r>
          </a:p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答辩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过程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源码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/PPT/</a:t>
            </a:r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视频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40%</a:t>
            </a:r>
            <a:endParaRPr lang="zh-CN" altLang="en-US" sz="14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C2EBFCE-B437-3D48-5C98-A577CE123BD2}"/>
              </a:ext>
            </a:extLst>
          </p:cNvPr>
          <p:cNvSpPr/>
          <p:nvPr/>
        </p:nvSpPr>
        <p:spPr>
          <a:xfrm>
            <a:off x="2895600" y="5270500"/>
            <a:ext cx="7048500" cy="609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FFFFFF"/>
                </a:solidFill>
                <a:latin typeface="Microsoft YaHei" panose="020B0503020204020204" pitchFamily="34" charset="-122"/>
              </a:rPr>
              <a:t>我们的路线：代码功能适度，文档体系完整，复现证据可核验</a:t>
            </a:r>
          </a:p>
        </p:txBody>
      </p:sp>
    </p:spTree>
    <p:extLst>
      <p:ext uri="{BB962C8B-B14F-4D97-AF65-F5344CB8AC3E}">
        <p14:creationId xmlns:p14="http://schemas.microsoft.com/office/powerpoint/2010/main" val="999091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26FF78C4-76D3-E89C-2E6B-F87D37E9214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484DBCB-D134-2A38-4018-C4E398162FE8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1ADEB70-F04D-CC22-80F6-2C8F464F96B1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6AF0C70-C5F7-F8DC-B5ED-951E4235082F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复现才是第一道坎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1B85E17-CE23-83B3-17C1-C447A47749E8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03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1EFCBA2-6D89-8A94-E4C6-2C748E07F1BF}"/>
              </a:ext>
            </a:extLst>
          </p:cNvPr>
          <p:cNvSpPr txBox="1"/>
          <p:nvPr/>
        </p:nvSpPr>
        <p:spPr>
          <a:xfrm>
            <a:off x="685800" y="1092200"/>
            <a:ext cx="774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真实教学场景里，学生和队友最容易卡在环境、补丁顺序、</a:t>
            </a:r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QEMU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、日志和验收口径。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EE32A9C4-B94B-1DFC-FBC2-452F89F608BE}"/>
              </a:ext>
            </a:extLst>
          </p:cNvPr>
          <p:cNvSpPr/>
          <p:nvPr/>
        </p:nvSpPr>
        <p:spPr>
          <a:xfrm>
            <a:off x="914400" y="2260600"/>
            <a:ext cx="1422400" cy="609600"/>
          </a:xfrm>
          <a:prstGeom prst="roundRect">
            <a:avLst/>
          </a:prstGeom>
          <a:solidFill>
            <a:srgbClr val="0E3D5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环境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D5268FE-1847-46D7-73E1-C200DC24AA2F}"/>
              </a:ext>
            </a:extLst>
          </p:cNvPr>
          <p:cNvSpPr/>
          <p:nvPr/>
        </p:nvSpPr>
        <p:spPr>
          <a:xfrm>
            <a:off x="914400" y="3073400"/>
            <a:ext cx="1422400" cy="10922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环境：</a:t>
            </a:r>
            <a:r>
              <a:rPr lang="en-US" altLang="zh-CN" sz="950">
                <a:solidFill>
                  <a:srgbClr val="EEF8FC"/>
                </a:solidFill>
                <a:latin typeface="Microsoft YaHei" panose="020B0503020204020204" pitchFamily="34" charset="-122"/>
              </a:rPr>
              <a:t>WSL</a:t>
            </a:r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950">
                <a:solidFill>
                  <a:srgbClr val="EEF8FC"/>
                </a:solidFill>
                <a:latin typeface="Microsoft YaHei" panose="020B0503020204020204" pitchFamily="34" charset="-122"/>
              </a:rPr>
              <a:t>RISC-V </a:t>
            </a:r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工具链、</a:t>
            </a:r>
            <a:r>
              <a:rPr lang="en-US" altLang="zh-CN" sz="950">
                <a:solidFill>
                  <a:srgbClr val="EEF8FC"/>
                </a:solidFill>
                <a:latin typeface="Microsoft YaHei" panose="020B0503020204020204" pitchFamily="34" charset="-122"/>
              </a:rPr>
              <a:t>QEMU </a:t>
            </a:r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版本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FCCAF66-37B0-59A1-F6CB-E568CA04FACB}"/>
              </a:ext>
            </a:extLst>
          </p:cNvPr>
          <p:cNvSpPr/>
          <p:nvPr/>
        </p:nvSpPr>
        <p:spPr>
          <a:xfrm>
            <a:off x="2717800" y="2260600"/>
            <a:ext cx="1422400" cy="609600"/>
          </a:xfrm>
          <a:prstGeom prst="roundRect">
            <a:avLst/>
          </a:prstGeom>
          <a:solidFill>
            <a:srgbClr val="0E3D5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过程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75133DA-B89D-A34D-D093-3E06CCD3B90B}"/>
              </a:ext>
            </a:extLst>
          </p:cNvPr>
          <p:cNvSpPr/>
          <p:nvPr/>
        </p:nvSpPr>
        <p:spPr>
          <a:xfrm>
            <a:off x="2717800" y="3073400"/>
            <a:ext cx="1422400" cy="10922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过程：应用补丁、编译、启动、运行命令容易混在一起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8B00E2E5-623A-834B-99EC-4140A6A1EEE2}"/>
              </a:ext>
            </a:extLst>
          </p:cNvPr>
          <p:cNvSpPr/>
          <p:nvPr/>
        </p:nvSpPr>
        <p:spPr>
          <a:xfrm>
            <a:off x="4521200" y="2260600"/>
            <a:ext cx="1422400" cy="609600"/>
          </a:xfrm>
          <a:prstGeom prst="roundRect">
            <a:avLst/>
          </a:prstGeom>
          <a:solidFill>
            <a:srgbClr val="0E3D5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运行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32DAE82-36A6-84CE-9CC8-9963E31B4AE1}"/>
              </a:ext>
            </a:extLst>
          </p:cNvPr>
          <p:cNvSpPr/>
          <p:nvPr/>
        </p:nvSpPr>
        <p:spPr>
          <a:xfrm>
            <a:off x="4521200" y="3073400"/>
            <a:ext cx="1422400" cy="10922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运行：</a:t>
            </a:r>
            <a:r>
              <a:rPr lang="en-US" altLang="zh-CN" sz="950">
                <a:solidFill>
                  <a:srgbClr val="EEF8FC"/>
                </a:solidFill>
                <a:latin typeface="Microsoft YaHei" panose="020B0503020204020204" pitchFamily="34" charset="-122"/>
              </a:rPr>
              <a:t>Ctrl+Z </a:t>
            </a:r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会挂起 </a:t>
            </a:r>
            <a:r>
              <a:rPr lang="en-US" altLang="zh-CN" sz="950">
                <a:solidFill>
                  <a:srgbClr val="EEF8FC"/>
                </a:solidFill>
                <a:latin typeface="Microsoft YaHei" panose="020B0503020204020204" pitchFamily="34" charset="-122"/>
              </a:rPr>
              <a:t>QEMU</a:t>
            </a:r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，不是退出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947FFDC9-0D9B-6963-1271-6B4538A21844}"/>
              </a:ext>
            </a:extLst>
          </p:cNvPr>
          <p:cNvSpPr/>
          <p:nvPr/>
        </p:nvSpPr>
        <p:spPr>
          <a:xfrm>
            <a:off x="6324600" y="2260600"/>
            <a:ext cx="1422400" cy="609600"/>
          </a:xfrm>
          <a:prstGeom prst="roundRect">
            <a:avLst/>
          </a:prstGeom>
          <a:solidFill>
            <a:srgbClr val="0E3D5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证据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4FD6B118-EE5C-83DD-E910-A1DEC7369F36}"/>
              </a:ext>
            </a:extLst>
          </p:cNvPr>
          <p:cNvSpPr/>
          <p:nvPr/>
        </p:nvSpPr>
        <p:spPr>
          <a:xfrm>
            <a:off x="6324600" y="3073400"/>
            <a:ext cx="1422400" cy="10922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证据：截图不能替代摘要、命令和 </a:t>
            </a:r>
            <a:r>
              <a:rPr lang="en-US" altLang="zh-CN" sz="950">
                <a:solidFill>
                  <a:srgbClr val="EEF8FC"/>
                </a:solidFill>
                <a:latin typeface="Microsoft YaHei" panose="020B0503020204020204" pitchFamily="34" charset="-122"/>
              </a:rPr>
              <a:t>SHA256</a:t>
            </a:r>
            <a:endParaRPr lang="zh-CN" altLang="en-US" sz="950">
              <a:solidFill>
                <a:srgbClr val="EEF8FC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1C473767-B44D-79F8-2455-54762036C923}"/>
              </a:ext>
            </a:extLst>
          </p:cNvPr>
          <p:cNvSpPr/>
          <p:nvPr/>
        </p:nvSpPr>
        <p:spPr>
          <a:xfrm>
            <a:off x="1168400" y="5029200"/>
            <a:ext cx="1168400" cy="533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环境检查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43A804F-B5B0-138E-70F5-7634FE52A1AA}"/>
              </a:ext>
            </a:extLst>
          </p:cNvPr>
          <p:cNvSpPr txBox="1"/>
          <p:nvPr/>
        </p:nvSpPr>
        <p:spPr>
          <a:xfrm>
            <a:off x="2387600" y="51181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07AB4DD7-02FD-F2DC-8D4B-D360DDE1E6A0}"/>
              </a:ext>
            </a:extLst>
          </p:cNvPr>
          <p:cNvSpPr/>
          <p:nvPr/>
        </p:nvSpPr>
        <p:spPr>
          <a:xfrm>
            <a:off x="2667000" y="5029200"/>
            <a:ext cx="1168400" cy="533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应用编译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C5181FE-96B5-55CA-9CF1-C2414E76F52D}"/>
              </a:ext>
            </a:extLst>
          </p:cNvPr>
          <p:cNvSpPr txBox="1"/>
          <p:nvPr/>
        </p:nvSpPr>
        <p:spPr>
          <a:xfrm>
            <a:off x="3886200" y="51181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82CB9D33-E992-816C-7FF0-6FC5A46DAF9F}"/>
              </a:ext>
            </a:extLst>
          </p:cNvPr>
          <p:cNvSpPr/>
          <p:nvPr/>
        </p:nvSpPr>
        <p:spPr>
          <a:xfrm>
            <a:off x="4165600" y="5029200"/>
            <a:ext cx="1168400" cy="533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启动运行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B9D510D-0DE2-D08B-A60B-A696EA6D1ABF}"/>
              </a:ext>
            </a:extLst>
          </p:cNvPr>
          <p:cNvSpPr txBox="1"/>
          <p:nvPr/>
        </p:nvSpPr>
        <p:spPr>
          <a:xfrm>
            <a:off x="5384800" y="51181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F8449F42-E555-3CA4-2057-F65EE54DF46E}"/>
              </a:ext>
            </a:extLst>
          </p:cNvPr>
          <p:cNvSpPr/>
          <p:nvPr/>
        </p:nvSpPr>
        <p:spPr>
          <a:xfrm>
            <a:off x="5664200" y="5029200"/>
            <a:ext cx="1168400" cy="533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摘要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346919E-9668-EA44-A28A-07CC81E76B9E}"/>
              </a:ext>
            </a:extLst>
          </p:cNvPr>
          <p:cNvSpPr txBox="1"/>
          <p:nvPr/>
        </p:nvSpPr>
        <p:spPr>
          <a:xfrm>
            <a:off x="6883400" y="51181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3EDFA4B-9808-EEF7-089E-5FB7D350792D}"/>
              </a:ext>
            </a:extLst>
          </p:cNvPr>
          <p:cNvSpPr/>
          <p:nvPr/>
        </p:nvSpPr>
        <p:spPr>
          <a:xfrm>
            <a:off x="7162800" y="5029200"/>
            <a:ext cx="1168400" cy="5334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证据索引</a:t>
            </a:r>
          </a:p>
        </p:txBody>
      </p:sp>
    </p:spTree>
    <p:extLst>
      <p:ext uri="{BB962C8B-B14F-4D97-AF65-F5344CB8AC3E}">
        <p14:creationId xmlns:p14="http://schemas.microsoft.com/office/powerpoint/2010/main" val="1032934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A298FF6-0725-19DF-9D40-70DA62A6A57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4B1599F-944E-BAFC-95DF-6E285216865D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F79A070-764A-A166-A1AE-7A0072883226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D9535FC-5580-7E0A-F3BD-D14D17307F45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项目定位：课程实验包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7734CA4-389B-5E26-F657-5FABBD599937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04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CBF6306-F862-CE46-C57A-6E074A2E2F86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同一套仓库要让学生能学、老师能布置、助教能验收、评委能复现。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3AED200-EB58-709E-7094-0B8124B58A95}"/>
              </a:ext>
            </a:extLst>
          </p:cNvPr>
          <p:cNvSpPr/>
          <p:nvPr/>
        </p:nvSpPr>
        <p:spPr>
          <a:xfrm>
            <a:off x="5232400" y="2857500"/>
            <a:ext cx="1905000" cy="10160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Microsoft YaHei" panose="020B0503020204020204" pitchFamily="34" charset="-122"/>
              </a:rPr>
              <a:t>OUC xv6 </a:t>
            </a:r>
            <a:r>
              <a:rPr lang="zh-CN" altLang="en-US" b="1">
                <a:solidFill>
                  <a:srgbClr val="FFFFFF"/>
                </a:solidFill>
                <a:latin typeface="Microsoft YaHei" panose="020B0503020204020204" pitchFamily="34" charset="-122"/>
              </a:rPr>
              <a:t>实验包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B3F8395-0362-D2CD-85FC-58F2C700FB26}"/>
              </a:ext>
            </a:extLst>
          </p:cNvPr>
          <p:cNvSpPr/>
          <p:nvPr/>
        </p:nvSpPr>
        <p:spPr>
          <a:xfrm>
            <a:off x="2413000" y="2032000"/>
            <a:ext cx="1651000" cy="4572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学生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E813793D-039C-0FB1-1D81-F9E2A3ADF88E}"/>
              </a:ext>
            </a:extLst>
          </p:cNvPr>
          <p:cNvSpPr/>
          <p:nvPr/>
        </p:nvSpPr>
        <p:spPr>
          <a:xfrm>
            <a:off x="2413000" y="2616200"/>
            <a:ext cx="2032000" cy="889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学生：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README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lab README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student_tasks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、预期输出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2EC859BC-ECA6-B24E-1BF5-F2F34E7DD240}"/>
              </a:ext>
            </a:extLst>
          </p:cNvPr>
          <p:cNvSpPr/>
          <p:nvPr/>
        </p:nvSpPr>
        <p:spPr>
          <a:xfrm>
            <a:off x="8026400" y="2032000"/>
            <a:ext cx="1651000" cy="4572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老师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166CCA9-C252-FAFF-AA50-F0A9C5282FBE}"/>
              </a:ext>
            </a:extLst>
          </p:cNvPr>
          <p:cNvSpPr/>
          <p:nvPr/>
        </p:nvSpPr>
        <p:spPr>
          <a:xfrm>
            <a:off x="8026400" y="2616200"/>
            <a:ext cx="2032000" cy="889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老师：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teacher guide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、课程节奏、评分 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rubrics</a:t>
            </a:r>
            <a:endParaRPr lang="zh-CN" altLang="en-US" sz="1050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3ADCCBE-ADE9-4518-F0F8-3696A7A384F2}"/>
              </a:ext>
            </a:extLst>
          </p:cNvPr>
          <p:cNvSpPr/>
          <p:nvPr/>
        </p:nvSpPr>
        <p:spPr>
          <a:xfrm>
            <a:off x="2413000" y="4470400"/>
            <a:ext cx="1651000" cy="4572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助教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799C3134-F45B-1610-DD50-7CE8EAA51C9F}"/>
              </a:ext>
            </a:extLst>
          </p:cNvPr>
          <p:cNvSpPr/>
          <p:nvPr/>
        </p:nvSpPr>
        <p:spPr>
          <a:xfrm>
            <a:off x="2413000" y="5054600"/>
            <a:ext cx="2032000" cy="889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助教：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labctl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、队友摘要、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grade-summaries</a:t>
            </a:r>
            <a:endParaRPr lang="zh-CN" altLang="en-US" sz="1050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B1878514-38DD-3163-297E-217BC9A51931}"/>
              </a:ext>
            </a:extLst>
          </p:cNvPr>
          <p:cNvSpPr/>
          <p:nvPr/>
        </p:nvSpPr>
        <p:spPr>
          <a:xfrm>
            <a:off x="8026400" y="4470400"/>
            <a:ext cx="1651000" cy="4572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评委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65EF225F-8E0B-73D8-B030-9FC6CE7097EC}"/>
              </a:ext>
            </a:extLst>
          </p:cNvPr>
          <p:cNvSpPr/>
          <p:nvPr/>
        </p:nvSpPr>
        <p:spPr>
          <a:xfrm>
            <a:off x="8026400" y="5054600"/>
            <a:ext cx="2032000" cy="889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评委：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docs/final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、证据索引、最终演示元数据</a:t>
            </a:r>
          </a:p>
        </p:txBody>
      </p:sp>
    </p:spTree>
    <p:extLst>
      <p:ext uri="{BB962C8B-B14F-4D97-AF65-F5344CB8AC3E}">
        <p14:creationId xmlns:p14="http://schemas.microsoft.com/office/powerpoint/2010/main" val="1562466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AF0C016-A56E-EE38-6F24-141C3A2469B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251F052-954B-9F0C-BC68-AEC490866627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1BFE0E9-C865-8F11-FD2A-45742BD36C2F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8817AC-01B9-3238-5CE4-F58F40B3A8E9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证据从干净基线开始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A950FDE-8EA3-1879-EF9A-F46AD690C916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05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4BF4C9-B82B-814A-79A0-8BF39CC0CBBB}"/>
              </a:ext>
            </a:extLst>
          </p:cNvPr>
          <p:cNvSpPr txBox="1"/>
          <p:nvPr/>
        </p:nvSpPr>
        <p:spPr>
          <a:xfrm>
            <a:off x="685800" y="1092200"/>
            <a:ext cx="774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每次完整复现都从干净 </a:t>
            </a:r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xv6 baseline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出发，补丁、验证和证据文件之间有清晰链路。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11D6505-74A9-56D8-2534-348BC08CEC7B}"/>
              </a:ext>
            </a:extLst>
          </p:cNvPr>
          <p:cNvSpPr/>
          <p:nvPr/>
        </p:nvSpPr>
        <p:spPr>
          <a:xfrm>
            <a:off x="889000" y="3022600"/>
            <a:ext cx="1397000" cy="660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干净基线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973C7E-BCE9-21C7-C8F2-F2E97F8A0DF2}"/>
              </a:ext>
            </a:extLst>
          </p:cNvPr>
          <p:cNvSpPr txBox="1"/>
          <p:nvPr/>
        </p:nvSpPr>
        <p:spPr>
          <a:xfrm>
            <a:off x="2311400" y="32004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DCB67EE-42AD-BD3C-1C38-9BC1BEE4FCB3}"/>
              </a:ext>
            </a:extLst>
          </p:cNvPr>
          <p:cNvSpPr/>
          <p:nvPr/>
        </p:nvSpPr>
        <p:spPr>
          <a:xfrm>
            <a:off x="2565400" y="3860800"/>
            <a:ext cx="1397000" cy="660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独立实验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D81BB7-0CA7-2557-37A6-C249FB900429}"/>
              </a:ext>
            </a:extLst>
          </p:cNvPr>
          <p:cNvSpPr txBox="1"/>
          <p:nvPr/>
        </p:nvSpPr>
        <p:spPr>
          <a:xfrm>
            <a:off x="3987800" y="40386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2E09850-F33F-DB4E-42F7-95D18D348A45}"/>
              </a:ext>
            </a:extLst>
          </p:cNvPr>
          <p:cNvSpPr/>
          <p:nvPr/>
        </p:nvSpPr>
        <p:spPr>
          <a:xfrm>
            <a:off x="4241800" y="3022600"/>
            <a:ext cx="1397000" cy="660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集成 </a:t>
            </a:r>
            <a:r>
              <a:rPr lang="en-US" altLang="zh-CN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0001-0009</a:t>
            </a:r>
            <a:endParaRPr lang="zh-CN" altLang="en-US" sz="11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C0DD56B-44B4-AEA0-E91B-0BC558E36B0E}"/>
              </a:ext>
            </a:extLst>
          </p:cNvPr>
          <p:cNvSpPr txBox="1"/>
          <p:nvPr/>
        </p:nvSpPr>
        <p:spPr>
          <a:xfrm>
            <a:off x="5664200" y="32004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F079F0A6-70C5-B95E-C2A2-010AEDB0C1C3}"/>
              </a:ext>
            </a:extLst>
          </p:cNvPr>
          <p:cNvSpPr/>
          <p:nvPr/>
        </p:nvSpPr>
        <p:spPr>
          <a:xfrm>
            <a:off x="5918200" y="3860800"/>
            <a:ext cx="1397000" cy="660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labctl / 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验证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41BB01B-D40F-DA29-4FE5-63DF2D3A8962}"/>
              </a:ext>
            </a:extLst>
          </p:cNvPr>
          <p:cNvSpPr txBox="1"/>
          <p:nvPr/>
        </p:nvSpPr>
        <p:spPr>
          <a:xfrm>
            <a:off x="7340600" y="40386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AC026D6-31FF-C1B9-0524-0F7CBF28BA7F}"/>
              </a:ext>
            </a:extLst>
          </p:cNvPr>
          <p:cNvSpPr/>
          <p:nvPr/>
        </p:nvSpPr>
        <p:spPr>
          <a:xfrm>
            <a:off x="7594600" y="3022600"/>
            <a:ext cx="1397000" cy="660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摘要 </a:t>
            </a:r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汇总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4C2DECA-3B44-00A3-BFC5-115AA94172E0}"/>
              </a:ext>
            </a:extLst>
          </p:cNvPr>
          <p:cNvSpPr txBox="1"/>
          <p:nvPr/>
        </p:nvSpPr>
        <p:spPr>
          <a:xfrm>
            <a:off x="9017000" y="32004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D80052B-570E-0E60-BEB9-58C7F83B3E64}"/>
              </a:ext>
            </a:extLst>
          </p:cNvPr>
          <p:cNvSpPr/>
          <p:nvPr/>
        </p:nvSpPr>
        <p:spPr>
          <a:xfrm>
            <a:off x="9271000" y="3860800"/>
            <a:ext cx="1397000" cy="6604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证据索引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6374EE89-D490-625A-5787-91052F5F0A14}"/>
              </a:ext>
            </a:extLst>
          </p:cNvPr>
          <p:cNvSpPr/>
          <p:nvPr/>
        </p:nvSpPr>
        <p:spPr>
          <a:xfrm>
            <a:off x="8407400" y="5016500"/>
            <a:ext cx="2413000" cy="7366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200" b="1">
                <a:solidFill>
                  <a:srgbClr val="EEF8FC"/>
                </a:solidFill>
                <a:latin typeface="Microsoft YaHei" panose="020B0503020204020204" pitchFamily="34" charset="-122"/>
              </a:rPr>
              <a:t>不提交 </a:t>
            </a:r>
            <a:r>
              <a:rPr lang="en-US" altLang="zh-CN" sz="1200" b="1">
                <a:solidFill>
                  <a:srgbClr val="EEF8FC"/>
                </a:solidFill>
                <a:latin typeface="Microsoft YaHei" panose="020B0503020204020204" pitchFamily="34" charset="-122"/>
              </a:rPr>
              <a:t>external</a:t>
            </a:r>
          </a:p>
          <a:p>
            <a:pPr algn="ctr"/>
            <a:r>
              <a:rPr lang="zh-CN" altLang="en-US" sz="1200" b="1">
                <a:solidFill>
                  <a:srgbClr val="EEF8FC"/>
                </a:solidFill>
                <a:latin typeface="Microsoft YaHei" panose="020B0503020204020204" pitchFamily="34" charset="-122"/>
              </a:rPr>
              <a:t>不提交原始证据</a:t>
            </a:r>
          </a:p>
        </p:txBody>
      </p:sp>
    </p:spTree>
    <p:extLst>
      <p:ext uri="{BB962C8B-B14F-4D97-AF65-F5344CB8AC3E}">
        <p14:creationId xmlns:p14="http://schemas.microsoft.com/office/powerpoint/2010/main" val="39902426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038F658-CF82-EBA2-C335-6A17858DC14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D047C85-9BE8-61F2-787A-5A51E37A82AB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5E1DAD8-94F7-5BD3-824C-180F9585A7C0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9CF52B0-C243-7A2E-49E9-203D7790AE39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Lab </a:t>
            </a:r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矩阵：从环境到综合复现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FCB88B4-61BD-571C-D8BC-97727E04C6B8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06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6716092-F32C-D294-DC5A-E292A9301EEB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Lab0-Lab5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的设计目标是小步进入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OS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机制，每一阶段都有明确学习点和验收项。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1BB1E84B-1232-07CE-6F78-1FD426DB3FF1}"/>
              </a:ext>
            </a:extLst>
          </p:cNvPr>
          <p:cNvSpPr/>
          <p:nvPr/>
        </p:nvSpPr>
        <p:spPr>
          <a:xfrm>
            <a:off x="2095500" y="2032000"/>
            <a:ext cx="1270000" cy="508000"/>
          </a:xfrm>
          <a:prstGeom prst="roundRect">
            <a:avLst/>
          </a:prstGeom>
          <a:solidFill>
            <a:srgbClr val="061B33"/>
          </a:solidFill>
          <a:ln w="1270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6D27610-FE98-EF95-8135-0D44425F0702}"/>
              </a:ext>
            </a:extLst>
          </p:cNvPr>
          <p:cNvSpPr txBox="1"/>
          <p:nvPr/>
        </p:nvSpPr>
        <p:spPr>
          <a:xfrm>
            <a:off x="2146300" y="2184400"/>
            <a:ext cx="11684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Microsoft YaHei" panose="020B0503020204020204" pitchFamily="34" charset="-122"/>
              </a:rPr>
              <a:t>实验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8849EB2-AB50-9604-01CF-7213647F2B61}"/>
              </a:ext>
            </a:extLst>
          </p:cNvPr>
          <p:cNvSpPr/>
          <p:nvPr/>
        </p:nvSpPr>
        <p:spPr>
          <a:xfrm>
            <a:off x="3492500" y="2032000"/>
            <a:ext cx="2794000" cy="508000"/>
          </a:xfrm>
          <a:prstGeom prst="roundRect">
            <a:avLst/>
          </a:prstGeom>
          <a:solidFill>
            <a:srgbClr val="061B33"/>
          </a:solidFill>
          <a:ln w="1270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4017CFA-707D-200D-70BC-771262D5B009}"/>
              </a:ext>
            </a:extLst>
          </p:cNvPr>
          <p:cNvSpPr txBox="1"/>
          <p:nvPr/>
        </p:nvSpPr>
        <p:spPr>
          <a:xfrm>
            <a:off x="3543300" y="2184400"/>
            <a:ext cx="26924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Microsoft YaHei" panose="020B0503020204020204" pitchFamily="34" charset="-122"/>
              </a:rPr>
              <a:t>学什么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CD67054-95F8-7354-A1DF-C55FF9ECF513}"/>
              </a:ext>
            </a:extLst>
          </p:cNvPr>
          <p:cNvSpPr/>
          <p:nvPr/>
        </p:nvSpPr>
        <p:spPr>
          <a:xfrm>
            <a:off x="6413500" y="2032000"/>
            <a:ext cx="3581400" cy="508000"/>
          </a:xfrm>
          <a:prstGeom prst="roundRect">
            <a:avLst/>
          </a:prstGeom>
          <a:solidFill>
            <a:srgbClr val="061B33"/>
          </a:solidFill>
          <a:ln w="1270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D06E7AE-6380-58A6-18EF-A3FBDF4CA924}"/>
              </a:ext>
            </a:extLst>
          </p:cNvPr>
          <p:cNvSpPr txBox="1"/>
          <p:nvPr/>
        </p:nvSpPr>
        <p:spPr>
          <a:xfrm>
            <a:off x="6464300" y="2184400"/>
            <a:ext cx="3479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Microsoft YaHei" panose="020B0503020204020204" pitchFamily="34" charset="-122"/>
              </a:rPr>
              <a:t>验什么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BF410E46-1462-313F-0FB7-8FEE4250EB6F}"/>
              </a:ext>
            </a:extLst>
          </p:cNvPr>
          <p:cNvSpPr/>
          <p:nvPr/>
        </p:nvSpPr>
        <p:spPr>
          <a:xfrm>
            <a:off x="2095500" y="2692400"/>
            <a:ext cx="1270000" cy="457200"/>
          </a:xfrm>
          <a:prstGeom prst="roundRect">
            <a:avLst/>
          </a:prstGeom>
          <a:solidFill>
            <a:srgbClr val="0E3D5D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4326AC8-334B-F57F-2AD0-94CB457C339A}"/>
              </a:ext>
            </a:extLst>
          </p:cNvPr>
          <p:cNvSpPr txBox="1"/>
          <p:nvPr/>
        </p:nvSpPr>
        <p:spPr>
          <a:xfrm>
            <a:off x="2146300" y="2819400"/>
            <a:ext cx="1168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FFFFFF"/>
                </a:solidFill>
                <a:latin typeface="Microsoft YaHei" panose="020B0503020204020204" pitchFamily="34" charset="-122"/>
              </a:rPr>
              <a:t>Lab0</a:t>
            </a:r>
            <a:endParaRPr lang="zh-CN" altLang="en-US" sz="85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110C1715-9710-5A09-D90C-1793407F91B3}"/>
              </a:ext>
            </a:extLst>
          </p:cNvPr>
          <p:cNvSpPr/>
          <p:nvPr/>
        </p:nvSpPr>
        <p:spPr>
          <a:xfrm>
            <a:off x="3492500" y="2692400"/>
            <a:ext cx="2794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E5963B5-7D72-4281-E498-0629B4307EA4}"/>
              </a:ext>
            </a:extLst>
          </p:cNvPr>
          <p:cNvSpPr txBox="1"/>
          <p:nvPr/>
        </p:nvSpPr>
        <p:spPr>
          <a:xfrm>
            <a:off x="3543300" y="2819400"/>
            <a:ext cx="2692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环境与启动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5D6CD70E-C8D2-F1E4-C262-19AFDDFDD3EA}"/>
              </a:ext>
            </a:extLst>
          </p:cNvPr>
          <p:cNvSpPr/>
          <p:nvPr/>
        </p:nvSpPr>
        <p:spPr>
          <a:xfrm>
            <a:off x="6413500" y="2692400"/>
            <a:ext cx="35814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97DFBF3-B480-FCDA-C56B-9D9A47C7A4C6}"/>
              </a:ext>
            </a:extLst>
          </p:cNvPr>
          <p:cNvSpPr txBox="1"/>
          <p:nvPr/>
        </p:nvSpPr>
        <p:spPr>
          <a:xfrm>
            <a:off x="6464300" y="2819400"/>
            <a:ext cx="34798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build / boot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5909FE7B-0041-FA4A-8A5A-9B648A4907D9}"/>
              </a:ext>
            </a:extLst>
          </p:cNvPr>
          <p:cNvSpPr/>
          <p:nvPr/>
        </p:nvSpPr>
        <p:spPr>
          <a:xfrm>
            <a:off x="2095500" y="3238500"/>
            <a:ext cx="1270000" cy="457200"/>
          </a:xfrm>
          <a:prstGeom prst="roundRect">
            <a:avLst/>
          </a:prstGeom>
          <a:solidFill>
            <a:srgbClr val="0E3D5D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CE20850-864B-3DB2-023A-A7F66350A9AA}"/>
              </a:ext>
            </a:extLst>
          </p:cNvPr>
          <p:cNvSpPr txBox="1"/>
          <p:nvPr/>
        </p:nvSpPr>
        <p:spPr>
          <a:xfrm>
            <a:off x="2146300" y="3365500"/>
            <a:ext cx="1168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FFFFFF"/>
                </a:solidFill>
                <a:latin typeface="Microsoft YaHei" panose="020B0503020204020204" pitchFamily="34" charset="-122"/>
              </a:rPr>
              <a:t>Lab1</a:t>
            </a:r>
            <a:endParaRPr lang="zh-CN" altLang="en-US" sz="85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E95601D-E805-CF66-CA46-0AF0CE1C7F39}"/>
              </a:ext>
            </a:extLst>
          </p:cNvPr>
          <p:cNvSpPr/>
          <p:nvPr/>
        </p:nvSpPr>
        <p:spPr>
          <a:xfrm>
            <a:off x="3492500" y="3238500"/>
            <a:ext cx="2794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9E1129F-7DB1-E6A2-3F68-CEC59B56980E}"/>
              </a:ext>
            </a:extLst>
          </p:cNvPr>
          <p:cNvSpPr txBox="1"/>
          <p:nvPr/>
        </p:nvSpPr>
        <p:spPr>
          <a:xfrm>
            <a:off x="3543300" y="3365500"/>
            <a:ext cx="2692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系统调用入口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F245A0F-1E03-17E9-83CA-455E229BA931}"/>
              </a:ext>
            </a:extLst>
          </p:cNvPr>
          <p:cNvSpPr/>
          <p:nvPr/>
        </p:nvSpPr>
        <p:spPr>
          <a:xfrm>
            <a:off x="6413500" y="3238500"/>
            <a:ext cx="35814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A837C41-D0DB-7904-3042-A267508DBD67}"/>
              </a:ext>
            </a:extLst>
          </p:cNvPr>
          <p:cNvSpPr txBox="1"/>
          <p:nvPr/>
        </p:nvSpPr>
        <p:spPr>
          <a:xfrm>
            <a:off x="6464300" y="3365500"/>
            <a:ext cx="34798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hello / add2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A6E7FBF-9840-A17D-631E-8F27EC1D27AE}"/>
              </a:ext>
            </a:extLst>
          </p:cNvPr>
          <p:cNvSpPr/>
          <p:nvPr/>
        </p:nvSpPr>
        <p:spPr>
          <a:xfrm>
            <a:off x="2095500" y="3784600"/>
            <a:ext cx="1270000" cy="457200"/>
          </a:xfrm>
          <a:prstGeom prst="roundRect">
            <a:avLst/>
          </a:prstGeom>
          <a:solidFill>
            <a:srgbClr val="0E3D5D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6EC5B64-E996-2E74-A4BB-A30C2BF7D6BC}"/>
              </a:ext>
            </a:extLst>
          </p:cNvPr>
          <p:cNvSpPr txBox="1"/>
          <p:nvPr/>
        </p:nvSpPr>
        <p:spPr>
          <a:xfrm>
            <a:off x="2146300" y="3911600"/>
            <a:ext cx="1168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FFFFFF"/>
                </a:solidFill>
                <a:latin typeface="Microsoft YaHei" panose="020B0503020204020204" pitchFamily="34" charset="-122"/>
              </a:rPr>
              <a:t>Lab2</a:t>
            </a:r>
            <a:endParaRPr lang="zh-CN" altLang="en-US" sz="85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B357DE83-CA6A-D803-40FC-45A7FCE0A1AD}"/>
              </a:ext>
            </a:extLst>
          </p:cNvPr>
          <p:cNvSpPr/>
          <p:nvPr/>
        </p:nvSpPr>
        <p:spPr>
          <a:xfrm>
            <a:off x="3492500" y="3784600"/>
            <a:ext cx="2794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04F90D9-738D-C4F9-496F-08D119C6C8CF}"/>
              </a:ext>
            </a:extLst>
          </p:cNvPr>
          <p:cNvSpPr txBox="1"/>
          <p:nvPr/>
        </p:nvSpPr>
        <p:spPr>
          <a:xfrm>
            <a:off x="3543300" y="3911600"/>
            <a:ext cx="2692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进程状态观察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D997D452-92F3-CC0C-2C0C-B5DFB329AD01}"/>
              </a:ext>
            </a:extLst>
          </p:cNvPr>
          <p:cNvSpPr/>
          <p:nvPr/>
        </p:nvSpPr>
        <p:spPr>
          <a:xfrm>
            <a:off x="6413500" y="3784600"/>
            <a:ext cx="35814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875BEC22-5400-87E4-28F5-93DB15D6A51F}"/>
              </a:ext>
            </a:extLst>
          </p:cNvPr>
          <p:cNvSpPr txBox="1"/>
          <p:nvPr/>
        </p:nvSpPr>
        <p:spPr>
          <a:xfrm>
            <a:off x="6464300" y="3911600"/>
            <a:ext cx="34798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pstate / pcount / pchildtest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9C0021AE-CA5F-0D79-0673-5F74505813DE}"/>
              </a:ext>
            </a:extLst>
          </p:cNvPr>
          <p:cNvSpPr/>
          <p:nvPr/>
        </p:nvSpPr>
        <p:spPr>
          <a:xfrm>
            <a:off x="2095500" y="4330700"/>
            <a:ext cx="1270000" cy="457200"/>
          </a:xfrm>
          <a:prstGeom prst="roundRect">
            <a:avLst/>
          </a:prstGeom>
          <a:solidFill>
            <a:srgbClr val="0E3D5D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CBCE64C-B9A8-8D5B-D267-900EBA615582}"/>
              </a:ext>
            </a:extLst>
          </p:cNvPr>
          <p:cNvSpPr txBox="1"/>
          <p:nvPr/>
        </p:nvSpPr>
        <p:spPr>
          <a:xfrm>
            <a:off x="2146300" y="4457700"/>
            <a:ext cx="1168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FFFFFF"/>
                </a:solidFill>
                <a:latin typeface="Microsoft YaHei" panose="020B0503020204020204" pitchFamily="34" charset="-122"/>
              </a:rPr>
              <a:t>Lab3</a:t>
            </a:r>
            <a:endParaRPr lang="zh-CN" altLang="en-US" sz="85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31A3BFDD-F929-C0B1-5B25-E1737479C509}"/>
              </a:ext>
            </a:extLst>
          </p:cNvPr>
          <p:cNvSpPr/>
          <p:nvPr/>
        </p:nvSpPr>
        <p:spPr>
          <a:xfrm>
            <a:off x="3492500" y="4330700"/>
            <a:ext cx="2794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07839D99-DEDF-2744-6FCF-E33CD77F29C9}"/>
              </a:ext>
            </a:extLst>
          </p:cNvPr>
          <p:cNvSpPr txBox="1"/>
          <p:nvPr/>
        </p:nvSpPr>
        <p:spPr>
          <a:xfrm>
            <a:off x="3543300" y="4457700"/>
            <a:ext cx="2692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页表与 </a:t>
            </a:r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copyout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FC52EC91-1B06-7F86-D526-3FE763BED032}"/>
              </a:ext>
            </a:extLst>
          </p:cNvPr>
          <p:cNvSpPr/>
          <p:nvPr/>
        </p:nvSpPr>
        <p:spPr>
          <a:xfrm>
            <a:off x="6413500" y="4330700"/>
            <a:ext cx="35814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666ED15-E185-8DBF-93AB-30B90815AAE9}"/>
              </a:ext>
            </a:extLst>
          </p:cNvPr>
          <p:cNvSpPr txBox="1"/>
          <p:nvPr/>
        </p:nvSpPr>
        <p:spPr>
          <a:xfrm>
            <a:off x="6464300" y="4457700"/>
            <a:ext cx="34798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pgcount / memstat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141B9242-1C60-BFEE-95B8-739F248F42FE}"/>
              </a:ext>
            </a:extLst>
          </p:cNvPr>
          <p:cNvSpPr/>
          <p:nvPr/>
        </p:nvSpPr>
        <p:spPr>
          <a:xfrm>
            <a:off x="2095500" y="4876800"/>
            <a:ext cx="1270000" cy="457200"/>
          </a:xfrm>
          <a:prstGeom prst="roundRect">
            <a:avLst/>
          </a:prstGeom>
          <a:solidFill>
            <a:srgbClr val="0E3D5D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8AF5787-76EE-5AEE-66AB-698B2D265FA2}"/>
              </a:ext>
            </a:extLst>
          </p:cNvPr>
          <p:cNvSpPr txBox="1"/>
          <p:nvPr/>
        </p:nvSpPr>
        <p:spPr>
          <a:xfrm>
            <a:off x="2146300" y="5003800"/>
            <a:ext cx="1168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FFFFFF"/>
                </a:solidFill>
                <a:latin typeface="Microsoft YaHei" panose="020B0503020204020204" pitchFamily="34" charset="-122"/>
              </a:rPr>
              <a:t>Lab4</a:t>
            </a:r>
            <a:endParaRPr lang="zh-CN" altLang="en-US" sz="85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E7E4088-EB2A-A5CB-3308-A2A93547F7E3}"/>
              </a:ext>
            </a:extLst>
          </p:cNvPr>
          <p:cNvSpPr/>
          <p:nvPr/>
        </p:nvSpPr>
        <p:spPr>
          <a:xfrm>
            <a:off x="3492500" y="4876800"/>
            <a:ext cx="2794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1BC1972C-6F75-FC2A-3250-B8A4A61FF09B}"/>
              </a:ext>
            </a:extLst>
          </p:cNvPr>
          <p:cNvSpPr txBox="1"/>
          <p:nvPr/>
        </p:nvSpPr>
        <p:spPr>
          <a:xfrm>
            <a:off x="3543300" y="5003800"/>
            <a:ext cx="2692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fd </a:t>
            </a:r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与 </a:t>
            </a:r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file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5C12E5DC-B65B-64A6-0433-22BF7D97B34E}"/>
              </a:ext>
            </a:extLst>
          </p:cNvPr>
          <p:cNvSpPr/>
          <p:nvPr/>
        </p:nvSpPr>
        <p:spPr>
          <a:xfrm>
            <a:off x="6413500" y="4876800"/>
            <a:ext cx="35814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7DF6A811-FD5D-164A-BFF1-432A9D5CC7BC}"/>
              </a:ext>
            </a:extLst>
          </p:cNvPr>
          <p:cNvSpPr txBox="1"/>
          <p:nvPr/>
        </p:nvSpPr>
        <p:spPr>
          <a:xfrm>
            <a:off x="6464300" y="5003800"/>
            <a:ext cx="34798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fcount / fdcount / fdinfo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40E94B7E-F5F9-540F-2838-65522E3915F9}"/>
              </a:ext>
            </a:extLst>
          </p:cNvPr>
          <p:cNvSpPr/>
          <p:nvPr/>
        </p:nvSpPr>
        <p:spPr>
          <a:xfrm>
            <a:off x="2095500" y="5422900"/>
            <a:ext cx="1270000" cy="457200"/>
          </a:xfrm>
          <a:prstGeom prst="roundRect">
            <a:avLst/>
          </a:prstGeom>
          <a:solidFill>
            <a:srgbClr val="7CE8F2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5B730A0-408F-66BC-2AE1-198667697BC3}"/>
              </a:ext>
            </a:extLst>
          </p:cNvPr>
          <p:cNvSpPr txBox="1"/>
          <p:nvPr/>
        </p:nvSpPr>
        <p:spPr>
          <a:xfrm>
            <a:off x="2146300" y="5549900"/>
            <a:ext cx="1168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Lab5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2C53A651-5D6A-3AB9-919A-CEDD5DB2731D}"/>
              </a:ext>
            </a:extLst>
          </p:cNvPr>
          <p:cNvSpPr/>
          <p:nvPr/>
        </p:nvSpPr>
        <p:spPr>
          <a:xfrm>
            <a:off x="3492500" y="5422900"/>
            <a:ext cx="2794000" cy="457200"/>
          </a:xfrm>
          <a:prstGeom prst="roundRect">
            <a:avLst/>
          </a:prstGeom>
          <a:solidFill>
            <a:srgbClr val="7CE8F2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C1ED720-75D1-A478-8127-1DDA56DF0DB1}"/>
              </a:ext>
            </a:extLst>
          </p:cNvPr>
          <p:cNvSpPr txBox="1"/>
          <p:nvPr/>
        </p:nvSpPr>
        <p:spPr>
          <a:xfrm>
            <a:off x="3543300" y="5549900"/>
            <a:ext cx="2692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综合复现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50E3BE7D-1080-5271-F873-5A83EA91DFB9}"/>
              </a:ext>
            </a:extLst>
          </p:cNvPr>
          <p:cNvSpPr/>
          <p:nvPr/>
        </p:nvSpPr>
        <p:spPr>
          <a:xfrm>
            <a:off x="6413500" y="5422900"/>
            <a:ext cx="3581400" cy="457200"/>
          </a:xfrm>
          <a:prstGeom prst="roundRect">
            <a:avLst/>
          </a:prstGeom>
          <a:solidFill>
            <a:srgbClr val="7CE8F2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B5F9ED5-21F4-FBE7-6C52-5F413C3C14DB}"/>
              </a:ext>
            </a:extLst>
          </p:cNvPr>
          <p:cNvSpPr txBox="1"/>
          <p:nvPr/>
        </p:nvSpPr>
        <p:spPr>
          <a:xfrm>
            <a:off x="6464300" y="5549900"/>
            <a:ext cx="34798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全量验证</a:t>
            </a:r>
          </a:p>
        </p:txBody>
      </p:sp>
    </p:spTree>
    <p:extLst>
      <p:ext uri="{BB962C8B-B14F-4D97-AF65-F5344CB8AC3E}">
        <p14:creationId xmlns:p14="http://schemas.microsoft.com/office/powerpoint/2010/main" val="3179467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9E41E8F-ABB6-CCEF-AAC2-7282C421BD8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A208C56-547F-CDA0-740F-6D074E24EEA6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6383075-D1F5-1524-ED95-FA109B9D1005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316E935-2B85-F3C4-742F-2DF574CBDDD7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Lab1/2</a:t>
            </a:r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：先走通内核入口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A0A8B90-58D1-8481-E440-939309339128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07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48C7C75-FE0F-E6A0-CEB9-07D284A8D08C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Lab1/2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让学生从最小系统调用进入内核，再观察进程表和调度带来的非固定输出。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7C36DF3-AD1D-932B-7BF5-01AF6E73820E}"/>
              </a:ext>
            </a:extLst>
          </p:cNvPr>
          <p:cNvSpPr/>
          <p:nvPr/>
        </p:nvSpPr>
        <p:spPr>
          <a:xfrm>
            <a:off x="2133600" y="2209800"/>
            <a:ext cx="1117600" cy="533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用户程序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27C6E2E-34CB-33B6-F1DF-984ACFFF3AEA}"/>
              </a:ext>
            </a:extLst>
          </p:cNvPr>
          <p:cNvSpPr txBox="1"/>
          <p:nvPr/>
        </p:nvSpPr>
        <p:spPr>
          <a:xfrm>
            <a:off x="3276600" y="23241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1C6DD0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1C6DD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35B38A3-12B5-D747-8541-0A5B4567ABEA}"/>
              </a:ext>
            </a:extLst>
          </p:cNvPr>
          <p:cNvSpPr/>
          <p:nvPr/>
        </p:nvSpPr>
        <p:spPr>
          <a:xfrm>
            <a:off x="3556000" y="2209800"/>
            <a:ext cx="1117600" cy="5334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usys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247E00F-E785-7761-6329-64D6252907E0}"/>
              </a:ext>
            </a:extLst>
          </p:cNvPr>
          <p:cNvSpPr txBox="1"/>
          <p:nvPr/>
        </p:nvSpPr>
        <p:spPr>
          <a:xfrm>
            <a:off x="4699000" y="23241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1C6DD0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1C6DD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14935513-27C5-B5FC-9F9C-E031F015393E}"/>
              </a:ext>
            </a:extLst>
          </p:cNvPr>
          <p:cNvSpPr/>
          <p:nvPr/>
        </p:nvSpPr>
        <p:spPr>
          <a:xfrm>
            <a:off x="4978400" y="2209800"/>
            <a:ext cx="1117600" cy="5334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syscall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F9D3A6C-208D-E470-2BB8-43E7CE080B7C}"/>
              </a:ext>
            </a:extLst>
          </p:cNvPr>
          <p:cNvSpPr txBox="1"/>
          <p:nvPr/>
        </p:nvSpPr>
        <p:spPr>
          <a:xfrm>
            <a:off x="6121400" y="23241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1C6DD0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1C6DD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18BB67D3-5151-A4AC-2D50-EC0537FDFE9A}"/>
              </a:ext>
            </a:extLst>
          </p:cNvPr>
          <p:cNvSpPr/>
          <p:nvPr/>
        </p:nvSpPr>
        <p:spPr>
          <a:xfrm>
            <a:off x="6400800" y="2209800"/>
            <a:ext cx="1117600" cy="5334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sys_*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5EC134B-87EF-1753-AADF-E9640690BA82}"/>
              </a:ext>
            </a:extLst>
          </p:cNvPr>
          <p:cNvSpPr txBox="1"/>
          <p:nvPr/>
        </p:nvSpPr>
        <p:spPr>
          <a:xfrm>
            <a:off x="7543800" y="23241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1C6DD0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1C6DD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DD85CBB7-B92F-7A76-BA69-E58A56724307}"/>
              </a:ext>
            </a:extLst>
          </p:cNvPr>
          <p:cNvSpPr/>
          <p:nvPr/>
        </p:nvSpPr>
        <p:spPr>
          <a:xfrm>
            <a:off x="7823200" y="2209800"/>
            <a:ext cx="1117600" cy="5334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kernel helper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47AC1C18-8696-2901-576E-CF813A16483C}"/>
              </a:ext>
            </a:extLst>
          </p:cNvPr>
          <p:cNvSpPr/>
          <p:nvPr/>
        </p:nvSpPr>
        <p:spPr>
          <a:xfrm>
            <a:off x="2921000" y="3810000"/>
            <a:ext cx="2032000" cy="482600"/>
          </a:xfrm>
          <a:prstGeom prst="roundRect">
            <a:avLst/>
          </a:prstGeom>
          <a:solidFill>
            <a:srgbClr val="0E3D5D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FFFFFF"/>
                </a:solidFill>
                <a:latin typeface="Microsoft YaHei" panose="020B0503020204020204" pitchFamily="34" charset="-122"/>
              </a:rPr>
              <a:t>进程表快照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C6F9F8FE-20C6-BA22-AB8A-0A36DC87798A}"/>
              </a:ext>
            </a:extLst>
          </p:cNvPr>
          <p:cNvSpPr/>
          <p:nvPr/>
        </p:nvSpPr>
        <p:spPr>
          <a:xfrm>
            <a:off x="2667000" y="4445000"/>
            <a:ext cx="2540000" cy="7366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pstate / pcount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：进程状态观察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4A57B77-7C62-D5F8-2D67-145BACB6078A}"/>
              </a:ext>
            </a:extLst>
          </p:cNvPr>
          <p:cNvSpPr/>
          <p:nvPr/>
        </p:nvSpPr>
        <p:spPr>
          <a:xfrm>
            <a:off x="6604000" y="3962400"/>
            <a:ext cx="2667000" cy="889000"/>
          </a:xfrm>
          <a:prstGeom prst="roundRect">
            <a:avLst/>
          </a:prstGeom>
          <a:solidFill>
            <a:srgbClr val="7CE8F2"/>
          </a:solidFill>
          <a:ln w="13970">
            <a:solidFill>
              <a:srgbClr val="7CE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状态受调度影响</a:t>
            </a:r>
          </a:p>
        </p:txBody>
      </p:sp>
    </p:spTree>
    <p:extLst>
      <p:ext uri="{BB962C8B-B14F-4D97-AF65-F5344CB8AC3E}">
        <p14:creationId xmlns:p14="http://schemas.microsoft.com/office/powerpoint/2010/main" val="1539363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3128404-9D0B-11ED-2162-FE88131DC26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44E3CD1-5F90-9F79-7E39-91EA36812344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157A91-406F-4C53-BA8B-F7C72FA4E853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801A77-524B-D858-1343-FE8CAB0EA3A2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Lab3</a:t>
            </a:r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：页表与 </a:t>
            </a:r>
            <a:r>
              <a:rPr lang="en-US" altLang="zh-CN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copyout</a:t>
            </a:r>
            <a:endParaRPr lang="zh-CN" altLang="en-US" sz="26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1EFEC95-1BE6-B5E7-5B9E-D22FBAE85274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08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35A66AA-63BB-D558-0566-115FF11D72BD}"/>
              </a:ext>
            </a:extLst>
          </p:cNvPr>
          <p:cNvSpPr txBox="1"/>
          <p:nvPr/>
        </p:nvSpPr>
        <p:spPr>
          <a:xfrm>
            <a:off x="685800" y="1092200"/>
            <a:ext cx="774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Lab3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通过 </a:t>
            </a:r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pgcount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和 </a:t>
            </a:r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memstat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区分“地址空间增长”和“真实用户页映射”。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AEB756F-1ED2-06CC-E5C2-F5B4D64B9AEB}"/>
              </a:ext>
            </a:extLst>
          </p:cNvPr>
          <p:cNvSpPr/>
          <p:nvPr/>
        </p:nvSpPr>
        <p:spPr>
          <a:xfrm>
            <a:off x="1143000" y="2159000"/>
            <a:ext cx="2095500" cy="4318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eager sbrk</a:t>
            </a:r>
            <a:endParaRPr lang="zh-CN" altLang="en-US" sz="14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516A111-1FBB-D08B-BDDD-E9D82ABB81EC}"/>
              </a:ext>
            </a:extLst>
          </p:cNvPr>
          <p:cNvSpPr/>
          <p:nvPr/>
        </p:nvSpPr>
        <p:spPr>
          <a:xfrm>
            <a:off x="1219200" y="2819400"/>
            <a:ext cx="1905000" cy="8890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立即映射 </a:t>
            </a:r>
            <a:r>
              <a:rPr lang="en-US" altLang="zh-CN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2 </a:t>
            </a:r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页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B67A4C8-3077-F982-2E65-A0B0AAC6BF8A}"/>
              </a:ext>
            </a:extLst>
          </p:cNvPr>
          <p:cNvSpPr/>
          <p:nvPr/>
        </p:nvSpPr>
        <p:spPr>
          <a:xfrm>
            <a:off x="4191000" y="2159000"/>
            <a:ext cx="2095500" cy="4318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lazy sbrklazy</a:t>
            </a:r>
            <a:endParaRPr lang="zh-CN" altLang="en-US" sz="14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010B670-CAE2-049D-13FF-00ED38795A7B}"/>
              </a:ext>
            </a:extLst>
          </p:cNvPr>
          <p:cNvSpPr/>
          <p:nvPr/>
        </p:nvSpPr>
        <p:spPr>
          <a:xfrm>
            <a:off x="4292600" y="2819400"/>
            <a:ext cx="1905000" cy="571500"/>
          </a:xfrm>
          <a:prstGeom prst="roundRect">
            <a:avLst/>
          </a:prstGeom>
          <a:solidFill>
            <a:srgbClr val="0E3D5D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touch </a:t>
            </a:r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前 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0</a:t>
            </a:r>
            <a:endParaRPr lang="zh-CN" altLang="en-US" sz="12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BCDFD363-F14C-A34C-C505-E98192576B71}"/>
              </a:ext>
            </a:extLst>
          </p:cNvPr>
          <p:cNvSpPr/>
          <p:nvPr/>
        </p:nvSpPr>
        <p:spPr>
          <a:xfrm>
            <a:off x="4292600" y="3606800"/>
            <a:ext cx="1905000" cy="762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touch </a:t>
            </a:r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后 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1 / 2</a:t>
            </a:r>
            <a:endParaRPr lang="zh-CN" altLang="en-US" sz="12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B247C2D-9A1B-1614-0CD5-09F872E15FC8}"/>
              </a:ext>
            </a:extLst>
          </p:cNvPr>
          <p:cNvSpPr/>
          <p:nvPr/>
        </p:nvSpPr>
        <p:spPr>
          <a:xfrm>
            <a:off x="7302500" y="3098800"/>
            <a:ext cx="990600" cy="5588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000" b="1">
                <a:solidFill>
                  <a:srgbClr val="EEF8FC"/>
                </a:solidFill>
                <a:latin typeface="Microsoft YaHei" panose="020B0503020204020204" pitchFamily="34" charset="-122"/>
              </a:rPr>
              <a:t>argaddr</a:t>
            </a:r>
            <a:endParaRPr lang="zh-CN" altLang="en-US" sz="1000" b="1">
              <a:solidFill>
                <a:srgbClr val="EEF8FC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355ADB9-C8C5-853F-3D99-E6D72E90CD31}"/>
              </a:ext>
            </a:extLst>
          </p:cNvPr>
          <p:cNvSpPr txBox="1"/>
          <p:nvPr/>
        </p:nvSpPr>
        <p:spPr>
          <a:xfrm>
            <a:off x="8318500" y="3200400"/>
            <a:ext cx="25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600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sz="16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7C45DD54-DBC3-70D5-AA98-6962F2AB8274}"/>
              </a:ext>
            </a:extLst>
          </p:cNvPr>
          <p:cNvSpPr/>
          <p:nvPr/>
        </p:nvSpPr>
        <p:spPr>
          <a:xfrm>
            <a:off x="8521700" y="3098800"/>
            <a:ext cx="990600" cy="5588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000" b="1">
                <a:solidFill>
                  <a:srgbClr val="EEF8FC"/>
                </a:solidFill>
                <a:latin typeface="Microsoft YaHei" panose="020B0503020204020204" pitchFamily="34" charset="-122"/>
              </a:rPr>
              <a:t>copyout</a:t>
            </a:r>
            <a:endParaRPr lang="zh-CN" altLang="en-US" sz="1000" b="1">
              <a:solidFill>
                <a:srgbClr val="EEF8FC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DAAE7A9-A9AF-DDA1-E4FA-4DDD3A1B2EB8}"/>
              </a:ext>
            </a:extLst>
          </p:cNvPr>
          <p:cNvSpPr txBox="1"/>
          <p:nvPr/>
        </p:nvSpPr>
        <p:spPr>
          <a:xfrm>
            <a:off x="9537700" y="3200400"/>
            <a:ext cx="25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600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sz="16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16156001-A597-5230-D4A0-2959BA870364}"/>
              </a:ext>
            </a:extLst>
          </p:cNvPr>
          <p:cNvSpPr/>
          <p:nvPr/>
        </p:nvSpPr>
        <p:spPr>
          <a:xfrm>
            <a:off x="9740900" y="3098800"/>
            <a:ext cx="990600" cy="5588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000" b="1">
                <a:solidFill>
                  <a:srgbClr val="09243D"/>
                </a:solidFill>
                <a:latin typeface="Microsoft YaHei" panose="020B0503020204020204" pitchFamily="34" charset="-122"/>
              </a:rPr>
              <a:t>struct memstat</a:t>
            </a:r>
            <a:endParaRPr lang="zh-CN" altLang="en-US" sz="10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E69A4709-A634-9689-BA99-3CDD4F7CD5D0}"/>
              </a:ext>
            </a:extLst>
          </p:cNvPr>
          <p:cNvSpPr/>
          <p:nvPr/>
        </p:nvSpPr>
        <p:spPr>
          <a:xfrm>
            <a:off x="2133600" y="5207000"/>
            <a:ext cx="6604000" cy="5842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200" b="1">
                <a:solidFill>
                  <a:srgbClr val="EEF8FC"/>
                </a:solidFill>
                <a:latin typeface="Microsoft YaHei" panose="020B0503020204020204" pitchFamily="34" charset="-122"/>
              </a:rPr>
              <a:t>边界：这是页表观察，不是完整内存管理</a:t>
            </a:r>
          </a:p>
        </p:txBody>
      </p:sp>
    </p:spTree>
    <p:extLst>
      <p:ext uri="{BB962C8B-B14F-4D97-AF65-F5344CB8AC3E}">
        <p14:creationId xmlns:p14="http://schemas.microsoft.com/office/powerpoint/2010/main" val="2801204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78A380B-528C-7509-3887-6566161DBD1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C0B03A2-3D6A-A1B0-203E-75550E4D91EA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C574FED-F390-6DCA-4D70-036FC86B519B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486CAA3-8658-0C4C-1EEB-8703FCC375C9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Lab4</a:t>
            </a:r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：</a:t>
            </a:r>
            <a:r>
              <a:rPr lang="en-US" altLang="zh-CN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fd </a:t>
            </a:r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与 </a:t>
            </a:r>
            <a:r>
              <a:rPr lang="en-US" altLang="zh-CN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file </a:t>
            </a:r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的关系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3EB2FDE-3494-DFCD-FAD4-2D2CDC70E6C0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09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F27A977-D766-2EE4-9DBA-B49656D8B636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Lab4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把当前进程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fd table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和全局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file table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拆开观察，避免把文件系统讲成黑盒。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26C20024-99EF-0AA3-EC63-0A67B8CCAD35}"/>
              </a:ext>
            </a:extLst>
          </p:cNvPr>
          <p:cNvSpPr/>
          <p:nvPr/>
        </p:nvSpPr>
        <p:spPr>
          <a:xfrm>
            <a:off x="2413000" y="2603500"/>
            <a:ext cx="1905000" cy="1143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</a:rPr>
              <a:t>当前进程 </a:t>
            </a:r>
            <a:r>
              <a:rPr lang="en-US" altLang="zh-CN" sz="1300" b="1">
                <a:solidFill>
                  <a:srgbClr val="FFFFFF"/>
                </a:solidFill>
                <a:latin typeface="Microsoft YaHei" panose="020B0503020204020204" pitchFamily="34" charset="-122"/>
              </a:rPr>
              <a:t>ofile[]</a:t>
            </a:r>
          </a:p>
          <a:p>
            <a:pPr algn="ctr"/>
            <a:r>
              <a:rPr lang="en-US" altLang="zh-CN" sz="1300" b="1">
                <a:solidFill>
                  <a:srgbClr val="FFFFFF"/>
                </a:solidFill>
                <a:latin typeface="Microsoft YaHei" panose="020B0503020204020204" pitchFamily="34" charset="-122"/>
              </a:rPr>
              <a:t>fd 0 / 1 / 2 / 3</a:t>
            </a:r>
            <a:endParaRPr lang="zh-CN" altLang="en-US" sz="13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5BCD5EA-5F03-A6C4-497D-A1A61B12DA72}"/>
              </a:ext>
            </a:extLst>
          </p:cNvPr>
          <p:cNvSpPr txBox="1"/>
          <p:nvPr/>
        </p:nvSpPr>
        <p:spPr>
          <a:xfrm>
            <a:off x="4572000" y="2921000"/>
            <a:ext cx="38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2400" b="1">
                <a:solidFill>
                  <a:srgbClr val="1C6DD0"/>
                </a:solidFill>
                <a:latin typeface="Microsoft YaHei" panose="020B0503020204020204" pitchFamily="34" charset="-122"/>
              </a:rPr>
              <a:t>&gt;</a:t>
            </a:r>
            <a:endParaRPr lang="zh-CN" altLang="en-US" sz="2400" b="1">
              <a:solidFill>
                <a:srgbClr val="1C6DD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1175DAB-FD40-F641-0F33-728B0DD996DC}"/>
              </a:ext>
            </a:extLst>
          </p:cNvPr>
          <p:cNvSpPr/>
          <p:nvPr/>
        </p:nvSpPr>
        <p:spPr>
          <a:xfrm>
            <a:off x="5207000" y="2603500"/>
            <a:ext cx="1905000" cy="11430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struct file</a:t>
            </a:r>
            <a:endParaRPr lang="zh-CN" altLang="en-US" sz="15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A5CFCC1-65F7-73E5-A593-117BE6FE0505}"/>
              </a:ext>
            </a:extLst>
          </p:cNvPr>
          <p:cNvSpPr txBox="1"/>
          <p:nvPr/>
        </p:nvSpPr>
        <p:spPr>
          <a:xfrm>
            <a:off x="7366000" y="2921000"/>
            <a:ext cx="38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2400" b="1">
                <a:solidFill>
                  <a:srgbClr val="1C6DD0"/>
                </a:solidFill>
                <a:latin typeface="Microsoft YaHei" panose="020B0503020204020204" pitchFamily="34" charset="-122"/>
              </a:rPr>
              <a:t>&gt;</a:t>
            </a:r>
            <a:endParaRPr lang="zh-CN" altLang="en-US" sz="2400" b="1">
              <a:solidFill>
                <a:srgbClr val="1C6DD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5227D62B-D50C-EC07-BBB1-E61CF096EE51}"/>
              </a:ext>
            </a:extLst>
          </p:cNvPr>
          <p:cNvSpPr/>
          <p:nvPr/>
        </p:nvSpPr>
        <p:spPr>
          <a:xfrm>
            <a:off x="7975600" y="2603500"/>
            <a:ext cx="2159000" cy="11430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全局 </a:t>
            </a:r>
            <a:r>
              <a:rPr lang="en-US" altLang="zh-CN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file table</a:t>
            </a:r>
            <a:endParaRPr lang="zh-CN" altLang="en-US" sz="15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EFC6357-9EB1-3C85-FE6A-16F0142C4609}"/>
              </a:ext>
            </a:extLst>
          </p:cNvPr>
          <p:cNvSpPr/>
          <p:nvPr/>
        </p:nvSpPr>
        <p:spPr>
          <a:xfrm>
            <a:off x="2895600" y="4445000"/>
            <a:ext cx="2099733" cy="7366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fcount</a:t>
            </a:r>
            <a:endParaRPr lang="zh-CN" altLang="en-US" sz="13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FE727FBA-01BE-CFF1-B204-1A0F2C78437F}"/>
              </a:ext>
            </a:extLst>
          </p:cNvPr>
          <p:cNvSpPr/>
          <p:nvPr/>
        </p:nvSpPr>
        <p:spPr>
          <a:xfrm>
            <a:off x="5147733" y="4445000"/>
            <a:ext cx="2099734" cy="7366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fdcount</a:t>
            </a:r>
            <a:endParaRPr lang="zh-CN" altLang="en-US" sz="13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D0034CA-65F3-C25E-9F0B-76AF3F1D51D9}"/>
              </a:ext>
            </a:extLst>
          </p:cNvPr>
          <p:cNvSpPr/>
          <p:nvPr/>
        </p:nvSpPr>
        <p:spPr>
          <a:xfrm>
            <a:off x="7399867" y="4445000"/>
            <a:ext cx="2099733" cy="736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fdinfo</a:t>
            </a:r>
            <a:endParaRPr lang="zh-CN" altLang="en-US" sz="13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5F224039-9340-EB87-3BA9-E506C3EA151A}"/>
              </a:ext>
            </a:extLst>
          </p:cNvPr>
          <p:cNvSpPr/>
          <p:nvPr/>
        </p:nvSpPr>
        <p:spPr>
          <a:xfrm>
            <a:off x="2984500" y="5562600"/>
            <a:ext cx="6350000" cy="533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边界：这是文件表观察，不是完整文件系统</a:t>
            </a:r>
          </a:p>
        </p:txBody>
      </p:sp>
    </p:spTree>
    <p:extLst>
      <p:ext uri="{BB962C8B-B14F-4D97-AF65-F5344CB8AC3E}">
        <p14:creationId xmlns:p14="http://schemas.microsoft.com/office/powerpoint/2010/main" val="16246674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AAC5742-7CF6-E0DB-DE81-7B599FBCA3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849D4F-C836-3029-99E1-30C608474529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61881B-959E-8E03-DEFC-1C4D862F8882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49AEE9A-296F-FCA1-102B-7EC6B1F20A11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Lab5</a:t>
            </a:r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：把实验变成验收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A424A29-C4B0-DAF3-AF89-2AC611D36E72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10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E948816-A991-B31E-0225-56E02A5C14B5}"/>
              </a:ext>
            </a:extLst>
          </p:cNvPr>
          <p:cNvSpPr txBox="1"/>
          <p:nvPr/>
        </p:nvSpPr>
        <p:spPr>
          <a:xfrm>
            <a:off x="685800" y="1092200"/>
            <a:ext cx="774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Lab5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不新增内核机制，而是把 </a:t>
            </a:r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Lab0-Lab4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串成一次完整的干净基线到全量验证。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BAB074E6-0A2D-5AC7-0904-80B41408FD4D}"/>
              </a:ext>
            </a:extLst>
          </p:cNvPr>
          <p:cNvSpPr/>
          <p:nvPr/>
        </p:nvSpPr>
        <p:spPr>
          <a:xfrm>
            <a:off x="1524000" y="1955800"/>
            <a:ext cx="2921000" cy="381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干净基线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B182556-58D7-15CD-F71A-8F428666F468}"/>
              </a:ext>
            </a:extLst>
          </p:cNvPr>
          <p:cNvSpPr/>
          <p:nvPr/>
        </p:nvSpPr>
        <p:spPr>
          <a:xfrm>
            <a:off x="1524000" y="2501900"/>
            <a:ext cx="2921000" cy="381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应用 </a:t>
            </a:r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0001-0009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71DC1B-821B-1374-437A-1BE74492D399}"/>
              </a:ext>
            </a:extLst>
          </p:cNvPr>
          <p:cNvSpPr/>
          <p:nvPr/>
        </p:nvSpPr>
        <p:spPr>
          <a:xfrm>
            <a:off x="1524000" y="3048000"/>
            <a:ext cx="2921000" cy="381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make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2889872F-083D-756D-9F92-AFBF0C05BD8E}"/>
              </a:ext>
            </a:extLst>
          </p:cNvPr>
          <p:cNvSpPr/>
          <p:nvPr/>
        </p:nvSpPr>
        <p:spPr>
          <a:xfrm>
            <a:off x="1524000" y="3594100"/>
            <a:ext cx="2921000" cy="381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boot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2F2E1413-9662-6B44-1AF2-7DB0885AA981}"/>
              </a:ext>
            </a:extLst>
          </p:cNvPr>
          <p:cNvSpPr/>
          <p:nvPr/>
        </p:nvSpPr>
        <p:spPr>
          <a:xfrm>
            <a:off x="1524000" y="4140200"/>
            <a:ext cx="2921000" cy="3810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测试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6F5E2E1F-E1FE-5A2A-4A69-F340A2F2ACA4}"/>
              </a:ext>
            </a:extLst>
          </p:cNvPr>
          <p:cNvSpPr/>
          <p:nvPr/>
        </p:nvSpPr>
        <p:spPr>
          <a:xfrm>
            <a:off x="1524000" y="4686300"/>
            <a:ext cx="2921000" cy="381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摘要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EA058F14-58DA-8A6B-3D41-1147B7E83314}"/>
              </a:ext>
            </a:extLst>
          </p:cNvPr>
          <p:cNvSpPr/>
          <p:nvPr/>
        </p:nvSpPr>
        <p:spPr>
          <a:xfrm>
            <a:off x="1524000" y="5232400"/>
            <a:ext cx="2921000" cy="3810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报告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85F0BA75-3CBA-83AF-6618-A6D0200D49FA}"/>
              </a:ext>
            </a:extLst>
          </p:cNvPr>
          <p:cNvSpPr/>
          <p:nvPr/>
        </p:nvSpPr>
        <p:spPr>
          <a:xfrm>
            <a:off x="6858000" y="3111500"/>
            <a:ext cx="2540000" cy="1206500"/>
          </a:xfrm>
          <a:prstGeom prst="roundRect">
            <a:avLst/>
          </a:prstGeom>
          <a:solidFill>
            <a:srgbClr val="F5B84B"/>
          </a:solidFill>
          <a:ln w="13970">
            <a:solidFill>
              <a:srgbClr val="F5B8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b="1">
                <a:solidFill>
                  <a:srgbClr val="09243D"/>
                </a:solidFill>
                <a:latin typeface="Microsoft YaHei" panose="020B0503020204020204" pitchFamily="34" charset="-122"/>
              </a:rPr>
              <a:t>Lab5 = </a:t>
            </a:r>
            <a:r>
              <a:rPr lang="zh-CN" altLang="en-US" b="1">
                <a:solidFill>
                  <a:srgbClr val="09243D"/>
                </a:solidFill>
                <a:latin typeface="Microsoft YaHei" panose="020B0503020204020204" pitchFamily="34" charset="-122"/>
              </a:rPr>
              <a:t>综合复现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BC9CD9E7-EC4E-4CAB-7812-B2488BDBD7FA}"/>
              </a:ext>
            </a:extLst>
          </p:cNvPr>
          <p:cNvSpPr/>
          <p:nvPr/>
        </p:nvSpPr>
        <p:spPr>
          <a:xfrm>
            <a:off x="6426200" y="4648200"/>
            <a:ext cx="3556000" cy="10160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r>
              <a:rPr lang="en-US" altLang="zh-CN" sz="1100">
                <a:solidFill>
                  <a:srgbClr val="EEF8FC"/>
                </a:solidFill>
                <a:latin typeface="Microsoft YaHei" panose="020B0503020204020204" pitchFamily="34" charset="-122"/>
              </a:rPr>
              <a:t>- </a:t>
            </a:r>
            <a:r>
              <a:rPr lang="zh-CN" altLang="en-US" sz="1100">
                <a:solidFill>
                  <a:srgbClr val="EEF8FC"/>
                </a:solidFill>
                <a:latin typeface="Microsoft YaHei" panose="020B0503020204020204" pitchFamily="34" charset="-122"/>
              </a:rPr>
              <a:t>干净基线</a:t>
            </a:r>
          </a:p>
          <a:p>
            <a:r>
              <a:rPr lang="en-US" altLang="zh-CN" sz="1100">
                <a:solidFill>
                  <a:srgbClr val="EEF8FC"/>
                </a:solidFill>
                <a:latin typeface="Microsoft YaHei" panose="020B0503020204020204" pitchFamily="34" charset="-122"/>
              </a:rPr>
              <a:t>- </a:t>
            </a:r>
            <a:r>
              <a:rPr lang="zh-CN" altLang="en-US" sz="1100">
                <a:solidFill>
                  <a:srgbClr val="EEF8FC"/>
                </a:solidFill>
                <a:latin typeface="Microsoft YaHei" panose="020B0503020204020204" pitchFamily="34" charset="-122"/>
              </a:rPr>
              <a:t>应用集成补丁 </a:t>
            </a:r>
            <a:r>
              <a:rPr lang="en-US" altLang="zh-CN" sz="1100">
                <a:solidFill>
                  <a:srgbClr val="EEF8FC"/>
                </a:solidFill>
                <a:latin typeface="Microsoft YaHei" panose="020B0503020204020204" pitchFamily="34" charset="-122"/>
              </a:rPr>
              <a:t>0001-0009</a:t>
            </a:r>
          </a:p>
          <a:p>
            <a:r>
              <a:rPr lang="en-US" altLang="zh-CN" sz="1100">
                <a:solidFill>
                  <a:srgbClr val="EEF8FC"/>
                </a:solidFill>
                <a:latin typeface="Microsoft YaHei" panose="020B0503020204020204" pitchFamily="34" charset="-122"/>
              </a:rPr>
              <a:t>- make</a:t>
            </a:r>
            <a:endParaRPr lang="zh-CN" altLang="en-US" sz="1100">
              <a:solidFill>
                <a:srgbClr val="EEF8FC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62482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A1725EB-D632-535E-2CE5-791F3669BB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B593799-C29E-4C34-E4F8-67BDDD54CBC7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2B5104A-1289-557D-908F-57570ABC3BCD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465C5B6-5329-0EFA-FA50-DB4C67831010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工具链：从脚本到课程入口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AC7C47C-FA97-0FC7-22B5-B90DD9DDF82A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11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B2FA947-772A-4292-5933-19D2AFD6D3D1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工具链把复杂命令收束成课程入口，同时保留真实日志、摘要和可复核证据。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D8CBE1D1-59F5-9CD5-E0E0-FEB583288575}"/>
              </a:ext>
            </a:extLst>
          </p:cNvPr>
          <p:cNvSpPr/>
          <p:nvPr/>
        </p:nvSpPr>
        <p:spPr>
          <a:xfrm>
            <a:off x="5334000" y="2984500"/>
            <a:ext cx="1841500" cy="8128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2000" b="1">
                <a:solidFill>
                  <a:srgbClr val="09243D"/>
                </a:solidFill>
                <a:latin typeface="Microsoft YaHei" panose="020B0503020204020204" pitchFamily="34" charset="-122"/>
              </a:rPr>
              <a:t>labctl</a:t>
            </a:r>
            <a:endParaRPr lang="zh-CN" altLang="en-US" sz="20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1E8EB87-08BC-8761-8581-BF0B133FF98C}"/>
              </a:ext>
            </a:extLst>
          </p:cNvPr>
          <p:cNvSpPr/>
          <p:nvPr/>
        </p:nvSpPr>
        <p:spPr>
          <a:xfrm>
            <a:off x="2667000" y="1905000"/>
            <a:ext cx="1841500" cy="609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teammate-verify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A5B5C21-F080-290F-5E6F-F56261EA3A86}"/>
              </a:ext>
            </a:extLst>
          </p:cNvPr>
          <p:cNvSpPr/>
          <p:nvPr/>
        </p:nvSpPr>
        <p:spPr>
          <a:xfrm>
            <a:off x="8255000" y="1905000"/>
            <a:ext cx="1841500" cy="609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QEMU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21DB3CC-D22C-1DF7-7DC3-0BCAC6C7EA52}"/>
              </a:ext>
            </a:extLst>
          </p:cNvPr>
          <p:cNvSpPr/>
          <p:nvPr/>
        </p:nvSpPr>
        <p:spPr>
          <a:xfrm>
            <a:off x="2667000" y="4572000"/>
            <a:ext cx="1841500" cy="609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摘要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57DECAF-7A57-842D-8899-01ECCFDE9746}"/>
              </a:ext>
            </a:extLst>
          </p:cNvPr>
          <p:cNvSpPr/>
          <p:nvPr/>
        </p:nvSpPr>
        <p:spPr>
          <a:xfrm>
            <a:off x="8255000" y="4572000"/>
            <a:ext cx="1841500" cy="609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grade-summaries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8FE6869-5F72-563A-54E4-3BCC2C9CDCA2}"/>
              </a:ext>
            </a:extLst>
          </p:cNvPr>
          <p:cNvSpPr/>
          <p:nvPr/>
        </p:nvSpPr>
        <p:spPr>
          <a:xfrm>
            <a:off x="5334000" y="5461000"/>
            <a:ext cx="1841500" cy="609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文档一致性</a:t>
            </a:r>
          </a:p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SHA256 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核验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C863F4E-4AB8-7B65-5F39-0E0A58714BC5}"/>
              </a:ext>
            </a:extLst>
          </p:cNvPr>
          <p:cNvSpPr/>
          <p:nvPr/>
        </p:nvSpPr>
        <p:spPr>
          <a:xfrm>
            <a:off x="5334000" y="1905000"/>
            <a:ext cx="1841500" cy="482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课程入口</a:t>
            </a:r>
          </a:p>
        </p:txBody>
      </p:sp>
    </p:spTree>
    <p:extLst>
      <p:ext uri="{BB962C8B-B14F-4D97-AF65-F5344CB8AC3E}">
        <p14:creationId xmlns:p14="http://schemas.microsoft.com/office/powerpoint/2010/main" val="3938280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2AF162C2-7C46-45E7-6ADF-5805CDDC00C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609B6CC-2F42-A851-A2E3-8CC7764FC869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804F4E2-B45B-7184-63A4-69EEBEDE5DBF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AA7144-7661-02B1-D2A4-43516AACB9F2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三方复现证据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22AFA4F-FEB3-7C24-C23B-69BAEA9914F7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12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E5AE72F-CC39-B5AE-8C13-F9CA23D02B4B}"/>
              </a:ext>
            </a:extLst>
          </p:cNvPr>
          <p:cNvSpPr txBox="1"/>
          <p:nvPr/>
        </p:nvSpPr>
        <p:spPr>
          <a:xfrm>
            <a:off x="685800" y="1092200"/>
            <a:ext cx="774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最终 </a:t>
            </a:r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HEAD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的结果不是单机截图，而是队长和两位队友的全量验证摘要。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9EED204-2B32-9D15-966C-ACB0BFF1363B}"/>
              </a:ext>
            </a:extLst>
          </p:cNvPr>
          <p:cNvSpPr/>
          <p:nvPr/>
        </p:nvSpPr>
        <p:spPr>
          <a:xfrm>
            <a:off x="1397000" y="2286000"/>
            <a:ext cx="2032000" cy="533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b="1">
                <a:solidFill>
                  <a:srgbClr val="09243D"/>
                </a:solidFill>
                <a:latin typeface="Microsoft YaHei" panose="020B0503020204020204" pitchFamily="34" charset="-122"/>
              </a:rPr>
              <a:t>rain</a:t>
            </a:r>
            <a:endParaRPr lang="zh-CN" altLang="en-US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BA7DD8C-D73A-6967-B7DA-083849BBD261}"/>
              </a:ext>
            </a:extLst>
          </p:cNvPr>
          <p:cNvSpPr/>
          <p:nvPr/>
        </p:nvSpPr>
        <p:spPr>
          <a:xfrm>
            <a:off x="1397000" y="2984500"/>
            <a:ext cx="2032000" cy="1117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全量验证通过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28CCA64-CD03-2F88-7E5E-DAA58D23338E}"/>
              </a:ext>
            </a:extLst>
          </p:cNvPr>
          <p:cNvSpPr/>
          <p:nvPr/>
        </p:nvSpPr>
        <p:spPr>
          <a:xfrm>
            <a:off x="4191000" y="2286000"/>
            <a:ext cx="2032000" cy="533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b="1">
                <a:solidFill>
                  <a:srgbClr val="09243D"/>
                </a:solidFill>
                <a:latin typeface="Microsoft YaHei" panose="020B0503020204020204" pitchFamily="34" charset="-122"/>
              </a:rPr>
              <a:t>root</a:t>
            </a:r>
            <a:endParaRPr lang="zh-CN" altLang="en-US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55FD758-6DFC-CD84-6A70-E7E3CB7972DE}"/>
              </a:ext>
            </a:extLst>
          </p:cNvPr>
          <p:cNvSpPr/>
          <p:nvPr/>
        </p:nvSpPr>
        <p:spPr>
          <a:xfrm>
            <a:off x="4191000" y="2984500"/>
            <a:ext cx="2032000" cy="1117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全量验证通过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C96BFCF-9396-1B12-C23A-BBE9E38458E5}"/>
              </a:ext>
            </a:extLst>
          </p:cNvPr>
          <p:cNvSpPr/>
          <p:nvPr/>
        </p:nvSpPr>
        <p:spPr>
          <a:xfrm>
            <a:off x="6985000" y="2286000"/>
            <a:ext cx="2032000" cy="533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b="1">
                <a:solidFill>
                  <a:srgbClr val="09243D"/>
                </a:solidFill>
                <a:latin typeface="Microsoft YaHei" panose="020B0503020204020204" pitchFamily="34" charset="-122"/>
              </a:rPr>
              <a:t>z2996</a:t>
            </a:r>
            <a:endParaRPr lang="zh-CN" altLang="en-US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1237E2B6-CA28-0B19-6BA7-8F05E4BDBF58}"/>
              </a:ext>
            </a:extLst>
          </p:cNvPr>
          <p:cNvSpPr/>
          <p:nvPr/>
        </p:nvSpPr>
        <p:spPr>
          <a:xfrm>
            <a:off x="6985000" y="2984500"/>
            <a:ext cx="2032000" cy="1117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全量验证通过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9EE6FE8F-C177-66BB-E002-BF29DB3B3097}"/>
              </a:ext>
            </a:extLst>
          </p:cNvPr>
          <p:cNvSpPr/>
          <p:nvPr/>
        </p:nvSpPr>
        <p:spPr>
          <a:xfrm>
            <a:off x="2794000" y="4953000"/>
            <a:ext cx="4318000" cy="6858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300" b="1">
                <a:solidFill>
                  <a:srgbClr val="EEF8FC"/>
                </a:solidFill>
                <a:latin typeface="Microsoft YaHei" panose="020B0503020204020204" pitchFamily="34" charset="-122"/>
              </a:rPr>
              <a:t>grade-summaries</a:t>
            </a:r>
          </a:p>
          <a:p>
            <a:pPr algn="ctr"/>
            <a:r>
              <a:rPr lang="en-US" altLang="zh-CN" sz="1300" b="1">
                <a:solidFill>
                  <a:srgbClr val="EEF8FC"/>
                </a:solidFill>
                <a:latin typeface="Microsoft YaHei" panose="020B0503020204020204" pitchFamily="34" charset="-122"/>
              </a:rPr>
              <a:t>3 clean PASS / 0 needs attention</a:t>
            </a:r>
            <a:endParaRPr lang="zh-CN" altLang="en-US" sz="1300" b="1">
              <a:solidFill>
                <a:srgbClr val="EEF8FC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CF3D26A7-C590-6C7B-B6B6-B5BF872E339B}"/>
              </a:ext>
            </a:extLst>
          </p:cNvPr>
          <p:cNvSpPr/>
          <p:nvPr/>
        </p:nvSpPr>
        <p:spPr>
          <a:xfrm>
            <a:off x="7429500" y="4953000"/>
            <a:ext cx="1270000" cy="6858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400" b="1">
                <a:solidFill>
                  <a:srgbClr val="FFFFFF"/>
                </a:solidFill>
                <a:latin typeface="Microsoft YaHei" panose="020B0503020204020204" pitchFamily="34" charset="-122"/>
              </a:rPr>
              <a:t>caf8ced</a:t>
            </a:r>
            <a:endParaRPr lang="zh-CN" altLang="en-US" sz="14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72715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5965A22-5FF1-93C4-8B65-723CA9042A7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82DD70A-9024-87B3-2967-6B8B5590BBBD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F20B78F-8A6F-B0C9-97BA-5DFA7D15E208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3148D1B-41E2-1ED0-A9BE-EB0634EE3930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证据链可以重新计算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F0ACB02-1AB3-CA07-7F82-9642C3B4FBB6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13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EFAFEBE-3581-10BB-42AE-1FC1BEBEF6B2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视频和截图不进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Git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，但外部文件名、大小、时长、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SHA256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和网盘位置都可以复核。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2EBFB701-78F2-D74C-E27D-8761E8098F78}"/>
              </a:ext>
            </a:extLst>
          </p:cNvPr>
          <p:cNvSpPr/>
          <p:nvPr/>
        </p:nvSpPr>
        <p:spPr>
          <a:xfrm>
            <a:off x="2108200" y="2082800"/>
            <a:ext cx="1778000" cy="5334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FFFFFF"/>
                </a:solidFill>
                <a:latin typeface="Microsoft YaHei" panose="020B0503020204020204" pitchFamily="34" charset="-122"/>
              </a:rPr>
              <a:t>最终视频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D0A63C0A-CF8D-BE30-BCE7-9C3CFF1440E7}"/>
              </a:ext>
            </a:extLst>
          </p:cNvPr>
          <p:cNvSpPr/>
          <p:nvPr/>
        </p:nvSpPr>
        <p:spPr>
          <a:xfrm>
            <a:off x="4216400" y="1905000"/>
            <a:ext cx="5842000" cy="9906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文件：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20260611_final_integrated_0001_0009_demo.mp4</a:t>
            </a:r>
          </a:p>
          <a:p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时长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规格：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00:03:12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，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2560×1440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，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60 fps</a:t>
            </a:r>
          </a:p>
          <a:p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大小：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31,529,984 bytes</a:t>
            </a:r>
            <a:endParaRPr lang="zh-CN" altLang="en-US" sz="1050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A467CD39-B115-B21A-D454-8A55698920D1}"/>
              </a:ext>
            </a:extLst>
          </p:cNvPr>
          <p:cNvSpPr/>
          <p:nvPr/>
        </p:nvSpPr>
        <p:spPr>
          <a:xfrm>
            <a:off x="2108200" y="3327400"/>
            <a:ext cx="1778000" cy="5334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SHA256</a:t>
            </a:r>
            <a:endParaRPr lang="zh-CN" altLang="en-US" sz="14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89DE1D4-CB58-ED26-E61B-205A0F872427}"/>
              </a:ext>
            </a:extLst>
          </p:cNvPr>
          <p:cNvSpPr/>
          <p:nvPr/>
        </p:nvSpPr>
        <p:spPr>
          <a:xfrm>
            <a:off x="4216400" y="3276600"/>
            <a:ext cx="5842000" cy="6350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720" b="1">
                <a:solidFill>
                  <a:srgbClr val="7CE8F2"/>
                </a:solidFill>
                <a:latin typeface="Microsoft YaHei" panose="020B0503020204020204" pitchFamily="34" charset="-122"/>
              </a:rPr>
              <a:t>SHA256</a:t>
            </a:r>
            <a:r>
              <a:rPr lang="zh-CN" altLang="en-US" sz="720" b="1">
                <a:solidFill>
                  <a:srgbClr val="7CE8F2"/>
                </a:solidFill>
                <a:latin typeface="Microsoft YaHei" panose="020B0503020204020204" pitchFamily="34" charset="-122"/>
              </a:rPr>
              <a:t>：</a:t>
            </a:r>
            <a:r>
              <a:rPr lang="en-US" altLang="zh-CN" sz="720" b="1">
                <a:solidFill>
                  <a:srgbClr val="7CE8F2"/>
                </a:solidFill>
                <a:latin typeface="Microsoft YaHei" panose="020B0503020204020204" pitchFamily="34" charset="-122"/>
              </a:rPr>
              <a:t>2A2C9863C185846225A98AC874499867A71588CED2020A64249CBF99C7BC0365</a:t>
            </a:r>
            <a:endParaRPr lang="zh-CN" altLang="en-US" sz="72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D57CD9B-3386-C86C-12B6-DBA9EEC90BA1}"/>
              </a:ext>
            </a:extLst>
          </p:cNvPr>
          <p:cNvSpPr/>
          <p:nvPr/>
        </p:nvSpPr>
        <p:spPr>
          <a:xfrm>
            <a:off x="2108200" y="4445000"/>
            <a:ext cx="1778000" cy="533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FFFFFF"/>
                </a:solidFill>
                <a:latin typeface="Microsoft YaHei" panose="020B0503020204020204" pitchFamily="34" charset="-122"/>
              </a:rPr>
              <a:t>网盘资产包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E453C33-125B-D8EF-9739-D87645338F5D}"/>
              </a:ext>
            </a:extLst>
          </p:cNvPr>
          <p:cNvSpPr/>
          <p:nvPr/>
        </p:nvSpPr>
        <p:spPr>
          <a:xfrm>
            <a:off x="4216400" y="4343400"/>
            <a:ext cx="3810000" cy="838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网盘：</a:t>
            </a:r>
            <a:r>
              <a:rPr lang="en-US" altLang="zh-CN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proj54_submission_assets</a:t>
            </a:r>
            <a:r>
              <a:rPr lang="zh-CN" altLang="en-US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，提取码 </a:t>
            </a:r>
            <a:r>
              <a:rPr lang="en-US" altLang="zh-CN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1234</a:t>
            </a:r>
          </a:p>
          <a:p>
            <a:pPr algn="ctr"/>
            <a:r>
              <a:rPr lang="en-US" altLang="zh-CN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14/14 matched</a:t>
            </a:r>
            <a:endParaRPr lang="zh-CN" altLang="en-US" sz="12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36988DC9-7538-4630-F33B-370EA4E350F2}"/>
              </a:ext>
            </a:extLst>
          </p:cNvPr>
          <p:cNvSpPr/>
          <p:nvPr/>
        </p:nvSpPr>
        <p:spPr>
          <a:xfrm>
            <a:off x="8318500" y="4343400"/>
            <a:ext cx="1727200" cy="8382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Git </a:t>
            </a:r>
            <a:r>
              <a:rPr lang="zh-CN" altLang="en-US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只保存摘要</a:t>
            </a:r>
          </a:p>
        </p:txBody>
      </p:sp>
    </p:spTree>
    <p:extLst>
      <p:ext uri="{BB962C8B-B14F-4D97-AF65-F5344CB8AC3E}">
        <p14:creationId xmlns:p14="http://schemas.microsoft.com/office/powerpoint/2010/main" val="142758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11294B4-0628-D779-A11C-96A54F56801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2FE0AFF-D064-0415-9221-3622DBB326F1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F564619-15CB-F0FF-552B-CAB7F8D47D92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A73DB8D-AAA2-CBF5-749A-7AB7A92D1128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与 </a:t>
            </a:r>
            <a:r>
              <a:rPr lang="en-US" altLang="zh-CN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uCore/rCore </a:t>
            </a:r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的差异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5F5C602-1D3B-D04A-E225-1FDD21C1CADA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14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177A79F-7EAB-A45E-02EA-0FC5CAA887DB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本项目不是替代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uCore/rCore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，而是面向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OUC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课程的轻量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xv6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入门实验包。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378E70B-5040-FE12-45F3-8F52BF7D5561}"/>
              </a:ext>
            </a:extLst>
          </p:cNvPr>
          <p:cNvSpPr/>
          <p:nvPr/>
        </p:nvSpPr>
        <p:spPr>
          <a:xfrm>
            <a:off x="2413000" y="2095500"/>
            <a:ext cx="2286000" cy="635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完整课程生态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334D1F55-4920-F03E-70E5-08AEC8690673}"/>
              </a:ext>
            </a:extLst>
          </p:cNvPr>
          <p:cNvSpPr/>
          <p:nvPr/>
        </p:nvSpPr>
        <p:spPr>
          <a:xfrm>
            <a:off x="5016500" y="2095500"/>
            <a:ext cx="4572000" cy="635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本项目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3EFEAAA6-0A25-AC93-5478-C52363346750}"/>
              </a:ext>
            </a:extLst>
          </p:cNvPr>
          <p:cNvSpPr/>
          <p:nvPr/>
        </p:nvSpPr>
        <p:spPr>
          <a:xfrm>
            <a:off x="2413000" y="3086100"/>
            <a:ext cx="2286000" cy="635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覆盖更广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6CA5A00-7420-A614-6379-B38CBED9FB0D}"/>
              </a:ext>
            </a:extLst>
          </p:cNvPr>
          <p:cNvSpPr/>
          <p:nvPr/>
        </p:nvSpPr>
        <p:spPr>
          <a:xfrm>
            <a:off x="5016500" y="3086100"/>
            <a:ext cx="4572000" cy="635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更轻量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1E9A901B-061A-5878-4CC1-4F0991D8765D}"/>
              </a:ext>
            </a:extLst>
          </p:cNvPr>
          <p:cNvSpPr/>
          <p:nvPr/>
        </p:nvSpPr>
        <p:spPr>
          <a:xfrm>
            <a:off x="2413000" y="4076700"/>
            <a:ext cx="2286000" cy="6350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学习周期更长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B10587A8-E2E2-9023-6932-49F24E89AB03}"/>
              </a:ext>
            </a:extLst>
          </p:cNvPr>
          <p:cNvSpPr/>
          <p:nvPr/>
        </p:nvSpPr>
        <p:spPr>
          <a:xfrm>
            <a:off x="5016500" y="4076700"/>
            <a:ext cx="4572000" cy="6350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可复现验收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557A970-4C08-6425-FE1E-D0F778B2BD52}"/>
              </a:ext>
            </a:extLst>
          </p:cNvPr>
          <p:cNvSpPr/>
          <p:nvPr/>
        </p:nvSpPr>
        <p:spPr>
          <a:xfrm>
            <a:off x="3302000" y="5461000"/>
            <a:ext cx="5461000" cy="5334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重点是小步 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patch workflow</a:t>
            </a:r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clean baseline </a:t>
            </a:r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复现、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Lab0-Lab5 </a:t>
            </a:r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教学路径、三方 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full verify </a:t>
            </a:r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和证据 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manifest</a:t>
            </a:r>
            <a:endParaRPr lang="zh-CN" altLang="en-US" sz="12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85329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2AA3F2D-EF8D-C1FD-B6F7-5257C127490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8C9C050-52AB-6408-3209-985411234261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2A241DC-08DB-DCEA-BB9F-5B24AF3993B5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1EAD965-D48D-4215-2C9A-8487E7997238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创新在组织方式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752C2FD-94B8-796B-EE6A-1B83811A79AD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15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8A6B020-47B0-7C8D-3D00-1C24DD347166}"/>
              </a:ext>
            </a:extLst>
          </p:cNvPr>
          <p:cNvSpPr txBox="1"/>
          <p:nvPr/>
        </p:nvSpPr>
        <p:spPr>
          <a:xfrm>
            <a:off x="685800" y="1092200"/>
            <a:ext cx="774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创新不只在系统调用，而在实验组织、工具入口、复现证据和诚信边界同时可执行。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2511E8CF-E4ED-66A6-877C-7D40A4FB4311}"/>
              </a:ext>
            </a:extLst>
          </p:cNvPr>
          <p:cNvSpPr/>
          <p:nvPr/>
        </p:nvSpPr>
        <p:spPr>
          <a:xfrm>
            <a:off x="1193800" y="2667000"/>
            <a:ext cx="2222500" cy="914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基线补丁流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07B27B8-3024-5DBF-E928-1A853DB392BF}"/>
              </a:ext>
            </a:extLst>
          </p:cNvPr>
          <p:cNvSpPr/>
          <p:nvPr/>
        </p:nvSpPr>
        <p:spPr>
          <a:xfrm>
            <a:off x="4114800" y="2667000"/>
            <a:ext cx="2222500" cy="9144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400" b="1">
                <a:solidFill>
                  <a:srgbClr val="EEF8FC"/>
                </a:solidFill>
                <a:latin typeface="Microsoft YaHei" panose="020B0503020204020204" pitchFamily="34" charset="-122"/>
              </a:rPr>
              <a:t>copyout </a:t>
            </a:r>
            <a:r>
              <a:rPr lang="zh-CN" altLang="en-US" sz="1400" b="1">
                <a:solidFill>
                  <a:srgbClr val="EEF8FC"/>
                </a:solidFill>
                <a:latin typeface="Microsoft YaHei" panose="020B0503020204020204" pitchFamily="34" charset="-122"/>
              </a:rPr>
              <a:t>进阶实验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F9E3B89-5BAD-2725-85FE-6C65BFE94C32}"/>
              </a:ext>
            </a:extLst>
          </p:cNvPr>
          <p:cNvSpPr/>
          <p:nvPr/>
        </p:nvSpPr>
        <p:spPr>
          <a:xfrm>
            <a:off x="7035800" y="2667000"/>
            <a:ext cx="2222500" cy="9144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EEF8FC"/>
                </a:solidFill>
                <a:latin typeface="Microsoft YaHei" panose="020B0503020204020204" pitchFamily="34" charset="-122"/>
              </a:rPr>
              <a:t>课程材料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9653ADE-FCCF-CE4A-4885-393FA1707D3A}"/>
              </a:ext>
            </a:extLst>
          </p:cNvPr>
          <p:cNvSpPr/>
          <p:nvPr/>
        </p:nvSpPr>
        <p:spPr>
          <a:xfrm>
            <a:off x="1193800" y="4191000"/>
            <a:ext cx="2222500" cy="9144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EEF8FC"/>
                </a:solidFill>
                <a:latin typeface="Microsoft YaHei" panose="020B0503020204020204" pitchFamily="34" charset="-122"/>
              </a:rPr>
              <a:t>复现工具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83D55DFD-8386-B962-EDC5-BADC5DE18EDB}"/>
              </a:ext>
            </a:extLst>
          </p:cNvPr>
          <p:cNvSpPr/>
          <p:nvPr/>
        </p:nvSpPr>
        <p:spPr>
          <a:xfrm>
            <a:off x="4114800" y="4191000"/>
            <a:ext cx="2222500" cy="9144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验收证据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126176B-A8C8-9A8A-EE3D-B4C90381C387}"/>
              </a:ext>
            </a:extLst>
          </p:cNvPr>
          <p:cNvSpPr/>
          <p:nvPr/>
        </p:nvSpPr>
        <p:spPr>
          <a:xfrm>
            <a:off x="4572000" y="5461000"/>
            <a:ext cx="3175000" cy="533400"/>
          </a:xfrm>
          <a:prstGeom prst="roundRect">
            <a:avLst/>
          </a:prstGeom>
          <a:solidFill>
            <a:srgbClr val="F5B84B"/>
          </a:solidFill>
          <a:ln w="13970">
            <a:solidFill>
              <a:srgbClr val="F5B8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可执行的组织创新</a:t>
            </a:r>
          </a:p>
        </p:txBody>
      </p:sp>
    </p:spTree>
    <p:extLst>
      <p:ext uri="{BB962C8B-B14F-4D97-AF65-F5344CB8AC3E}">
        <p14:creationId xmlns:p14="http://schemas.microsoft.com/office/powerpoint/2010/main" val="32717040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27B75D67-3F4D-C6C4-B480-6498181CC5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AC3752F-299C-F800-9EC3-21F96FA7ECBF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04D031B-0E3C-A126-034A-D70BEE446BCE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E04FA8B-FB97-A8F9-FC16-A11BFB27A563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边界与总结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98E1F90-DD7C-8501-655E-6657AC21CE3A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16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B4ECD76-BB6B-0DC3-1993-B90E49A6538C}"/>
              </a:ext>
            </a:extLst>
          </p:cNvPr>
          <p:cNvSpPr txBox="1"/>
          <p:nvPr/>
        </p:nvSpPr>
        <p:spPr>
          <a:xfrm>
            <a:off x="685800" y="1092200"/>
            <a:ext cx="8255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边界说清楚，可信度才站得住：它不是完整内核工程，但是真实、可复现、可教学。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7EE3F375-E6D6-722A-AFDA-DED1367F8848}"/>
              </a:ext>
            </a:extLst>
          </p:cNvPr>
          <p:cNvSpPr/>
          <p:nvPr/>
        </p:nvSpPr>
        <p:spPr>
          <a:xfrm>
            <a:off x="1041400" y="2349500"/>
            <a:ext cx="2413000" cy="10414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已完成</a:t>
            </a:r>
          </a:p>
          <a:p>
            <a:pPr algn="ctr"/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已完成：</a:t>
            </a:r>
            <a:r>
              <a:rPr lang="en-US" altLang="zh-CN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integrated 0001-0009</a:t>
            </a:r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，</a:t>
            </a:r>
            <a:r>
              <a:rPr lang="en-US" altLang="zh-CN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Lab0-Lab5 </a:t>
            </a:r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课程实验体系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E198301-1667-B5AD-6267-71C21B67E859}"/>
              </a:ext>
            </a:extLst>
          </p:cNvPr>
          <p:cNvSpPr/>
          <p:nvPr/>
        </p:nvSpPr>
        <p:spPr>
          <a:xfrm>
            <a:off x="3962400" y="2349500"/>
            <a:ext cx="2413000" cy="1041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已验证</a:t>
            </a:r>
          </a:p>
          <a:p>
            <a:pPr algn="ctr"/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已验证：</a:t>
            </a:r>
            <a:r>
              <a:rPr lang="en-US" altLang="zh-CN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rain / root / z2996 </a:t>
            </a:r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全量验证通过，</a:t>
            </a:r>
            <a:r>
              <a:rPr lang="en-US" altLang="zh-CN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14/14 SHA256 matched</a:t>
            </a:r>
            <a:endParaRPr lang="zh-CN" altLang="en-US" sz="10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B5D774C-9E5F-AEE8-2451-7075F8544244}"/>
              </a:ext>
            </a:extLst>
          </p:cNvPr>
          <p:cNvSpPr/>
          <p:nvPr/>
        </p:nvSpPr>
        <p:spPr>
          <a:xfrm>
            <a:off x="6883400" y="2349500"/>
            <a:ext cx="2413000" cy="1041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历史点</a:t>
            </a:r>
          </a:p>
          <a:p>
            <a:pPr algn="ctr"/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历史点：</a:t>
            </a:r>
            <a:r>
              <a:rPr lang="en-US" altLang="zh-CN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e8e2fb9 / 0001-0007 </a:t>
            </a:r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只作为历史检查点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45B3F30-B5C9-6AEC-9952-5666C68A2CD8}"/>
              </a:ext>
            </a:extLst>
          </p:cNvPr>
          <p:cNvSpPr/>
          <p:nvPr/>
        </p:nvSpPr>
        <p:spPr>
          <a:xfrm>
            <a:off x="1041400" y="4000500"/>
            <a:ext cx="2413000" cy="1041400"/>
          </a:xfrm>
          <a:prstGeom prst="roundRect">
            <a:avLst/>
          </a:prstGeom>
          <a:solidFill>
            <a:srgbClr val="F5B84B"/>
          </a:solidFill>
          <a:ln w="13970">
            <a:solidFill>
              <a:srgbClr val="F5B8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不夸大</a:t>
            </a:r>
          </a:p>
          <a:p>
            <a:pPr algn="ctr"/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不夸大：</a:t>
            </a:r>
            <a:r>
              <a:rPr lang="en-US" altLang="zh-CN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pgcount/memstat </a:t>
            </a:r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不是完整内存管理，</a:t>
            </a:r>
            <a:r>
              <a:rPr lang="en-US" altLang="zh-CN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fcount/fdcount/fdinfo </a:t>
            </a:r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不是完整文件系统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83D5001-ACE0-B12E-01ED-0D2C5801C3C4}"/>
              </a:ext>
            </a:extLst>
          </p:cNvPr>
          <p:cNvSpPr/>
          <p:nvPr/>
        </p:nvSpPr>
        <p:spPr>
          <a:xfrm>
            <a:off x="3962400" y="4000500"/>
            <a:ext cx="2413000" cy="10414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最后确认</a:t>
            </a:r>
          </a:p>
          <a:p>
            <a:pPr algn="ctr"/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提交前最后确认：平台提交方式最终确认；</a:t>
            </a:r>
            <a:r>
              <a:rPr lang="en-US" altLang="zh-CN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PPT 5-8 </a:t>
            </a:r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分钟人工排练；按 </a:t>
            </a:r>
            <a:r>
              <a:rPr lang="en-US" altLang="zh-CN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submission_checklist </a:t>
            </a:r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跑最终全检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E5A801C3-3381-DAE0-C6A7-37F8D6D5ECCA}"/>
              </a:ext>
            </a:extLst>
          </p:cNvPr>
          <p:cNvSpPr/>
          <p:nvPr/>
        </p:nvSpPr>
        <p:spPr>
          <a:xfrm>
            <a:off x="3479800" y="5740400"/>
            <a:ext cx="5207000" cy="4826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600" b="1">
                <a:solidFill>
                  <a:srgbClr val="09243D"/>
                </a:solidFill>
                <a:latin typeface="Microsoft YaHei" panose="020B0503020204020204" pitchFamily="34" charset="-122"/>
              </a:rPr>
              <a:t>真实 </a:t>
            </a:r>
            <a:r>
              <a:rPr lang="en-US" altLang="zh-CN" sz="1600" b="1">
                <a:solidFill>
                  <a:srgbClr val="09243D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600" b="1">
                <a:solidFill>
                  <a:srgbClr val="09243D"/>
                </a:solidFill>
                <a:latin typeface="Microsoft YaHei" panose="020B0503020204020204" pitchFamily="34" charset="-122"/>
              </a:rPr>
              <a:t>可复现 </a:t>
            </a:r>
            <a:r>
              <a:rPr lang="en-US" altLang="zh-CN" sz="1600" b="1">
                <a:solidFill>
                  <a:srgbClr val="09243D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600" b="1">
                <a:solidFill>
                  <a:srgbClr val="09243D"/>
                </a:solidFill>
                <a:latin typeface="Microsoft YaHei" panose="020B0503020204020204" pitchFamily="34" charset="-122"/>
              </a:rPr>
              <a:t>可教学</a:t>
            </a:r>
          </a:p>
        </p:txBody>
      </p:sp>
    </p:spTree>
    <p:extLst>
      <p:ext uri="{BB962C8B-B14F-4D97-AF65-F5344CB8AC3E}">
        <p14:creationId xmlns:p14="http://schemas.microsoft.com/office/powerpoint/2010/main" val="1111639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1728</Words>
  <Application>Microsoft Office PowerPoint</Application>
  <PresentationFormat>自定义</PresentationFormat>
  <Paragraphs>253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1" baseType="lpstr">
      <vt:lpstr>等线</vt:lpstr>
      <vt:lpstr>等线 Light</vt:lpstr>
      <vt:lpstr>Microsoft YaHei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 ain</dc:creator>
  <cp:lastModifiedBy>R ain</cp:lastModifiedBy>
  <cp:revision>1</cp:revision>
  <dcterms:created xsi:type="dcterms:W3CDTF">2026-06-11T14:16:25Z</dcterms:created>
  <dcterms:modified xsi:type="dcterms:W3CDTF">2026-06-11T14:16:25Z</dcterms:modified>
</cp:coreProperties>
</file>