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114" y="3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336372-A25F-4368-8962-B4BF27106C7A}" type="datetimeFigureOut">
              <a:rPr lang="zh-CN" altLang="en-US" smtClean="0"/>
              <a:t>2026/6/11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EA2E30-806A-480E-8F92-6D6AC26C6F2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526679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开场要把主线说清楚：这不是一组零散系统调用展示，而是一套面向课程的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xv6-riscv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实验包。我们的重点是让学生能按阶段学习，让助教能按统一口径验收，让评委能从 干净基线复现。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EA2E30-806A-480E-8F92-6D6AC26C6F2A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120644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这一页必须纠正旧版本的非官方权重表述。我们现在按官方口径讲：初赛看执行展示和文档，决赛还看现场答辩、过程记录、源码分析、最终方案、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PPT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和演示视频。因此项目建设不能只做内核功能。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EA2E30-806A-480E-8F92-6D6AC26C6F2A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4128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这里讲真实痛点，不讲空话。队友复现里曾出现等待过久、误按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Ctrl+Z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、不知道哪一步成功的问题，所以我们把“复现体验”作为工程目标来做。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EA2E30-806A-480E-8F92-6D6AC26C6F2A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855788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这个仓库不是只给开发者看的。学生、老师、助教和评委都有不同入口，所以我们把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README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、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docs/final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、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labs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、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scripts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、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submissions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分开组织。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EA2E30-806A-480E-8F92-6D6AC26C6F2A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242823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这一页讲工程可信度。第三方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xv6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源码不进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Git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，补丁序列是仓库里的事实，验证脚本把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make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、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boot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、用户程序和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summary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串起来，最后由 证据索引管理外部证据。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EA2E30-806A-480E-8F92-6D6AC26C6F2A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49618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Lab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矩阵要让评委一眼看到课程设计，而不是看到一堆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syscall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名字。每个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Lab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都有机制、用户程序、测试和文档。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EA2E30-806A-480E-8F92-6D6AC26C6F2A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04112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Lab1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是入口，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Lab2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是第一个内核表观察。这里强调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pchildtest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输出受调度影响，这不是失败，而是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OS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课程里应该讲清楚的现象。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EA2E30-806A-480E-8F92-6D6AC26C6F2A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4740913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这一页是技术亮点。学生常把“申请地址空间”和“真实映射页面”混在一起。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pgcount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和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lazy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对比把这个差异变成可观察结果；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memstat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再引入结构化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copyout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EA2E30-806A-480E-8F92-6D6AC26C6F2A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319658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这里要把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fd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和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file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的关系讲出来。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fd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是进程视角，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file table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是内核全局结构；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open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、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dup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、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close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的趋势比绝对数更适合教学。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EA2E30-806A-480E-8F92-6D6AC26C6F2A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225609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Lab5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的定位要避免误解。它不是新系统调用，而是综合复现实验。学生最终要交的不只是“能跑”，还要说明如何验证、哪里失败过、边界是什么。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EA2E30-806A-480E-8F92-6D6AC26C6F2A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553814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这一页讲工具链升级。我们不是把脚本堆在一起，而是把它组织成课程入口、复现入口、验收入口和提交前门禁。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EA2E30-806A-480E-8F92-6D6AC26C6F2A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612562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这里保持克制：我们只说已经有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summary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和外部证据的事实，不编造队友真实姓名或系统版本。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root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和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z2996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是终端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user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。三方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full verification summary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的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current commit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是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db85947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；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caf8ced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只是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evidence documentation commit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，用于记录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final demo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、三方复现、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SHA256 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和外部资产索引。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EA2E30-806A-480E-8F92-6D6AC26C6F2A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983777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这页解决“证据在哪里”和“如何证明没改过”。仓库不提交大文件，但记录了足够的元数据和 </a:t>
            </a:r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SHA256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；下载外部资产后可以用脚本重新核验。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EA2E30-806A-480E-8F92-6D6AC26C6F2A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930320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不要贬低同类项目，也不要在答辩页上放旁支引用说明。这里强调差异：本项目更轻、更贴近本校课程，更强调干净基线、三方复现和证据边界。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EA2E30-806A-480E-8F92-6D6AC26C6F2A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7241279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这页不能写成“赋能”“闭环”。直接指向仓库里的东西：补丁序列、课程材料、验证脚本、摘要解析和证据索引。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EA2E30-806A-480E-8F92-6D6AC26C6F2A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6025695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最后回到可信度。我们完成了课程实验包和证据链，但不把观察型实验包装成完整内核能力。答辩收束在“真实、可复现、可教学”。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EA2E30-806A-480E-8F92-6D6AC26C6F2A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067276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168855-CCBD-3EB7-D80C-A8CB8074C5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BB2D522-4F05-424E-B6AA-71817B21FB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3519304-122F-0015-5DA2-84AA9934AC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A83E38-FE1A-46D7-AAB8-6C2A5536F75A}" type="datetimeFigureOut">
              <a:rPr lang="zh-CN" altLang="en-US" smtClean="0"/>
              <a:t>2026/6/11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B582E84-3D4C-9F5B-C3A9-425DD9D110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C0E8243-5800-BC57-7F8D-D8E904C9C4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4CD2A-584A-455B-ADD7-345520253A9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37496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740502F-50DE-7058-0790-D128256EF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A1796B7-16FC-102C-B7E8-BFA20AE573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B72B3FF-CD8D-7469-A96A-DDF16645F5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A83E38-FE1A-46D7-AAB8-6C2A5536F75A}" type="datetimeFigureOut">
              <a:rPr lang="zh-CN" altLang="en-US" smtClean="0"/>
              <a:t>2026/6/11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A521682-7E74-B6E8-5F24-7D4DDA1ED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987F4E5-2835-A365-F15B-6B0C58588F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4CD2A-584A-455B-ADD7-345520253A9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445066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2646FD1-57C7-D061-3E36-B923337977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FADD52B-B5AA-E297-F330-57333441B5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8B57D13-C1B3-A9CA-581B-0642446F31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A83E38-FE1A-46D7-AAB8-6C2A5536F75A}" type="datetimeFigureOut">
              <a:rPr lang="zh-CN" altLang="en-US" smtClean="0"/>
              <a:t>2026/6/11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9329875-BFFB-F0A6-48CD-734225E67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203AB45-02FF-83D0-6AB0-4AD955296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4CD2A-584A-455B-ADD7-345520253A9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30643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450C9BA-6644-AEB0-622F-C84A52FF1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F5BF811-D9FA-24DF-1733-1C5B3A72F9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C677C67-D1C2-3F4A-D213-5B8B1C5A05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9D88583-ADB0-5152-D43A-BFB2B274D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A83E38-FE1A-46D7-AAB8-6C2A5536F75A}" type="datetimeFigureOut">
              <a:rPr lang="zh-CN" altLang="en-US" smtClean="0"/>
              <a:t>2026/6/11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2169E9D-6C5D-8D26-136E-D90A3520F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2C4FF7C-38BC-46C9-5859-9D3AE9CAB7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4CD2A-584A-455B-ADD7-345520253A9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17511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06542E-6A76-CBFF-05C9-77863D1950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435F6B6-04C8-107A-C87B-74B3D7448A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CD014C7-A42D-4143-E048-98CB8A6EE8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76DA2DC-6C50-CB20-C074-7DCE260F33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F476644F-0A9A-7787-D3DE-9599FE9FD14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D6A2D558-BF2B-ECA2-4502-D726B27F08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A83E38-FE1A-46D7-AAB8-6C2A5536F75A}" type="datetimeFigureOut">
              <a:rPr lang="zh-CN" altLang="en-US" smtClean="0"/>
              <a:t>2026/6/11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01F9E26-F996-56BC-EBCD-B6F5074DC3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AF38B9D5-7DF3-7806-44A4-E63FD880C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4CD2A-584A-455B-ADD7-345520253A9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49588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A08E854-151C-AD04-90CF-92F539BF5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AFF4CCE-CE64-A034-C166-44994D36A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A83E38-FE1A-46D7-AAB8-6C2A5536F75A}" type="datetimeFigureOut">
              <a:rPr lang="zh-CN" altLang="en-US" smtClean="0"/>
              <a:t>2026/6/11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F610A60-D7D7-02DD-DF23-250859E9C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090A6F3-640D-DEC5-71BE-63C2F58D8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4CD2A-584A-455B-ADD7-345520253A9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772758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CA459AA8-BB2F-5F1C-9A45-FBF62F8328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A83E38-FE1A-46D7-AAB8-6C2A5536F75A}" type="datetimeFigureOut">
              <a:rPr lang="zh-CN" altLang="en-US" smtClean="0"/>
              <a:t>2026/6/11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E4B8CF9-356E-99C4-AB53-01A7D0ED3D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A2FA83E-3CBD-EB41-BC7F-663EAB688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4CD2A-584A-455B-ADD7-345520253A9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821096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C7CFAF-28E9-6E60-1AB4-A2213DBF02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92D878A-FC8D-146C-4707-1F2DDA3770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FEE00CB-4A69-2462-12C0-B688E21199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B872B19-E67E-ED38-7629-A2ED99C67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A83E38-FE1A-46D7-AAB8-6C2A5536F75A}" type="datetimeFigureOut">
              <a:rPr lang="zh-CN" altLang="en-US" smtClean="0"/>
              <a:t>2026/6/11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CD388CC-0DE7-EDC7-DF77-A789B131E1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665F3A8-1810-6DC9-980C-71CF8C761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4CD2A-584A-455B-ADD7-345520253A9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505779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7F6CD7A-EC2E-BC85-1B5C-B9DB3DA52B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7889227-E830-E0D2-829A-6243A73CDE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FC8818B-A402-D326-0073-12A5577EA9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728CEB8-6243-DA8A-9299-014443CBE3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A83E38-FE1A-46D7-AAB8-6C2A5536F75A}" type="datetimeFigureOut">
              <a:rPr lang="zh-CN" altLang="en-US" smtClean="0"/>
              <a:t>2026/6/11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FF5B9E7-0C32-DFB1-C9B7-0AD3F87EA5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1C39A36-EAFF-259A-A15F-0FD6435871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4CD2A-584A-455B-ADD7-345520253A9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26331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F16A1B-253D-44E0-ED39-7B37CD389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DB2CA4A-18F4-78F6-DD47-8A7E613E17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1BE2741-84F4-6094-41B2-A4700982F7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A83E38-FE1A-46D7-AAB8-6C2A5536F75A}" type="datetimeFigureOut">
              <a:rPr lang="zh-CN" altLang="en-US" smtClean="0"/>
              <a:t>2026/6/11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28A572D-91D3-EC73-D4AD-006B5B3A1C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15C5B6F-C95A-E91D-2826-0AB6B47C2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4CD2A-584A-455B-ADD7-345520253A9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97631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8B657317-C372-4BE5-D559-5CC42F0248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62C7B1E-7FEA-D777-8841-DF15CAA1ED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69D10DD-5192-9DB1-5010-66907CED9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A83E38-FE1A-46D7-AAB8-6C2A5536F75A}" type="datetimeFigureOut">
              <a:rPr lang="zh-CN" altLang="en-US" smtClean="0"/>
              <a:t>2026/6/11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9A45D31-DA46-97D5-2774-7F71C152AE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6A9F4D9-47F1-771C-9C8A-0B7EF2C7A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D4CD2A-584A-455B-ADD7-345520253A9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047855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35AA5F3-D0BC-CD24-5DB5-D99DE2F2DD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5CA3D6C-A6CD-DB61-CE47-21D249C8BA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0F21F56-26AD-5596-75DA-459697BDA44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A83E38-FE1A-46D7-AAB8-6C2A5536F75A}" type="datetimeFigureOut">
              <a:rPr lang="zh-CN" altLang="en-US" smtClean="0"/>
              <a:t>2026/6/11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E4CCA01-DA2B-159F-1509-6DCABB3597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4D67B11-8D72-E64C-A9E9-D9B57050E7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D4CD2A-584A-455B-ADD7-345520253A9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4569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158E8219-6304-CF78-58DD-6B7CD3BC53B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B33"/>
          </a:solidFill>
          <a:ln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21D9577-9063-C423-5063-7C765C488049}"/>
              </a:ext>
            </a:extLst>
          </p:cNvPr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19D3E6"/>
          </a:solidFill>
          <a:ln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E976E6D-CCE6-7611-D9FB-0D8684F49E5E}"/>
              </a:ext>
            </a:extLst>
          </p:cNvPr>
          <p:cNvSpPr/>
          <p:nvPr/>
        </p:nvSpPr>
        <p:spPr>
          <a:xfrm>
            <a:off x="10033000" y="0"/>
            <a:ext cx="2159000" cy="6858000"/>
          </a:xfrm>
          <a:prstGeom prst="rect">
            <a:avLst/>
          </a:prstGeom>
          <a:solidFill>
            <a:srgbClr val="082846"/>
          </a:solidFill>
          <a:ln>
            <a:solidFill>
              <a:srgbClr val="0828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CFCDF9B-D0E0-EA40-226C-EA434F98F3B7}"/>
              </a:ext>
            </a:extLst>
          </p:cNvPr>
          <p:cNvSpPr txBox="1"/>
          <p:nvPr/>
        </p:nvSpPr>
        <p:spPr>
          <a:xfrm>
            <a:off x="889000" y="1016000"/>
            <a:ext cx="8763000" cy="5539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3600" b="1">
                <a:solidFill>
                  <a:srgbClr val="FFFFFF"/>
                </a:solidFill>
                <a:latin typeface="Microsoft YaHei" panose="020B0503020204020204" pitchFamily="34" charset="-122"/>
              </a:rPr>
              <a:t>OUC xv6 Lab Kit</a:t>
            </a:r>
            <a:endParaRPr lang="zh-CN" altLang="en-US" sz="36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3A6CA71-D07B-6DD3-7418-81C41EA19C03}"/>
              </a:ext>
            </a:extLst>
          </p:cNvPr>
          <p:cNvSpPr txBox="1"/>
          <p:nvPr/>
        </p:nvSpPr>
        <p:spPr>
          <a:xfrm>
            <a:off x="914400" y="1905000"/>
            <a:ext cx="8255000" cy="5539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>
                <a:solidFill>
                  <a:srgbClr val="EEF8FC"/>
                </a:solidFill>
                <a:latin typeface="Microsoft YaHei" panose="020B0503020204020204" pitchFamily="34" charset="-122"/>
              </a:rPr>
              <a:t>我们不只是给 </a:t>
            </a:r>
            <a:r>
              <a:rPr lang="en-US" altLang="zh-CN">
                <a:solidFill>
                  <a:srgbClr val="EEF8FC"/>
                </a:solidFill>
                <a:latin typeface="Microsoft YaHei" panose="020B0503020204020204" pitchFamily="34" charset="-122"/>
              </a:rPr>
              <a:t>xv6 </a:t>
            </a:r>
            <a:r>
              <a:rPr lang="zh-CN" altLang="en-US">
                <a:solidFill>
                  <a:srgbClr val="EEF8FC"/>
                </a:solidFill>
                <a:latin typeface="Microsoft YaHei" panose="020B0503020204020204" pitchFamily="34" charset="-122"/>
              </a:rPr>
              <a:t>加了九个系统调用，而是把它整理成一套可学习、可复现、可验收的 </a:t>
            </a:r>
            <a:r>
              <a:rPr lang="en-US" altLang="zh-CN">
                <a:solidFill>
                  <a:srgbClr val="EEF8FC"/>
                </a:solidFill>
                <a:latin typeface="Microsoft YaHei" panose="020B0503020204020204" pitchFamily="34" charset="-122"/>
              </a:rPr>
              <a:t>OS </a:t>
            </a:r>
            <a:r>
              <a:rPr lang="zh-CN" altLang="en-US">
                <a:solidFill>
                  <a:srgbClr val="EEF8FC"/>
                </a:solidFill>
                <a:latin typeface="Microsoft YaHei" panose="020B0503020204020204" pitchFamily="34" charset="-122"/>
              </a:rPr>
              <a:t>入门实验包。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C3AC1CD-2195-9B06-02B4-621D8E3D9070}"/>
              </a:ext>
            </a:extLst>
          </p:cNvPr>
          <p:cNvSpPr/>
          <p:nvPr/>
        </p:nvSpPr>
        <p:spPr>
          <a:xfrm>
            <a:off x="914400" y="2984500"/>
            <a:ext cx="7112000" cy="38100"/>
          </a:xfrm>
          <a:prstGeom prst="rect">
            <a:avLst/>
          </a:prstGeom>
          <a:solidFill>
            <a:srgbClr val="19D3E6"/>
          </a:solidFill>
          <a:ln w="1270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213AE171-B740-8E9F-420A-071DF19C56E2}"/>
              </a:ext>
            </a:extLst>
          </p:cNvPr>
          <p:cNvSpPr/>
          <p:nvPr/>
        </p:nvSpPr>
        <p:spPr>
          <a:xfrm>
            <a:off x="914400" y="3429000"/>
            <a:ext cx="2396067" cy="7366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300" b="1">
                <a:solidFill>
                  <a:srgbClr val="09243D"/>
                </a:solidFill>
                <a:latin typeface="Microsoft YaHei" panose="020B0503020204020204" pitchFamily="34" charset="-122"/>
              </a:rPr>
              <a:t>可学习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57D383F-6523-E347-8464-76C582B9048A}"/>
              </a:ext>
            </a:extLst>
          </p:cNvPr>
          <p:cNvSpPr/>
          <p:nvPr/>
        </p:nvSpPr>
        <p:spPr>
          <a:xfrm>
            <a:off x="3462867" y="3429000"/>
            <a:ext cx="2396066" cy="7366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C6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300" b="1">
                <a:solidFill>
                  <a:srgbClr val="09243D"/>
                </a:solidFill>
                <a:latin typeface="Microsoft YaHei" panose="020B0503020204020204" pitchFamily="34" charset="-122"/>
              </a:rPr>
              <a:t>可复现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7DAC582D-B367-E738-3C28-B6A4F6A16A2C}"/>
              </a:ext>
            </a:extLst>
          </p:cNvPr>
          <p:cNvSpPr/>
          <p:nvPr/>
        </p:nvSpPr>
        <p:spPr>
          <a:xfrm>
            <a:off x="6011333" y="3429000"/>
            <a:ext cx="2396067" cy="736600"/>
          </a:xfrm>
          <a:prstGeom prst="roundRect">
            <a:avLst/>
          </a:prstGeom>
          <a:solidFill>
            <a:srgbClr val="23B26D"/>
          </a:solidFill>
          <a:ln w="13970">
            <a:solidFill>
              <a:srgbClr val="23B26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300" b="1">
                <a:solidFill>
                  <a:srgbClr val="09243D"/>
                </a:solidFill>
                <a:latin typeface="Microsoft YaHei" panose="020B0503020204020204" pitchFamily="34" charset="-122"/>
              </a:rPr>
              <a:t>可验收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DDD0C16A-EEA0-F77E-1E4E-524FC5C20731}"/>
              </a:ext>
            </a:extLst>
          </p:cNvPr>
          <p:cNvSpPr/>
          <p:nvPr/>
        </p:nvSpPr>
        <p:spPr>
          <a:xfrm>
            <a:off x="9144000" y="1397000"/>
            <a:ext cx="1905000" cy="736600"/>
          </a:xfrm>
          <a:prstGeom prst="roundRect">
            <a:avLst/>
          </a:prstGeom>
          <a:solidFill>
            <a:srgbClr val="08284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600" b="1">
                <a:solidFill>
                  <a:srgbClr val="7CE8F2"/>
                </a:solidFill>
                <a:latin typeface="Microsoft YaHei" panose="020B0503020204020204" pitchFamily="34" charset="-122"/>
              </a:rPr>
              <a:t>db85947</a:t>
            </a:r>
            <a:endParaRPr lang="zh-CN" altLang="en-US" sz="1600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DAB55F58-9AB0-48F9-8FB4-7D59B37BBB6F}"/>
              </a:ext>
            </a:extLst>
          </p:cNvPr>
          <p:cNvSpPr/>
          <p:nvPr/>
        </p:nvSpPr>
        <p:spPr>
          <a:xfrm>
            <a:off x="9144000" y="2476500"/>
            <a:ext cx="1905000" cy="736600"/>
          </a:xfrm>
          <a:prstGeom prst="roundRect">
            <a:avLst/>
          </a:prstGeom>
          <a:solidFill>
            <a:srgbClr val="08284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600" b="1">
                <a:solidFill>
                  <a:srgbClr val="7CE8F2"/>
                </a:solidFill>
                <a:latin typeface="Microsoft YaHei" panose="020B0503020204020204" pitchFamily="34" charset="-122"/>
              </a:rPr>
              <a:t>0001-0009</a:t>
            </a:r>
            <a:endParaRPr lang="zh-CN" altLang="en-US" sz="1600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C9B4DBD0-E628-9470-7FE9-13C3CD496B67}"/>
              </a:ext>
            </a:extLst>
          </p:cNvPr>
          <p:cNvSpPr/>
          <p:nvPr/>
        </p:nvSpPr>
        <p:spPr>
          <a:xfrm>
            <a:off x="9144000" y="3556000"/>
            <a:ext cx="1905000" cy="736600"/>
          </a:xfrm>
          <a:prstGeom prst="roundRect">
            <a:avLst/>
          </a:prstGeom>
          <a:solidFill>
            <a:srgbClr val="23B26D"/>
          </a:solidFill>
          <a:ln w="13970">
            <a:solidFill>
              <a:srgbClr val="23B26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600" b="1">
                <a:solidFill>
                  <a:srgbClr val="09243D"/>
                </a:solidFill>
                <a:latin typeface="Microsoft YaHei" panose="020B0503020204020204" pitchFamily="34" charset="-122"/>
              </a:rPr>
              <a:t>三方通过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6A3D307-20AA-74A7-3F27-8AD88001EC93}"/>
              </a:ext>
            </a:extLst>
          </p:cNvPr>
          <p:cNvSpPr txBox="1"/>
          <p:nvPr/>
        </p:nvSpPr>
        <p:spPr>
          <a:xfrm>
            <a:off x="914400" y="5384800"/>
            <a:ext cx="7112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100">
                <a:solidFill>
                  <a:srgbClr val="7F98A9"/>
                </a:solidFill>
                <a:latin typeface="Microsoft YaHei" panose="020B0503020204020204" pitchFamily="34" charset="-122"/>
              </a:rPr>
              <a:t>赛题：</a:t>
            </a:r>
            <a:r>
              <a:rPr lang="en-US" altLang="zh-CN" sz="1100">
                <a:solidFill>
                  <a:srgbClr val="7F98A9"/>
                </a:solidFill>
                <a:latin typeface="Microsoft YaHei" panose="020B0503020204020204" pitchFamily="34" charset="-122"/>
              </a:rPr>
              <a:t>2026 OS </a:t>
            </a:r>
            <a:r>
              <a:rPr lang="zh-CN" altLang="en-US" sz="1100">
                <a:solidFill>
                  <a:srgbClr val="7F98A9"/>
                </a:solidFill>
                <a:latin typeface="Microsoft YaHei" panose="020B0503020204020204" pitchFamily="34" charset="-122"/>
              </a:rPr>
              <a:t>功能挑战赛道 </a:t>
            </a:r>
            <a:r>
              <a:rPr lang="en-US" altLang="zh-CN" sz="1100">
                <a:solidFill>
                  <a:srgbClr val="7F98A9"/>
                </a:solidFill>
                <a:latin typeface="Microsoft YaHei" panose="020B0503020204020204" pitchFamily="34" charset="-122"/>
              </a:rPr>
              <a:t>proj54</a:t>
            </a:r>
            <a:endParaRPr lang="zh-CN" altLang="en-US" sz="1100">
              <a:solidFill>
                <a:srgbClr val="7F98A9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B105C53-8882-4E21-E38E-7BE1F5811DF1}"/>
              </a:ext>
            </a:extLst>
          </p:cNvPr>
          <p:cNvSpPr txBox="1"/>
          <p:nvPr/>
        </p:nvSpPr>
        <p:spPr>
          <a:xfrm>
            <a:off x="914400" y="5740400"/>
            <a:ext cx="7112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100">
                <a:solidFill>
                  <a:srgbClr val="7F98A9"/>
                </a:solidFill>
                <a:latin typeface="Microsoft YaHei" panose="020B0503020204020204" pitchFamily="34" charset="-122"/>
              </a:rPr>
              <a:t>队伍：中国海洋大学“蓝色系统队”</a:t>
            </a:r>
          </a:p>
        </p:txBody>
      </p:sp>
    </p:spTree>
    <p:extLst>
      <p:ext uri="{BB962C8B-B14F-4D97-AF65-F5344CB8AC3E}">
        <p14:creationId xmlns:p14="http://schemas.microsoft.com/office/powerpoint/2010/main" val="20318225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49D83675-E0A0-236C-CF6E-52909B95C4F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F8FC"/>
          </a:solidFill>
          <a:ln>
            <a:solidFill>
              <a:srgbClr val="EEF8F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FA2BE58-B7D2-C670-CEAC-BC7815E1BD01}"/>
              </a:ext>
            </a:extLst>
          </p:cNvPr>
          <p:cNvSpPr/>
          <p:nvPr/>
        </p:nvSpPr>
        <p:spPr>
          <a:xfrm>
            <a:off x="0" y="0"/>
            <a:ext cx="1625600" cy="6858000"/>
          </a:xfrm>
          <a:prstGeom prst="rect">
            <a:avLst/>
          </a:prstGeom>
          <a:solidFill>
            <a:srgbClr val="061B33"/>
          </a:solidFill>
          <a:ln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2635A55-ACF1-F470-BAB8-C2AB1AA77ED0}"/>
              </a:ext>
            </a:extLst>
          </p:cNvPr>
          <p:cNvSpPr/>
          <p:nvPr/>
        </p:nvSpPr>
        <p:spPr>
          <a:xfrm>
            <a:off x="1625600" y="0"/>
            <a:ext cx="76200" cy="6858000"/>
          </a:xfrm>
          <a:prstGeom prst="rect">
            <a:avLst/>
          </a:prstGeom>
          <a:solidFill>
            <a:srgbClr val="19D3E6"/>
          </a:solidFill>
          <a:ln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3EE4469-EA96-7C3A-E938-F161D31B8CC3}"/>
              </a:ext>
            </a:extLst>
          </p:cNvPr>
          <p:cNvSpPr txBox="1"/>
          <p:nvPr/>
        </p:nvSpPr>
        <p:spPr>
          <a:xfrm>
            <a:off x="2006600" y="431800"/>
            <a:ext cx="75565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500" b="1">
                <a:solidFill>
                  <a:srgbClr val="09243D"/>
                </a:solidFill>
                <a:latin typeface="Microsoft YaHei" panose="020B0503020204020204" pitchFamily="34" charset="-122"/>
              </a:rPr>
              <a:t>评分口径决定路线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17BA5F8-D9D4-7EFD-D798-EFA929FD2503}"/>
              </a:ext>
            </a:extLst>
          </p:cNvPr>
          <p:cNvSpPr txBox="1"/>
          <p:nvPr/>
        </p:nvSpPr>
        <p:spPr>
          <a:xfrm>
            <a:off x="889000" y="457200"/>
            <a:ext cx="4826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1700" b="1">
                <a:solidFill>
                  <a:srgbClr val="7CE8F2"/>
                </a:solidFill>
                <a:latin typeface="Microsoft YaHei" panose="020B0503020204020204" pitchFamily="34" charset="-122"/>
              </a:rPr>
              <a:t>02</a:t>
            </a:r>
            <a:endParaRPr lang="zh-CN" altLang="en-US" sz="1700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1986F58-B2C5-918D-E87C-C258090996C5}"/>
              </a:ext>
            </a:extLst>
          </p:cNvPr>
          <p:cNvSpPr txBox="1"/>
          <p:nvPr/>
        </p:nvSpPr>
        <p:spPr>
          <a:xfrm>
            <a:off x="2006600" y="1117600"/>
            <a:ext cx="8382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500">
                <a:solidFill>
                  <a:srgbClr val="09243D"/>
                </a:solidFill>
                <a:latin typeface="Microsoft YaHei" panose="020B0503020204020204" pitchFamily="34" charset="-122"/>
              </a:rPr>
              <a:t>这个赛题不是 </a:t>
            </a:r>
            <a:r>
              <a:rPr lang="en-US" altLang="zh-CN" sz="1500">
                <a:solidFill>
                  <a:srgbClr val="09243D"/>
                </a:solidFill>
                <a:latin typeface="Microsoft YaHei" panose="020B0503020204020204" pitchFamily="34" charset="-122"/>
              </a:rPr>
              <a:t>LTP </a:t>
            </a:r>
            <a:r>
              <a:rPr lang="zh-CN" altLang="en-US" sz="1500">
                <a:solidFill>
                  <a:srgbClr val="09243D"/>
                </a:solidFill>
                <a:latin typeface="Microsoft YaHei" panose="020B0503020204020204" pitchFamily="34" charset="-122"/>
              </a:rPr>
              <a:t>刷分赛道，官方评价把源代码执行、文档、答辩过程和演示材料放在同一条线上。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213A9D80-C89E-08AB-6057-E8D230270740}"/>
              </a:ext>
            </a:extLst>
          </p:cNvPr>
          <p:cNvSpPr/>
          <p:nvPr/>
        </p:nvSpPr>
        <p:spPr>
          <a:xfrm>
            <a:off x="2082800" y="2349500"/>
            <a:ext cx="2603500" cy="482600"/>
          </a:xfrm>
          <a:prstGeom prst="roundRect">
            <a:avLst/>
          </a:prstGeom>
          <a:solidFill>
            <a:srgbClr val="061B33"/>
          </a:solidFill>
          <a:ln w="13970"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500" b="1">
                <a:solidFill>
                  <a:srgbClr val="FFFFFF"/>
                </a:solidFill>
                <a:latin typeface="Microsoft YaHei" panose="020B0503020204020204" pitchFamily="34" charset="-122"/>
              </a:rPr>
              <a:t>初赛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FE15E8DD-6089-9F4D-C7AE-F2519B12FDF0}"/>
              </a:ext>
            </a:extLst>
          </p:cNvPr>
          <p:cNvSpPr/>
          <p:nvPr/>
        </p:nvSpPr>
        <p:spPr>
          <a:xfrm>
            <a:off x="2082800" y="2984500"/>
            <a:ext cx="2603500" cy="16510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源代码执行 </a:t>
            </a:r>
            <a:r>
              <a:rPr lang="en-US" altLang="zh-CN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50%</a:t>
            </a:r>
          </a:p>
          <a:p>
            <a:pPr algn="ctr"/>
            <a:r>
              <a:rPr lang="zh-CN" altLang="en-US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文档展示 </a:t>
            </a:r>
            <a:r>
              <a:rPr lang="en-US" altLang="zh-CN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50%</a:t>
            </a:r>
            <a:endParaRPr lang="zh-CN" altLang="en-US" sz="140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C208BB2D-50E4-353B-0D5B-A9B4FC30A29B}"/>
              </a:ext>
            </a:extLst>
          </p:cNvPr>
          <p:cNvSpPr/>
          <p:nvPr/>
        </p:nvSpPr>
        <p:spPr>
          <a:xfrm>
            <a:off x="5207000" y="2349500"/>
            <a:ext cx="2603500" cy="482600"/>
          </a:xfrm>
          <a:prstGeom prst="roundRect">
            <a:avLst/>
          </a:prstGeom>
          <a:solidFill>
            <a:srgbClr val="061B33"/>
          </a:solidFill>
          <a:ln w="13970"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500" b="1">
                <a:solidFill>
                  <a:srgbClr val="FFFFFF"/>
                </a:solidFill>
                <a:latin typeface="Microsoft YaHei" panose="020B0503020204020204" pitchFamily="34" charset="-122"/>
              </a:rPr>
              <a:t>决赛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C9D5C731-B6EA-976A-E343-A7D4804B600B}"/>
              </a:ext>
            </a:extLst>
          </p:cNvPr>
          <p:cNvSpPr/>
          <p:nvPr/>
        </p:nvSpPr>
        <p:spPr>
          <a:xfrm>
            <a:off x="5207000" y="2984500"/>
            <a:ext cx="2603500" cy="16510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C6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初赛成绩 </a:t>
            </a:r>
            <a:r>
              <a:rPr lang="en-US" altLang="zh-CN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20%</a:t>
            </a:r>
          </a:p>
          <a:p>
            <a:pPr algn="ctr"/>
            <a:r>
              <a:rPr lang="zh-CN" altLang="en-US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决赛表现 </a:t>
            </a:r>
            <a:r>
              <a:rPr lang="en-US" altLang="zh-CN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80%</a:t>
            </a:r>
            <a:endParaRPr lang="zh-CN" altLang="en-US" sz="140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04C5FC0D-D1FF-0FF6-B0F0-17BA01586394}"/>
              </a:ext>
            </a:extLst>
          </p:cNvPr>
          <p:cNvSpPr/>
          <p:nvPr/>
        </p:nvSpPr>
        <p:spPr>
          <a:xfrm>
            <a:off x="8331200" y="2349500"/>
            <a:ext cx="2603500" cy="482600"/>
          </a:xfrm>
          <a:prstGeom prst="roundRect">
            <a:avLst/>
          </a:prstGeom>
          <a:solidFill>
            <a:srgbClr val="061B33"/>
          </a:solidFill>
          <a:ln w="13970"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500" b="1">
                <a:solidFill>
                  <a:srgbClr val="FFFFFF"/>
                </a:solidFill>
                <a:latin typeface="Microsoft YaHei" panose="020B0503020204020204" pitchFamily="34" charset="-122"/>
              </a:rPr>
              <a:t>决赛阶段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3B34170F-11EA-FE97-D9A6-FE4C8E86347D}"/>
              </a:ext>
            </a:extLst>
          </p:cNvPr>
          <p:cNvSpPr/>
          <p:nvPr/>
        </p:nvSpPr>
        <p:spPr>
          <a:xfrm>
            <a:off x="8331200" y="2984500"/>
            <a:ext cx="2603500" cy="16510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23B26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执行展示 </a:t>
            </a:r>
            <a:r>
              <a:rPr lang="en-US" altLang="zh-CN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15%</a:t>
            </a:r>
          </a:p>
          <a:p>
            <a:pPr algn="ctr"/>
            <a:r>
              <a:rPr lang="zh-CN" altLang="en-US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设计文档 </a:t>
            </a:r>
            <a:r>
              <a:rPr lang="en-US" altLang="zh-CN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25%</a:t>
            </a:r>
          </a:p>
          <a:p>
            <a:pPr algn="ctr"/>
            <a:r>
              <a:rPr lang="zh-CN" altLang="en-US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答辩</a:t>
            </a:r>
            <a:r>
              <a:rPr lang="en-US" altLang="zh-CN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过程</a:t>
            </a:r>
            <a:r>
              <a:rPr lang="en-US" altLang="zh-CN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源码</a:t>
            </a:r>
            <a:r>
              <a:rPr lang="en-US" altLang="zh-CN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/PPT/</a:t>
            </a:r>
            <a:r>
              <a:rPr lang="zh-CN" altLang="en-US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视频 </a:t>
            </a:r>
            <a:r>
              <a:rPr lang="en-US" altLang="zh-CN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40%</a:t>
            </a:r>
            <a:endParaRPr lang="zh-CN" altLang="en-US" sz="140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92A4F831-B355-9E84-E630-71D0805158BC}"/>
              </a:ext>
            </a:extLst>
          </p:cNvPr>
          <p:cNvSpPr/>
          <p:nvPr/>
        </p:nvSpPr>
        <p:spPr>
          <a:xfrm>
            <a:off x="2895600" y="5270500"/>
            <a:ext cx="7048500" cy="609600"/>
          </a:xfrm>
          <a:prstGeom prst="roundRect">
            <a:avLst/>
          </a:prstGeom>
          <a:solidFill>
            <a:srgbClr val="061B33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400" b="1">
                <a:solidFill>
                  <a:srgbClr val="FFFFFF"/>
                </a:solidFill>
                <a:latin typeface="Microsoft YaHei" panose="020B0503020204020204" pitchFamily="34" charset="-122"/>
              </a:rPr>
              <a:t>我们的路线：代码功能适度，文档体系完整，复现证据可核验</a:t>
            </a:r>
          </a:p>
        </p:txBody>
      </p:sp>
    </p:spTree>
    <p:extLst>
      <p:ext uri="{BB962C8B-B14F-4D97-AF65-F5344CB8AC3E}">
        <p14:creationId xmlns:p14="http://schemas.microsoft.com/office/powerpoint/2010/main" val="12522563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DA79FE8-CF63-F07D-78C6-7F8DB786D69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B33"/>
          </a:solidFill>
          <a:ln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D0B7127-AD90-552C-CDE1-D871933482F7}"/>
              </a:ext>
            </a:extLst>
          </p:cNvPr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19D3E6"/>
          </a:solidFill>
          <a:ln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853E130-C83B-B40B-F38B-B82F0C120E9D}"/>
              </a:ext>
            </a:extLst>
          </p:cNvPr>
          <p:cNvSpPr/>
          <p:nvPr/>
        </p:nvSpPr>
        <p:spPr>
          <a:xfrm>
            <a:off x="10033000" y="0"/>
            <a:ext cx="2159000" cy="6858000"/>
          </a:xfrm>
          <a:prstGeom prst="rect">
            <a:avLst/>
          </a:prstGeom>
          <a:solidFill>
            <a:srgbClr val="082846"/>
          </a:solidFill>
          <a:ln>
            <a:solidFill>
              <a:srgbClr val="0828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DA31D88-0FED-4201-E86A-D9E39297B5ED}"/>
              </a:ext>
            </a:extLst>
          </p:cNvPr>
          <p:cNvSpPr txBox="1"/>
          <p:nvPr/>
        </p:nvSpPr>
        <p:spPr>
          <a:xfrm>
            <a:off x="660400" y="431800"/>
            <a:ext cx="711200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600" b="1">
                <a:solidFill>
                  <a:srgbClr val="FFFFFF"/>
                </a:solidFill>
                <a:latin typeface="Microsoft YaHei" panose="020B0503020204020204" pitchFamily="34" charset="-122"/>
              </a:rPr>
              <a:t>复现才是第一道坎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ABD4BF3-E626-EE23-A2B5-267FE8B2E02B}"/>
              </a:ext>
            </a:extLst>
          </p:cNvPr>
          <p:cNvSpPr txBox="1"/>
          <p:nvPr/>
        </p:nvSpPr>
        <p:spPr>
          <a:xfrm>
            <a:off x="10972800" y="431800"/>
            <a:ext cx="584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altLang="zh-CN" b="1">
                <a:solidFill>
                  <a:srgbClr val="7CE8F2"/>
                </a:solidFill>
                <a:latin typeface="Microsoft YaHei" panose="020B0503020204020204" pitchFamily="34" charset="-122"/>
              </a:rPr>
              <a:t>03</a:t>
            </a:r>
            <a:endParaRPr lang="zh-CN" altLang="en-US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9F1F51B-AD60-546F-7008-92D6F22106E7}"/>
              </a:ext>
            </a:extLst>
          </p:cNvPr>
          <p:cNvSpPr txBox="1"/>
          <p:nvPr/>
        </p:nvSpPr>
        <p:spPr>
          <a:xfrm>
            <a:off x="685800" y="1092200"/>
            <a:ext cx="7747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500">
                <a:solidFill>
                  <a:srgbClr val="EEF8FC"/>
                </a:solidFill>
                <a:latin typeface="Microsoft YaHei" panose="020B0503020204020204" pitchFamily="34" charset="-122"/>
              </a:rPr>
              <a:t>真实教学场景里，学生和队友最容易卡在环境、补丁顺序、</a:t>
            </a:r>
            <a:r>
              <a:rPr lang="en-US" altLang="zh-CN" sz="1500">
                <a:solidFill>
                  <a:srgbClr val="EEF8FC"/>
                </a:solidFill>
                <a:latin typeface="Microsoft YaHei" panose="020B0503020204020204" pitchFamily="34" charset="-122"/>
              </a:rPr>
              <a:t>QEMU</a:t>
            </a:r>
            <a:r>
              <a:rPr lang="zh-CN" altLang="en-US" sz="1500">
                <a:solidFill>
                  <a:srgbClr val="EEF8FC"/>
                </a:solidFill>
                <a:latin typeface="Microsoft YaHei" panose="020B0503020204020204" pitchFamily="34" charset="-122"/>
              </a:rPr>
              <a:t>、日志和验收口径。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83F0A11D-81F6-8F21-DFA2-6E09F50EB218}"/>
              </a:ext>
            </a:extLst>
          </p:cNvPr>
          <p:cNvSpPr/>
          <p:nvPr/>
        </p:nvSpPr>
        <p:spPr>
          <a:xfrm>
            <a:off x="914400" y="2260600"/>
            <a:ext cx="1422400" cy="609600"/>
          </a:xfrm>
          <a:prstGeom prst="roundRect">
            <a:avLst/>
          </a:prstGeom>
          <a:solidFill>
            <a:srgbClr val="0E3D5D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500" b="1">
                <a:solidFill>
                  <a:srgbClr val="FFFFFF"/>
                </a:solidFill>
                <a:latin typeface="Microsoft YaHei" panose="020B0503020204020204" pitchFamily="34" charset="-122"/>
              </a:rPr>
              <a:t>环境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9247DC42-9A99-F829-9CDC-560471E1F09B}"/>
              </a:ext>
            </a:extLst>
          </p:cNvPr>
          <p:cNvSpPr/>
          <p:nvPr/>
        </p:nvSpPr>
        <p:spPr>
          <a:xfrm>
            <a:off x="914400" y="3073400"/>
            <a:ext cx="1422400" cy="1092200"/>
          </a:xfrm>
          <a:prstGeom prst="roundRect">
            <a:avLst/>
          </a:prstGeom>
          <a:solidFill>
            <a:srgbClr val="082846"/>
          </a:solidFill>
          <a:ln w="13970">
            <a:solidFill>
              <a:srgbClr val="0E3D5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950">
                <a:solidFill>
                  <a:srgbClr val="EEF8FC"/>
                </a:solidFill>
                <a:latin typeface="Microsoft YaHei" panose="020B0503020204020204" pitchFamily="34" charset="-122"/>
              </a:rPr>
              <a:t>环境：</a:t>
            </a:r>
            <a:r>
              <a:rPr lang="en-US" altLang="zh-CN" sz="950">
                <a:solidFill>
                  <a:srgbClr val="EEF8FC"/>
                </a:solidFill>
                <a:latin typeface="Microsoft YaHei" panose="020B0503020204020204" pitchFamily="34" charset="-122"/>
              </a:rPr>
              <a:t>WSL</a:t>
            </a:r>
            <a:r>
              <a:rPr lang="zh-CN" altLang="en-US" sz="950">
                <a:solidFill>
                  <a:srgbClr val="EEF8FC"/>
                </a:solidFill>
                <a:latin typeface="Microsoft YaHei" panose="020B0503020204020204" pitchFamily="34" charset="-122"/>
              </a:rPr>
              <a:t>、</a:t>
            </a:r>
            <a:r>
              <a:rPr lang="en-US" altLang="zh-CN" sz="950">
                <a:solidFill>
                  <a:srgbClr val="EEF8FC"/>
                </a:solidFill>
                <a:latin typeface="Microsoft YaHei" panose="020B0503020204020204" pitchFamily="34" charset="-122"/>
              </a:rPr>
              <a:t>RISC-V </a:t>
            </a:r>
            <a:r>
              <a:rPr lang="zh-CN" altLang="en-US" sz="950">
                <a:solidFill>
                  <a:srgbClr val="EEF8FC"/>
                </a:solidFill>
                <a:latin typeface="Microsoft YaHei" panose="020B0503020204020204" pitchFamily="34" charset="-122"/>
              </a:rPr>
              <a:t>工具链、</a:t>
            </a:r>
            <a:r>
              <a:rPr lang="en-US" altLang="zh-CN" sz="950">
                <a:solidFill>
                  <a:srgbClr val="EEF8FC"/>
                </a:solidFill>
                <a:latin typeface="Microsoft YaHei" panose="020B0503020204020204" pitchFamily="34" charset="-122"/>
              </a:rPr>
              <a:t>QEMU </a:t>
            </a:r>
            <a:r>
              <a:rPr lang="zh-CN" altLang="en-US" sz="950">
                <a:solidFill>
                  <a:srgbClr val="EEF8FC"/>
                </a:solidFill>
                <a:latin typeface="Microsoft YaHei" panose="020B0503020204020204" pitchFamily="34" charset="-122"/>
              </a:rPr>
              <a:t>版本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2ABE4BAE-DEF5-A8F3-B282-5214C704E558}"/>
              </a:ext>
            </a:extLst>
          </p:cNvPr>
          <p:cNvSpPr/>
          <p:nvPr/>
        </p:nvSpPr>
        <p:spPr>
          <a:xfrm>
            <a:off x="2717800" y="2260600"/>
            <a:ext cx="1422400" cy="609600"/>
          </a:xfrm>
          <a:prstGeom prst="roundRect">
            <a:avLst/>
          </a:prstGeom>
          <a:solidFill>
            <a:srgbClr val="0E3D5D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500" b="1">
                <a:solidFill>
                  <a:srgbClr val="FFFFFF"/>
                </a:solidFill>
                <a:latin typeface="Microsoft YaHei" panose="020B0503020204020204" pitchFamily="34" charset="-122"/>
              </a:rPr>
              <a:t>过程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3A2B0BB8-D7BF-5906-5922-B1A7A54B5F3D}"/>
              </a:ext>
            </a:extLst>
          </p:cNvPr>
          <p:cNvSpPr/>
          <p:nvPr/>
        </p:nvSpPr>
        <p:spPr>
          <a:xfrm>
            <a:off x="2717800" y="3073400"/>
            <a:ext cx="1422400" cy="1092200"/>
          </a:xfrm>
          <a:prstGeom prst="roundRect">
            <a:avLst/>
          </a:prstGeom>
          <a:solidFill>
            <a:srgbClr val="082846"/>
          </a:solidFill>
          <a:ln w="13970">
            <a:solidFill>
              <a:srgbClr val="0E3D5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950">
                <a:solidFill>
                  <a:srgbClr val="EEF8FC"/>
                </a:solidFill>
                <a:latin typeface="Microsoft YaHei" panose="020B0503020204020204" pitchFamily="34" charset="-122"/>
              </a:rPr>
              <a:t>过程：应用补丁、编译、启动、运行命令容易混在一起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2B9FBC85-4639-BC25-0CB4-AD2929CC727D}"/>
              </a:ext>
            </a:extLst>
          </p:cNvPr>
          <p:cNvSpPr/>
          <p:nvPr/>
        </p:nvSpPr>
        <p:spPr>
          <a:xfrm>
            <a:off x="4521200" y="2260600"/>
            <a:ext cx="1422400" cy="609600"/>
          </a:xfrm>
          <a:prstGeom prst="roundRect">
            <a:avLst/>
          </a:prstGeom>
          <a:solidFill>
            <a:srgbClr val="0E3D5D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500" b="1">
                <a:solidFill>
                  <a:srgbClr val="FFFFFF"/>
                </a:solidFill>
                <a:latin typeface="Microsoft YaHei" panose="020B0503020204020204" pitchFamily="34" charset="-122"/>
              </a:rPr>
              <a:t>运行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DFC09D55-2B83-8E37-8C4B-73C1102FFE8A}"/>
              </a:ext>
            </a:extLst>
          </p:cNvPr>
          <p:cNvSpPr/>
          <p:nvPr/>
        </p:nvSpPr>
        <p:spPr>
          <a:xfrm>
            <a:off x="4521200" y="3073400"/>
            <a:ext cx="1422400" cy="1092200"/>
          </a:xfrm>
          <a:prstGeom prst="roundRect">
            <a:avLst/>
          </a:prstGeom>
          <a:solidFill>
            <a:srgbClr val="082846"/>
          </a:solidFill>
          <a:ln w="13970">
            <a:solidFill>
              <a:srgbClr val="0E3D5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950">
                <a:solidFill>
                  <a:srgbClr val="EEF8FC"/>
                </a:solidFill>
                <a:latin typeface="Microsoft YaHei" panose="020B0503020204020204" pitchFamily="34" charset="-122"/>
              </a:rPr>
              <a:t>运行：</a:t>
            </a:r>
            <a:r>
              <a:rPr lang="en-US" altLang="zh-CN" sz="950">
                <a:solidFill>
                  <a:srgbClr val="EEF8FC"/>
                </a:solidFill>
                <a:latin typeface="Microsoft YaHei" panose="020B0503020204020204" pitchFamily="34" charset="-122"/>
              </a:rPr>
              <a:t>Ctrl+Z </a:t>
            </a:r>
            <a:r>
              <a:rPr lang="zh-CN" altLang="en-US" sz="950">
                <a:solidFill>
                  <a:srgbClr val="EEF8FC"/>
                </a:solidFill>
                <a:latin typeface="Microsoft YaHei" panose="020B0503020204020204" pitchFamily="34" charset="-122"/>
              </a:rPr>
              <a:t>会挂起 </a:t>
            </a:r>
            <a:r>
              <a:rPr lang="en-US" altLang="zh-CN" sz="950">
                <a:solidFill>
                  <a:srgbClr val="EEF8FC"/>
                </a:solidFill>
                <a:latin typeface="Microsoft YaHei" panose="020B0503020204020204" pitchFamily="34" charset="-122"/>
              </a:rPr>
              <a:t>QEMU</a:t>
            </a:r>
            <a:r>
              <a:rPr lang="zh-CN" altLang="en-US" sz="950">
                <a:solidFill>
                  <a:srgbClr val="EEF8FC"/>
                </a:solidFill>
                <a:latin typeface="Microsoft YaHei" panose="020B0503020204020204" pitchFamily="34" charset="-122"/>
              </a:rPr>
              <a:t>，不是退出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53F6AE69-620C-B027-0DB4-6D818F3C1ABD}"/>
              </a:ext>
            </a:extLst>
          </p:cNvPr>
          <p:cNvSpPr/>
          <p:nvPr/>
        </p:nvSpPr>
        <p:spPr>
          <a:xfrm>
            <a:off x="6324600" y="2260600"/>
            <a:ext cx="1422400" cy="609600"/>
          </a:xfrm>
          <a:prstGeom prst="roundRect">
            <a:avLst/>
          </a:prstGeom>
          <a:solidFill>
            <a:srgbClr val="0E3D5D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500" b="1">
                <a:solidFill>
                  <a:srgbClr val="FFFFFF"/>
                </a:solidFill>
                <a:latin typeface="Microsoft YaHei" panose="020B0503020204020204" pitchFamily="34" charset="-122"/>
              </a:rPr>
              <a:t>证据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072A8661-A487-D17A-CFA1-3CECF2480107}"/>
              </a:ext>
            </a:extLst>
          </p:cNvPr>
          <p:cNvSpPr/>
          <p:nvPr/>
        </p:nvSpPr>
        <p:spPr>
          <a:xfrm>
            <a:off x="6324600" y="3073400"/>
            <a:ext cx="1422400" cy="1092200"/>
          </a:xfrm>
          <a:prstGeom prst="roundRect">
            <a:avLst/>
          </a:prstGeom>
          <a:solidFill>
            <a:srgbClr val="082846"/>
          </a:solidFill>
          <a:ln w="13970">
            <a:solidFill>
              <a:srgbClr val="0E3D5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950">
                <a:solidFill>
                  <a:srgbClr val="EEF8FC"/>
                </a:solidFill>
                <a:latin typeface="Microsoft YaHei" panose="020B0503020204020204" pitchFamily="34" charset="-122"/>
              </a:rPr>
              <a:t>证据：截图不能替代摘要、命令和 </a:t>
            </a:r>
            <a:r>
              <a:rPr lang="en-US" altLang="zh-CN" sz="950">
                <a:solidFill>
                  <a:srgbClr val="EEF8FC"/>
                </a:solidFill>
                <a:latin typeface="Microsoft YaHei" panose="020B0503020204020204" pitchFamily="34" charset="-122"/>
              </a:rPr>
              <a:t>SHA256</a:t>
            </a:r>
            <a:endParaRPr lang="zh-CN" altLang="en-US" sz="950">
              <a:solidFill>
                <a:srgbClr val="EEF8FC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DB06E10F-01AF-F793-55D8-30DF975A814D}"/>
              </a:ext>
            </a:extLst>
          </p:cNvPr>
          <p:cNvSpPr/>
          <p:nvPr/>
        </p:nvSpPr>
        <p:spPr>
          <a:xfrm>
            <a:off x="1168400" y="5029200"/>
            <a:ext cx="1168400" cy="5334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环境检查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E9C13F2D-F3CE-B251-98C5-88E6CAB41F11}"/>
              </a:ext>
            </a:extLst>
          </p:cNvPr>
          <p:cNvSpPr txBox="1"/>
          <p:nvPr/>
        </p:nvSpPr>
        <p:spPr>
          <a:xfrm>
            <a:off x="2387600" y="5118100"/>
            <a:ext cx="279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b="1">
                <a:solidFill>
                  <a:srgbClr val="7CE8F2"/>
                </a:solidFill>
                <a:latin typeface="Microsoft YaHei" panose="020B0503020204020204" pitchFamily="34" charset="-122"/>
              </a:rPr>
              <a:t>&gt;</a:t>
            </a:r>
            <a:endParaRPr lang="zh-CN" altLang="en-US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2E7146E6-1467-70BB-A666-B2569CBEF283}"/>
              </a:ext>
            </a:extLst>
          </p:cNvPr>
          <p:cNvSpPr/>
          <p:nvPr/>
        </p:nvSpPr>
        <p:spPr>
          <a:xfrm>
            <a:off x="2667000" y="5029200"/>
            <a:ext cx="1168400" cy="5334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应用编译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B260A40D-0B7B-021D-484E-9CFC778453E6}"/>
              </a:ext>
            </a:extLst>
          </p:cNvPr>
          <p:cNvSpPr txBox="1"/>
          <p:nvPr/>
        </p:nvSpPr>
        <p:spPr>
          <a:xfrm>
            <a:off x="3886200" y="5118100"/>
            <a:ext cx="279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b="1">
                <a:solidFill>
                  <a:srgbClr val="7CE8F2"/>
                </a:solidFill>
                <a:latin typeface="Microsoft YaHei" panose="020B0503020204020204" pitchFamily="34" charset="-122"/>
              </a:rPr>
              <a:t>&gt;</a:t>
            </a:r>
            <a:endParaRPr lang="zh-CN" altLang="en-US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7890C9C4-1AE6-5EFF-14A6-A15D18E355B3}"/>
              </a:ext>
            </a:extLst>
          </p:cNvPr>
          <p:cNvSpPr/>
          <p:nvPr/>
        </p:nvSpPr>
        <p:spPr>
          <a:xfrm>
            <a:off x="4165600" y="5029200"/>
            <a:ext cx="1168400" cy="5334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启动运行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447C5875-1E3D-526E-3267-8AE90249075C}"/>
              </a:ext>
            </a:extLst>
          </p:cNvPr>
          <p:cNvSpPr txBox="1"/>
          <p:nvPr/>
        </p:nvSpPr>
        <p:spPr>
          <a:xfrm>
            <a:off x="5384800" y="5118100"/>
            <a:ext cx="279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b="1">
                <a:solidFill>
                  <a:srgbClr val="7CE8F2"/>
                </a:solidFill>
                <a:latin typeface="Microsoft YaHei" panose="020B0503020204020204" pitchFamily="34" charset="-122"/>
              </a:rPr>
              <a:t>&gt;</a:t>
            </a:r>
            <a:endParaRPr lang="zh-CN" altLang="en-US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6019AE57-97CC-56AB-A6F0-8F0C2AB88A42}"/>
              </a:ext>
            </a:extLst>
          </p:cNvPr>
          <p:cNvSpPr/>
          <p:nvPr/>
        </p:nvSpPr>
        <p:spPr>
          <a:xfrm>
            <a:off x="5664200" y="5029200"/>
            <a:ext cx="1168400" cy="5334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摘要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3E836B7E-ED5A-C8BE-FA6B-4F26C0974542}"/>
              </a:ext>
            </a:extLst>
          </p:cNvPr>
          <p:cNvSpPr txBox="1"/>
          <p:nvPr/>
        </p:nvSpPr>
        <p:spPr>
          <a:xfrm>
            <a:off x="6883400" y="5118100"/>
            <a:ext cx="2794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b="1">
                <a:solidFill>
                  <a:srgbClr val="7CE8F2"/>
                </a:solidFill>
                <a:latin typeface="Microsoft YaHei" panose="020B0503020204020204" pitchFamily="34" charset="-122"/>
              </a:rPr>
              <a:t>&gt;</a:t>
            </a:r>
            <a:endParaRPr lang="zh-CN" altLang="en-US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36AF84E5-8C7D-65C8-C12A-A0A014DF3489}"/>
              </a:ext>
            </a:extLst>
          </p:cNvPr>
          <p:cNvSpPr/>
          <p:nvPr/>
        </p:nvSpPr>
        <p:spPr>
          <a:xfrm>
            <a:off x="7162800" y="5029200"/>
            <a:ext cx="1168400" cy="533400"/>
          </a:xfrm>
          <a:prstGeom prst="roundRect">
            <a:avLst/>
          </a:prstGeom>
          <a:solidFill>
            <a:srgbClr val="23B26D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100" b="1">
                <a:solidFill>
                  <a:srgbClr val="09243D"/>
                </a:solidFill>
                <a:latin typeface="Microsoft YaHei" panose="020B0503020204020204" pitchFamily="34" charset="-122"/>
              </a:rPr>
              <a:t>证据索引</a:t>
            </a:r>
          </a:p>
        </p:txBody>
      </p:sp>
    </p:spTree>
    <p:extLst>
      <p:ext uri="{BB962C8B-B14F-4D97-AF65-F5344CB8AC3E}">
        <p14:creationId xmlns:p14="http://schemas.microsoft.com/office/powerpoint/2010/main" val="16985433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C2DD82D5-8DB7-3B41-E73E-5EA7D9BBE2E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F8FC"/>
          </a:solidFill>
          <a:ln>
            <a:solidFill>
              <a:srgbClr val="EEF8F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F29530C-1F06-ED1F-AD00-F61B97B2B734}"/>
              </a:ext>
            </a:extLst>
          </p:cNvPr>
          <p:cNvSpPr/>
          <p:nvPr/>
        </p:nvSpPr>
        <p:spPr>
          <a:xfrm>
            <a:off x="0" y="0"/>
            <a:ext cx="1625600" cy="6858000"/>
          </a:xfrm>
          <a:prstGeom prst="rect">
            <a:avLst/>
          </a:prstGeom>
          <a:solidFill>
            <a:srgbClr val="061B33"/>
          </a:solidFill>
          <a:ln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A8D2977-E2F6-D45B-7280-5E2E5F48A596}"/>
              </a:ext>
            </a:extLst>
          </p:cNvPr>
          <p:cNvSpPr/>
          <p:nvPr/>
        </p:nvSpPr>
        <p:spPr>
          <a:xfrm>
            <a:off x="1625600" y="0"/>
            <a:ext cx="76200" cy="6858000"/>
          </a:xfrm>
          <a:prstGeom prst="rect">
            <a:avLst/>
          </a:prstGeom>
          <a:solidFill>
            <a:srgbClr val="19D3E6"/>
          </a:solidFill>
          <a:ln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91E46AA-62CF-1EFC-DAF9-705EBCEB81EF}"/>
              </a:ext>
            </a:extLst>
          </p:cNvPr>
          <p:cNvSpPr txBox="1"/>
          <p:nvPr/>
        </p:nvSpPr>
        <p:spPr>
          <a:xfrm>
            <a:off x="2006600" y="431800"/>
            <a:ext cx="75565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500" b="1">
                <a:solidFill>
                  <a:srgbClr val="09243D"/>
                </a:solidFill>
                <a:latin typeface="Microsoft YaHei" panose="020B0503020204020204" pitchFamily="34" charset="-122"/>
              </a:rPr>
              <a:t>项目定位：课程实验包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559A0F8-F7F5-D7F5-3359-5DAFFC6111EB}"/>
              </a:ext>
            </a:extLst>
          </p:cNvPr>
          <p:cNvSpPr txBox="1"/>
          <p:nvPr/>
        </p:nvSpPr>
        <p:spPr>
          <a:xfrm>
            <a:off x="889000" y="457200"/>
            <a:ext cx="4826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1700" b="1">
                <a:solidFill>
                  <a:srgbClr val="7CE8F2"/>
                </a:solidFill>
                <a:latin typeface="Microsoft YaHei" panose="020B0503020204020204" pitchFamily="34" charset="-122"/>
              </a:rPr>
              <a:t>04</a:t>
            </a:r>
            <a:endParaRPr lang="zh-CN" altLang="en-US" sz="1700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E81F967-9D1C-B88A-2276-2625B109BE66}"/>
              </a:ext>
            </a:extLst>
          </p:cNvPr>
          <p:cNvSpPr txBox="1"/>
          <p:nvPr/>
        </p:nvSpPr>
        <p:spPr>
          <a:xfrm>
            <a:off x="2006600" y="1117600"/>
            <a:ext cx="7874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500">
                <a:solidFill>
                  <a:srgbClr val="09243D"/>
                </a:solidFill>
                <a:latin typeface="Microsoft YaHei" panose="020B0503020204020204" pitchFamily="34" charset="-122"/>
              </a:rPr>
              <a:t>同一套仓库要让学生能学、老师能布置、助教能验收、评委能复现。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8D7A5063-97C4-1248-4440-3631C8E15160}"/>
              </a:ext>
            </a:extLst>
          </p:cNvPr>
          <p:cNvSpPr/>
          <p:nvPr/>
        </p:nvSpPr>
        <p:spPr>
          <a:xfrm>
            <a:off x="5232400" y="2857500"/>
            <a:ext cx="1905000" cy="1016000"/>
          </a:xfrm>
          <a:prstGeom prst="roundRect">
            <a:avLst/>
          </a:prstGeom>
          <a:solidFill>
            <a:srgbClr val="061B33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b="1">
                <a:solidFill>
                  <a:srgbClr val="FFFFFF"/>
                </a:solidFill>
                <a:latin typeface="Microsoft YaHei" panose="020B0503020204020204" pitchFamily="34" charset="-122"/>
              </a:rPr>
              <a:t>OUC xv6 </a:t>
            </a:r>
            <a:r>
              <a:rPr lang="zh-CN" altLang="en-US" b="1">
                <a:solidFill>
                  <a:srgbClr val="FFFFFF"/>
                </a:solidFill>
                <a:latin typeface="Microsoft YaHei" panose="020B0503020204020204" pitchFamily="34" charset="-122"/>
              </a:rPr>
              <a:t>实验包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DE843AF-60CB-0F3D-728D-7DC6745AAC0A}"/>
              </a:ext>
            </a:extLst>
          </p:cNvPr>
          <p:cNvSpPr/>
          <p:nvPr/>
        </p:nvSpPr>
        <p:spPr>
          <a:xfrm>
            <a:off x="2413000" y="2032000"/>
            <a:ext cx="1651000" cy="4572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500" b="1">
                <a:solidFill>
                  <a:srgbClr val="09243D"/>
                </a:solidFill>
                <a:latin typeface="Microsoft YaHei" panose="020B0503020204020204" pitchFamily="34" charset="-122"/>
              </a:rPr>
              <a:t>学生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E389DC9A-E733-590E-7880-D660D9D682D9}"/>
              </a:ext>
            </a:extLst>
          </p:cNvPr>
          <p:cNvSpPr/>
          <p:nvPr/>
        </p:nvSpPr>
        <p:spPr>
          <a:xfrm>
            <a:off x="2413000" y="2616200"/>
            <a:ext cx="2032000" cy="8890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050">
                <a:solidFill>
                  <a:srgbClr val="09243D"/>
                </a:solidFill>
                <a:latin typeface="Microsoft YaHei" panose="020B0503020204020204" pitchFamily="34" charset="-122"/>
              </a:rPr>
              <a:t>学生：</a:t>
            </a:r>
            <a:r>
              <a:rPr lang="en-US" altLang="zh-CN" sz="1050">
                <a:solidFill>
                  <a:srgbClr val="09243D"/>
                </a:solidFill>
                <a:latin typeface="Microsoft YaHei" panose="020B0503020204020204" pitchFamily="34" charset="-122"/>
              </a:rPr>
              <a:t>README</a:t>
            </a:r>
            <a:r>
              <a:rPr lang="zh-CN" altLang="en-US" sz="1050">
                <a:solidFill>
                  <a:srgbClr val="09243D"/>
                </a:solidFill>
                <a:latin typeface="Microsoft YaHei" panose="020B0503020204020204" pitchFamily="34" charset="-122"/>
              </a:rPr>
              <a:t>、</a:t>
            </a:r>
            <a:r>
              <a:rPr lang="en-US" altLang="zh-CN" sz="1050">
                <a:solidFill>
                  <a:srgbClr val="09243D"/>
                </a:solidFill>
                <a:latin typeface="Microsoft YaHei" panose="020B0503020204020204" pitchFamily="34" charset="-122"/>
              </a:rPr>
              <a:t>lab README</a:t>
            </a:r>
            <a:r>
              <a:rPr lang="zh-CN" altLang="en-US" sz="1050">
                <a:solidFill>
                  <a:srgbClr val="09243D"/>
                </a:solidFill>
                <a:latin typeface="Microsoft YaHei" panose="020B0503020204020204" pitchFamily="34" charset="-122"/>
              </a:rPr>
              <a:t>、</a:t>
            </a:r>
            <a:r>
              <a:rPr lang="en-US" altLang="zh-CN" sz="1050">
                <a:solidFill>
                  <a:srgbClr val="09243D"/>
                </a:solidFill>
                <a:latin typeface="Microsoft YaHei" panose="020B0503020204020204" pitchFamily="34" charset="-122"/>
              </a:rPr>
              <a:t>student_tasks</a:t>
            </a:r>
            <a:r>
              <a:rPr lang="zh-CN" altLang="en-US" sz="1050">
                <a:solidFill>
                  <a:srgbClr val="09243D"/>
                </a:solidFill>
                <a:latin typeface="Microsoft YaHei" panose="020B0503020204020204" pitchFamily="34" charset="-122"/>
              </a:rPr>
              <a:t>、预期输出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710D2C95-0E57-4EBE-91D0-373ADE35C176}"/>
              </a:ext>
            </a:extLst>
          </p:cNvPr>
          <p:cNvSpPr/>
          <p:nvPr/>
        </p:nvSpPr>
        <p:spPr>
          <a:xfrm>
            <a:off x="8026400" y="2032000"/>
            <a:ext cx="1651000" cy="4572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500" b="1">
                <a:solidFill>
                  <a:srgbClr val="09243D"/>
                </a:solidFill>
                <a:latin typeface="Microsoft YaHei" panose="020B0503020204020204" pitchFamily="34" charset="-122"/>
              </a:rPr>
              <a:t>老师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61B51659-B39E-B966-7E8C-D139EA40AAD5}"/>
              </a:ext>
            </a:extLst>
          </p:cNvPr>
          <p:cNvSpPr/>
          <p:nvPr/>
        </p:nvSpPr>
        <p:spPr>
          <a:xfrm>
            <a:off x="8026400" y="2616200"/>
            <a:ext cx="2032000" cy="8890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050">
                <a:solidFill>
                  <a:srgbClr val="09243D"/>
                </a:solidFill>
                <a:latin typeface="Microsoft YaHei" panose="020B0503020204020204" pitchFamily="34" charset="-122"/>
              </a:rPr>
              <a:t>老师：</a:t>
            </a:r>
            <a:r>
              <a:rPr lang="en-US" altLang="zh-CN" sz="1050">
                <a:solidFill>
                  <a:srgbClr val="09243D"/>
                </a:solidFill>
                <a:latin typeface="Microsoft YaHei" panose="020B0503020204020204" pitchFamily="34" charset="-122"/>
              </a:rPr>
              <a:t>teacher guide</a:t>
            </a:r>
            <a:r>
              <a:rPr lang="zh-CN" altLang="en-US" sz="1050">
                <a:solidFill>
                  <a:srgbClr val="09243D"/>
                </a:solidFill>
                <a:latin typeface="Microsoft YaHei" panose="020B0503020204020204" pitchFamily="34" charset="-122"/>
              </a:rPr>
              <a:t>、课程节奏、评分 </a:t>
            </a:r>
            <a:r>
              <a:rPr lang="en-US" altLang="zh-CN" sz="1050">
                <a:solidFill>
                  <a:srgbClr val="09243D"/>
                </a:solidFill>
                <a:latin typeface="Microsoft YaHei" panose="020B0503020204020204" pitchFamily="34" charset="-122"/>
              </a:rPr>
              <a:t>rubrics</a:t>
            </a:r>
            <a:endParaRPr lang="zh-CN" altLang="en-US" sz="1050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35027F12-CC2C-E307-766C-35F43548E97B}"/>
              </a:ext>
            </a:extLst>
          </p:cNvPr>
          <p:cNvSpPr/>
          <p:nvPr/>
        </p:nvSpPr>
        <p:spPr>
          <a:xfrm>
            <a:off x="2413000" y="4470400"/>
            <a:ext cx="1651000" cy="4572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500" b="1">
                <a:solidFill>
                  <a:srgbClr val="09243D"/>
                </a:solidFill>
                <a:latin typeface="Microsoft YaHei" panose="020B0503020204020204" pitchFamily="34" charset="-122"/>
              </a:rPr>
              <a:t>助教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F3998BBD-89F8-F3B4-DB15-D1924B87B570}"/>
              </a:ext>
            </a:extLst>
          </p:cNvPr>
          <p:cNvSpPr/>
          <p:nvPr/>
        </p:nvSpPr>
        <p:spPr>
          <a:xfrm>
            <a:off x="2413000" y="5054600"/>
            <a:ext cx="2032000" cy="8890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050">
                <a:solidFill>
                  <a:srgbClr val="09243D"/>
                </a:solidFill>
                <a:latin typeface="Microsoft YaHei" panose="020B0503020204020204" pitchFamily="34" charset="-122"/>
              </a:rPr>
              <a:t>助教：</a:t>
            </a:r>
            <a:r>
              <a:rPr lang="en-US" altLang="zh-CN" sz="1050">
                <a:solidFill>
                  <a:srgbClr val="09243D"/>
                </a:solidFill>
                <a:latin typeface="Microsoft YaHei" panose="020B0503020204020204" pitchFamily="34" charset="-122"/>
              </a:rPr>
              <a:t>labctl</a:t>
            </a:r>
            <a:r>
              <a:rPr lang="zh-CN" altLang="en-US" sz="1050">
                <a:solidFill>
                  <a:srgbClr val="09243D"/>
                </a:solidFill>
                <a:latin typeface="Microsoft YaHei" panose="020B0503020204020204" pitchFamily="34" charset="-122"/>
              </a:rPr>
              <a:t>、队友摘要、</a:t>
            </a:r>
            <a:r>
              <a:rPr lang="en-US" altLang="zh-CN" sz="1050">
                <a:solidFill>
                  <a:srgbClr val="09243D"/>
                </a:solidFill>
                <a:latin typeface="Microsoft YaHei" panose="020B0503020204020204" pitchFamily="34" charset="-122"/>
              </a:rPr>
              <a:t>grade-summaries</a:t>
            </a:r>
            <a:endParaRPr lang="zh-CN" altLang="en-US" sz="1050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CE390067-2D6F-FFF8-A0A0-E104AA247072}"/>
              </a:ext>
            </a:extLst>
          </p:cNvPr>
          <p:cNvSpPr/>
          <p:nvPr/>
        </p:nvSpPr>
        <p:spPr>
          <a:xfrm>
            <a:off x="8026400" y="4470400"/>
            <a:ext cx="1651000" cy="4572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500" b="1">
                <a:solidFill>
                  <a:srgbClr val="09243D"/>
                </a:solidFill>
                <a:latin typeface="Microsoft YaHei" panose="020B0503020204020204" pitchFamily="34" charset="-122"/>
              </a:rPr>
              <a:t>评委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40C8ECD2-0C48-9290-AAA4-CE57253C5185}"/>
              </a:ext>
            </a:extLst>
          </p:cNvPr>
          <p:cNvSpPr/>
          <p:nvPr/>
        </p:nvSpPr>
        <p:spPr>
          <a:xfrm>
            <a:off x="8026400" y="5054600"/>
            <a:ext cx="2032000" cy="8890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050">
                <a:solidFill>
                  <a:srgbClr val="09243D"/>
                </a:solidFill>
                <a:latin typeface="Microsoft YaHei" panose="020B0503020204020204" pitchFamily="34" charset="-122"/>
              </a:rPr>
              <a:t>评委：</a:t>
            </a:r>
            <a:r>
              <a:rPr lang="en-US" altLang="zh-CN" sz="1050">
                <a:solidFill>
                  <a:srgbClr val="09243D"/>
                </a:solidFill>
                <a:latin typeface="Microsoft YaHei" panose="020B0503020204020204" pitchFamily="34" charset="-122"/>
              </a:rPr>
              <a:t>docs/final</a:t>
            </a:r>
            <a:r>
              <a:rPr lang="zh-CN" altLang="en-US" sz="1050">
                <a:solidFill>
                  <a:srgbClr val="09243D"/>
                </a:solidFill>
                <a:latin typeface="Microsoft YaHei" panose="020B0503020204020204" pitchFamily="34" charset="-122"/>
              </a:rPr>
              <a:t>、证据索引、最终演示元数据</a:t>
            </a:r>
          </a:p>
        </p:txBody>
      </p:sp>
    </p:spTree>
    <p:extLst>
      <p:ext uri="{BB962C8B-B14F-4D97-AF65-F5344CB8AC3E}">
        <p14:creationId xmlns:p14="http://schemas.microsoft.com/office/powerpoint/2010/main" val="20484228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F048C080-2990-A098-21CE-3C320ED9B69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B33"/>
          </a:solidFill>
          <a:ln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0C189B0-E30A-714E-2584-B86929D090FB}"/>
              </a:ext>
            </a:extLst>
          </p:cNvPr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19D3E6"/>
          </a:solidFill>
          <a:ln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8BF5BFD-F0DA-EFED-54C9-1745505E888D}"/>
              </a:ext>
            </a:extLst>
          </p:cNvPr>
          <p:cNvSpPr/>
          <p:nvPr/>
        </p:nvSpPr>
        <p:spPr>
          <a:xfrm>
            <a:off x="10033000" y="0"/>
            <a:ext cx="2159000" cy="6858000"/>
          </a:xfrm>
          <a:prstGeom prst="rect">
            <a:avLst/>
          </a:prstGeom>
          <a:solidFill>
            <a:srgbClr val="082846"/>
          </a:solidFill>
          <a:ln>
            <a:solidFill>
              <a:srgbClr val="0828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D25A788-ED5F-3E41-BEBE-A25E2348A1C2}"/>
              </a:ext>
            </a:extLst>
          </p:cNvPr>
          <p:cNvSpPr txBox="1"/>
          <p:nvPr/>
        </p:nvSpPr>
        <p:spPr>
          <a:xfrm>
            <a:off x="660400" y="431800"/>
            <a:ext cx="711200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600" b="1">
                <a:solidFill>
                  <a:srgbClr val="FFFFFF"/>
                </a:solidFill>
                <a:latin typeface="Microsoft YaHei" panose="020B0503020204020204" pitchFamily="34" charset="-122"/>
              </a:rPr>
              <a:t>证据从干净基线开始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DB5863E-84AC-F138-9078-A11F9902B78A}"/>
              </a:ext>
            </a:extLst>
          </p:cNvPr>
          <p:cNvSpPr txBox="1"/>
          <p:nvPr/>
        </p:nvSpPr>
        <p:spPr>
          <a:xfrm>
            <a:off x="10972800" y="431800"/>
            <a:ext cx="584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altLang="zh-CN" b="1">
                <a:solidFill>
                  <a:srgbClr val="7CE8F2"/>
                </a:solidFill>
                <a:latin typeface="Microsoft YaHei" panose="020B0503020204020204" pitchFamily="34" charset="-122"/>
              </a:rPr>
              <a:t>05</a:t>
            </a:r>
            <a:endParaRPr lang="zh-CN" altLang="en-US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76CEA43-50B7-A70B-86DB-0E6FB45E65B1}"/>
              </a:ext>
            </a:extLst>
          </p:cNvPr>
          <p:cNvSpPr txBox="1"/>
          <p:nvPr/>
        </p:nvSpPr>
        <p:spPr>
          <a:xfrm>
            <a:off x="685800" y="1092200"/>
            <a:ext cx="7747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500">
                <a:solidFill>
                  <a:srgbClr val="EEF8FC"/>
                </a:solidFill>
                <a:latin typeface="Microsoft YaHei" panose="020B0503020204020204" pitchFamily="34" charset="-122"/>
              </a:rPr>
              <a:t>每次完整复现都从干净 </a:t>
            </a:r>
            <a:r>
              <a:rPr lang="en-US" altLang="zh-CN" sz="1500">
                <a:solidFill>
                  <a:srgbClr val="EEF8FC"/>
                </a:solidFill>
                <a:latin typeface="Microsoft YaHei" panose="020B0503020204020204" pitchFamily="34" charset="-122"/>
              </a:rPr>
              <a:t>xv6 baseline </a:t>
            </a:r>
            <a:r>
              <a:rPr lang="zh-CN" altLang="en-US" sz="1500">
                <a:solidFill>
                  <a:srgbClr val="EEF8FC"/>
                </a:solidFill>
                <a:latin typeface="Microsoft YaHei" panose="020B0503020204020204" pitchFamily="34" charset="-122"/>
              </a:rPr>
              <a:t>出发，补丁、验证和证据文件之间有清晰链路。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5E935D74-4C2C-D115-3F5B-CE3DABE5DDA0}"/>
              </a:ext>
            </a:extLst>
          </p:cNvPr>
          <p:cNvSpPr/>
          <p:nvPr/>
        </p:nvSpPr>
        <p:spPr>
          <a:xfrm>
            <a:off x="889000" y="3022600"/>
            <a:ext cx="1397000" cy="6604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C6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干净基线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37983ED-D64F-A578-9611-EE9E38970046}"/>
              </a:ext>
            </a:extLst>
          </p:cNvPr>
          <p:cNvSpPr txBox="1"/>
          <p:nvPr/>
        </p:nvSpPr>
        <p:spPr>
          <a:xfrm>
            <a:off x="2311400" y="3200400"/>
            <a:ext cx="304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b="1">
                <a:solidFill>
                  <a:srgbClr val="7CE8F2"/>
                </a:solidFill>
                <a:latin typeface="Microsoft YaHei" panose="020B0503020204020204" pitchFamily="34" charset="-122"/>
              </a:rPr>
              <a:t>&gt;</a:t>
            </a:r>
            <a:endParaRPr lang="zh-CN" altLang="en-US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9EB280CF-6BFC-E7C5-39EB-1143C4DE39AD}"/>
              </a:ext>
            </a:extLst>
          </p:cNvPr>
          <p:cNvSpPr/>
          <p:nvPr/>
        </p:nvSpPr>
        <p:spPr>
          <a:xfrm>
            <a:off x="2565400" y="3860800"/>
            <a:ext cx="1397000" cy="6604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C6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独立实验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0E4AEB0-3AFF-15A7-C23C-74EA0224557F}"/>
              </a:ext>
            </a:extLst>
          </p:cNvPr>
          <p:cNvSpPr txBox="1"/>
          <p:nvPr/>
        </p:nvSpPr>
        <p:spPr>
          <a:xfrm>
            <a:off x="3987800" y="4038600"/>
            <a:ext cx="304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b="1">
                <a:solidFill>
                  <a:srgbClr val="7CE8F2"/>
                </a:solidFill>
                <a:latin typeface="Microsoft YaHei" panose="020B0503020204020204" pitchFamily="34" charset="-122"/>
              </a:rPr>
              <a:t>&gt;</a:t>
            </a:r>
            <a:endParaRPr lang="zh-CN" altLang="en-US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D036D0CC-2BE9-2B89-6084-1A9BEB1CA3D6}"/>
              </a:ext>
            </a:extLst>
          </p:cNvPr>
          <p:cNvSpPr/>
          <p:nvPr/>
        </p:nvSpPr>
        <p:spPr>
          <a:xfrm>
            <a:off x="4241800" y="3022600"/>
            <a:ext cx="1397000" cy="6604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100" b="1">
                <a:solidFill>
                  <a:srgbClr val="09243D"/>
                </a:solidFill>
                <a:latin typeface="Microsoft YaHei" panose="020B0503020204020204" pitchFamily="34" charset="-122"/>
              </a:rPr>
              <a:t>集成 </a:t>
            </a:r>
            <a:r>
              <a:rPr lang="en-US" altLang="zh-CN" sz="1100" b="1">
                <a:solidFill>
                  <a:srgbClr val="09243D"/>
                </a:solidFill>
                <a:latin typeface="Microsoft YaHei" panose="020B0503020204020204" pitchFamily="34" charset="-122"/>
              </a:rPr>
              <a:t>0001-0009</a:t>
            </a:r>
            <a:endParaRPr lang="zh-CN" altLang="en-US" sz="110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DA4028F-4B8C-B79E-F8F8-905FD800D893}"/>
              </a:ext>
            </a:extLst>
          </p:cNvPr>
          <p:cNvSpPr txBox="1"/>
          <p:nvPr/>
        </p:nvSpPr>
        <p:spPr>
          <a:xfrm>
            <a:off x="5664200" y="3200400"/>
            <a:ext cx="304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b="1">
                <a:solidFill>
                  <a:srgbClr val="7CE8F2"/>
                </a:solidFill>
                <a:latin typeface="Microsoft YaHei" panose="020B0503020204020204" pitchFamily="34" charset="-122"/>
              </a:rPr>
              <a:t>&gt;</a:t>
            </a:r>
            <a:endParaRPr lang="zh-CN" altLang="en-US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16BD6A9A-5B88-46D0-C2BC-FA68C03EB12F}"/>
              </a:ext>
            </a:extLst>
          </p:cNvPr>
          <p:cNvSpPr/>
          <p:nvPr/>
        </p:nvSpPr>
        <p:spPr>
          <a:xfrm>
            <a:off x="5918200" y="3860800"/>
            <a:ext cx="1397000" cy="6604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C6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labctl / </a:t>
            </a:r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验证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F11D09F-B762-D2AA-16E1-37941B1278D0}"/>
              </a:ext>
            </a:extLst>
          </p:cNvPr>
          <p:cNvSpPr txBox="1"/>
          <p:nvPr/>
        </p:nvSpPr>
        <p:spPr>
          <a:xfrm>
            <a:off x="7340600" y="4038600"/>
            <a:ext cx="304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b="1">
                <a:solidFill>
                  <a:srgbClr val="7CE8F2"/>
                </a:solidFill>
                <a:latin typeface="Microsoft YaHei" panose="020B0503020204020204" pitchFamily="34" charset="-122"/>
              </a:rPr>
              <a:t>&gt;</a:t>
            </a:r>
            <a:endParaRPr lang="zh-CN" altLang="en-US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C92C179D-75FF-58E2-F570-EAD0B5724C51}"/>
              </a:ext>
            </a:extLst>
          </p:cNvPr>
          <p:cNvSpPr/>
          <p:nvPr/>
        </p:nvSpPr>
        <p:spPr>
          <a:xfrm>
            <a:off x="7594600" y="3022600"/>
            <a:ext cx="1397000" cy="6604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C6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摘要 </a:t>
            </a:r>
            <a:r>
              <a:rPr lang="en-US" altLang="zh-CN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/ </a:t>
            </a:r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汇总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36677F0C-B5EC-826E-5743-FCF03779BA87}"/>
              </a:ext>
            </a:extLst>
          </p:cNvPr>
          <p:cNvSpPr txBox="1"/>
          <p:nvPr/>
        </p:nvSpPr>
        <p:spPr>
          <a:xfrm>
            <a:off x="9017000" y="3200400"/>
            <a:ext cx="304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b="1">
                <a:solidFill>
                  <a:srgbClr val="7CE8F2"/>
                </a:solidFill>
                <a:latin typeface="Microsoft YaHei" panose="020B0503020204020204" pitchFamily="34" charset="-122"/>
              </a:rPr>
              <a:t>&gt;</a:t>
            </a:r>
            <a:endParaRPr lang="zh-CN" altLang="en-US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A00196DC-BEE3-D176-59E3-0DD07ABEEBE7}"/>
              </a:ext>
            </a:extLst>
          </p:cNvPr>
          <p:cNvSpPr/>
          <p:nvPr/>
        </p:nvSpPr>
        <p:spPr>
          <a:xfrm>
            <a:off x="9271000" y="3860800"/>
            <a:ext cx="1397000" cy="660400"/>
          </a:xfrm>
          <a:prstGeom prst="roundRect">
            <a:avLst/>
          </a:prstGeom>
          <a:solidFill>
            <a:srgbClr val="23B26D"/>
          </a:solidFill>
          <a:ln w="13970">
            <a:solidFill>
              <a:srgbClr val="23B26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100" b="1">
                <a:solidFill>
                  <a:srgbClr val="09243D"/>
                </a:solidFill>
                <a:latin typeface="Microsoft YaHei" panose="020B0503020204020204" pitchFamily="34" charset="-122"/>
              </a:rPr>
              <a:t>证据索引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7459C7F2-0A48-B88C-2173-4584BA1D77EC}"/>
              </a:ext>
            </a:extLst>
          </p:cNvPr>
          <p:cNvSpPr/>
          <p:nvPr/>
        </p:nvSpPr>
        <p:spPr>
          <a:xfrm>
            <a:off x="8407400" y="5016500"/>
            <a:ext cx="2413000" cy="736600"/>
          </a:xfrm>
          <a:prstGeom prst="roundRect">
            <a:avLst/>
          </a:prstGeom>
          <a:solidFill>
            <a:srgbClr val="08284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200" b="1">
                <a:solidFill>
                  <a:srgbClr val="EEF8FC"/>
                </a:solidFill>
                <a:latin typeface="Microsoft YaHei" panose="020B0503020204020204" pitchFamily="34" charset="-122"/>
              </a:rPr>
              <a:t>不提交 </a:t>
            </a:r>
            <a:r>
              <a:rPr lang="en-US" altLang="zh-CN" sz="1200" b="1">
                <a:solidFill>
                  <a:srgbClr val="EEF8FC"/>
                </a:solidFill>
                <a:latin typeface="Microsoft YaHei" panose="020B0503020204020204" pitchFamily="34" charset="-122"/>
              </a:rPr>
              <a:t>external</a:t>
            </a:r>
          </a:p>
          <a:p>
            <a:pPr algn="ctr"/>
            <a:r>
              <a:rPr lang="zh-CN" altLang="en-US" sz="1200" b="1">
                <a:solidFill>
                  <a:srgbClr val="EEF8FC"/>
                </a:solidFill>
                <a:latin typeface="Microsoft YaHei" panose="020B0503020204020204" pitchFamily="34" charset="-122"/>
              </a:rPr>
              <a:t>不提交原始证据</a:t>
            </a:r>
          </a:p>
        </p:txBody>
      </p:sp>
    </p:spTree>
    <p:extLst>
      <p:ext uri="{BB962C8B-B14F-4D97-AF65-F5344CB8AC3E}">
        <p14:creationId xmlns:p14="http://schemas.microsoft.com/office/powerpoint/2010/main" val="5825485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5797DBF7-C6BF-E57D-3DC0-1B7C7678D78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F8FC"/>
          </a:solidFill>
          <a:ln>
            <a:solidFill>
              <a:srgbClr val="EEF8F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BAF8B06-5681-AE7E-D334-53FE91C22380}"/>
              </a:ext>
            </a:extLst>
          </p:cNvPr>
          <p:cNvSpPr/>
          <p:nvPr/>
        </p:nvSpPr>
        <p:spPr>
          <a:xfrm>
            <a:off x="0" y="0"/>
            <a:ext cx="1625600" cy="6858000"/>
          </a:xfrm>
          <a:prstGeom prst="rect">
            <a:avLst/>
          </a:prstGeom>
          <a:solidFill>
            <a:srgbClr val="061B33"/>
          </a:solidFill>
          <a:ln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D034EBD-5C3B-6566-06C1-A2A5E137E9A0}"/>
              </a:ext>
            </a:extLst>
          </p:cNvPr>
          <p:cNvSpPr/>
          <p:nvPr/>
        </p:nvSpPr>
        <p:spPr>
          <a:xfrm>
            <a:off x="1625600" y="0"/>
            <a:ext cx="76200" cy="6858000"/>
          </a:xfrm>
          <a:prstGeom prst="rect">
            <a:avLst/>
          </a:prstGeom>
          <a:solidFill>
            <a:srgbClr val="19D3E6"/>
          </a:solidFill>
          <a:ln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EF9EC36-3FDA-F4A6-A796-A29FABFA3D1D}"/>
              </a:ext>
            </a:extLst>
          </p:cNvPr>
          <p:cNvSpPr txBox="1"/>
          <p:nvPr/>
        </p:nvSpPr>
        <p:spPr>
          <a:xfrm>
            <a:off x="2006600" y="431800"/>
            <a:ext cx="75565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2500" b="1">
                <a:solidFill>
                  <a:srgbClr val="09243D"/>
                </a:solidFill>
                <a:latin typeface="Microsoft YaHei" panose="020B0503020204020204" pitchFamily="34" charset="-122"/>
              </a:rPr>
              <a:t>Lab </a:t>
            </a:r>
            <a:r>
              <a:rPr lang="zh-CN" altLang="en-US" sz="2500" b="1">
                <a:solidFill>
                  <a:srgbClr val="09243D"/>
                </a:solidFill>
                <a:latin typeface="Microsoft YaHei" panose="020B0503020204020204" pitchFamily="34" charset="-122"/>
              </a:rPr>
              <a:t>矩阵：从环境到综合复现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DB931A5-AC89-BEB7-8E3E-795B2BFD4878}"/>
              </a:ext>
            </a:extLst>
          </p:cNvPr>
          <p:cNvSpPr txBox="1"/>
          <p:nvPr/>
        </p:nvSpPr>
        <p:spPr>
          <a:xfrm>
            <a:off x="889000" y="457200"/>
            <a:ext cx="4826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1700" b="1">
                <a:solidFill>
                  <a:srgbClr val="7CE8F2"/>
                </a:solidFill>
                <a:latin typeface="Microsoft YaHei" panose="020B0503020204020204" pitchFamily="34" charset="-122"/>
              </a:rPr>
              <a:t>06</a:t>
            </a:r>
            <a:endParaRPr lang="zh-CN" altLang="en-US" sz="1700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30178FE-8494-0D58-0391-554C05EFF4EE}"/>
              </a:ext>
            </a:extLst>
          </p:cNvPr>
          <p:cNvSpPr txBox="1"/>
          <p:nvPr/>
        </p:nvSpPr>
        <p:spPr>
          <a:xfrm>
            <a:off x="2006600" y="1117600"/>
            <a:ext cx="7874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1500">
                <a:solidFill>
                  <a:srgbClr val="09243D"/>
                </a:solidFill>
                <a:latin typeface="Microsoft YaHei" panose="020B0503020204020204" pitchFamily="34" charset="-122"/>
              </a:rPr>
              <a:t>Lab0-Lab5 </a:t>
            </a:r>
            <a:r>
              <a:rPr lang="zh-CN" altLang="en-US" sz="1500">
                <a:solidFill>
                  <a:srgbClr val="09243D"/>
                </a:solidFill>
                <a:latin typeface="Microsoft YaHei" panose="020B0503020204020204" pitchFamily="34" charset="-122"/>
              </a:rPr>
              <a:t>的设计目标是小步进入 </a:t>
            </a:r>
            <a:r>
              <a:rPr lang="en-US" altLang="zh-CN" sz="1500">
                <a:solidFill>
                  <a:srgbClr val="09243D"/>
                </a:solidFill>
                <a:latin typeface="Microsoft YaHei" panose="020B0503020204020204" pitchFamily="34" charset="-122"/>
              </a:rPr>
              <a:t>OS </a:t>
            </a:r>
            <a:r>
              <a:rPr lang="zh-CN" altLang="en-US" sz="1500">
                <a:solidFill>
                  <a:srgbClr val="09243D"/>
                </a:solidFill>
                <a:latin typeface="Microsoft YaHei" panose="020B0503020204020204" pitchFamily="34" charset="-122"/>
              </a:rPr>
              <a:t>机制，每一阶段都有明确学习点和验收项。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00E13656-9DAE-7ABF-ACB2-0DBD73997DDC}"/>
              </a:ext>
            </a:extLst>
          </p:cNvPr>
          <p:cNvSpPr/>
          <p:nvPr/>
        </p:nvSpPr>
        <p:spPr>
          <a:xfrm>
            <a:off x="2095500" y="2032000"/>
            <a:ext cx="1270000" cy="508000"/>
          </a:xfrm>
          <a:prstGeom prst="roundRect">
            <a:avLst/>
          </a:prstGeom>
          <a:solidFill>
            <a:srgbClr val="061B33"/>
          </a:solidFill>
          <a:ln w="12700"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137ADC4-1423-F9EB-A693-2296BB9CCF80}"/>
              </a:ext>
            </a:extLst>
          </p:cNvPr>
          <p:cNvSpPr txBox="1"/>
          <p:nvPr/>
        </p:nvSpPr>
        <p:spPr>
          <a:xfrm>
            <a:off x="2146300" y="2184400"/>
            <a:ext cx="11684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Microsoft YaHei" panose="020B0503020204020204" pitchFamily="34" charset="-122"/>
              </a:rPr>
              <a:t>实验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E42269B1-DDBD-2875-088B-90C0BD2596B6}"/>
              </a:ext>
            </a:extLst>
          </p:cNvPr>
          <p:cNvSpPr/>
          <p:nvPr/>
        </p:nvSpPr>
        <p:spPr>
          <a:xfrm>
            <a:off x="3492500" y="2032000"/>
            <a:ext cx="2794000" cy="508000"/>
          </a:xfrm>
          <a:prstGeom prst="roundRect">
            <a:avLst/>
          </a:prstGeom>
          <a:solidFill>
            <a:srgbClr val="061B33"/>
          </a:solidFill>
          <a:ln w="12700"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E4D7B98-4A4A-5D92-6A51-871D585061B3}"/>
              </a:ext>
            </a:extLst>
          </p:cNvPr>
          <p:cNvSpPr txBox="1"/>
          <p:nvPr/>
        </p:nvSpPr>
        <p:spPr>
          <a:xfrm>
            <a:off x="3543300" y="2184400"/>
            <a:ext cx="26924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Microsoft YaHei" panose="020B0503020204020204" pitchFamily="34" charset="-122"/>
              </a:rPr>
              <a:t>学什么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CDCB650E-67FC-350A-8CF2-28AF1D56BF72}"/>
              </a:ext>
            </a:extLst>
          </p:cNvPr>
          <p:cNvSpPr/>
          <p:nvPr/>
        </p:nvSpPr>
        <p:spPr>
          <a:xfrm>
            <a:off x="6413500" y="2032000"/>
            <a:ext cx="3581400" cy="508000"/>
          </a:xfrm>
          <a:prstGeom prst="roundRect">
            <a:avLst/>
          </a:prstGeom>
          <a:solidFill>
            <a:srgbClr val="061B33"/>
          </a:solidFill>
          <a:ln w="12700"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2D22EDD-53A9-3052-9464-424D53AD1921}"/>
              </a:ext>
            </a:extLst>
          </p:cNvPr>
          <p:cNvSpPr txBox="1"/>
          <p:nvPr/>
        </p:nvSpPr>
        <p:spPr>
          <a:xfrm>
            <a:off x="6464300" y="2184400"/>
            <a:ext cx="34798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Microsoft YaHei" panose="020B0503020204020204" pitchFamily="34" charset="-122"/>
              </a:rPr>
              <a:t>验什么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F4AE2D3C-71C5-4128-EAA1-A3414C6A3258}"/>
              </a:ext>
            </a:extLst>
          </p:cNvPr>
          <p:cNvSpPr/>
          <p:nvPr/>
        </p:nvSpPr>
        <p:spPr>
          <a:xfrm>
            <a:off x="2095500" y="2692400"/>
            <a:ext cx="1270000" cy="457200"/>
          </a:xfrm>
          <a:prstGeom prst="roundRect">
            <a:avLst/>
          </a:prstGeom>
          <a:solidFill>
            <a:srgbClr val="0E3D5D"/>
          </a:solidFill>
          <a:ln w="1270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D8C65D9-77C0-E6C2-4411-5D31BED12A8B}"/>
              </a:ext>
            </a:extLst>
          </p:cNvPr>
          <p:cNvSpPr txBox="1"/>
          <p:nvPr/>
        </p:nvSpPr>
        <p:spPr>
          <a:xfrm>
            <a:off x="2146300" y="2819400"/>
            <a:ext cx="11684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850" b="1">
                <a:solidFill>
                  <a:srgbClr val="FFFFFF"/>
                </a:solidFill>
                <a:latin typeface="Microsoft YaHei" panose="020B0503020204020204" pitchFamily="34" charset="-122"/>
              </a:rPr>
              <a:t>Lab0</a:t>
            </a:r>
            <a:endParaRPr lang="zh-CN" altLang="en-US" sz="85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E845404B-AA89-5075-4826-DD902AFD9518}"/>
              </a:ext>
            </a:extLst>
          </p:cNvPr>
          <p:cNvSpPr/>
          <p:nvPr/>
        </p:nvSpPr>
        <p:spPr>
          <a:xfrm>
            <a:off x="3492500" y="2692400"/>
            <a:ext cx="27940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A3193A8F-6F23-042B-9369-A02EF2B2CADA}"/>
              </a:ext>
            </a:extLst>
          </p:cNvPr>
          <p:cNvSpPr txBox="1"/>
          <p:nvPr/>
        </p:nvSpPr>
        <p:spPr>
          <a:xfrm>
            <a:off x="3543300" y="2819400"/>
            <a:ext cx="26924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zh-CN" altLang="en-US" sz="850" b="1">
                <a:solidFill>
                  <a:srgbClr val="09243D"/>
                </a:solidFill>
                <a:latin typeface="Microsoft YaHei" panose="020B0503020204020204" pitchFamily="34" charset="-122"/>
              </a:rPr>
              <a:t>环境与启动</a:t>
            </a: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D1591C9F-D7CD-7CC5-89FE-B61B19BFD9B8}"/>
              </a:ext>
            </a:extLst>
          </p:cNvPr>
          <p:cNvSpPr/>
          <p:nvPr/>
        </p:nvSpPr>
        <p:spPr>
          <a:xfrm>
            <a:off x="6413500" y="2692400"/>
            <a:ext cx="35814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7CE2D3D1-484C-DFCD-F612-395FABE659AF}"/>
              </a:ext>
            </a:extLst>
          </p:cNvPr>
          <p:cNvSpPr txBox="1"/>
          <p:nvPr/>
        </p:nvSpPr>
        <p:spPr>
          <a:xfrm>
            <a:off x="6464300" y="2819400"/>
            <a:ext cx="34798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850" b="1">
                <a:solidFill>
                  <a:srgbClr val="09243D"/>
                </a:solidFill>
                <a:latin typeface="Microsoft YaHei" panose="020B0503020204020204" pitchFamily="34" charset="-122"/>
              </a:rPr>
              <a:t>build / boot</a:t>
            </a:r>
            <a:endParaRPr lang="zh-CN" altLang="en-US" sz="85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F5FFA4D3-A636-4227-7E6E-C83004E36D8E}"/>
              </a:ext>
            </a:extLst>
          </p:cNvPr>
          <p:cNvSpPr/>
          <p:nvPr/>
        </p:nvSpPr>
        <p:spPr>
          <a:xfrm>
            <a:off x="2095500" y="3238500"/>
            <a:ext cx="1270000" cy="457200"/>
          </a:xfrm>
          <a:prstGeom prst="roundRect">
            <a:avLst/>
          </a:prstGeom>
          <a:solidFill>
            <a:srgbClr val="0E3D5D"/>
          </a:solidFill>
          <a:ln w="1270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7F8527FC-9AC6-1A41-8E3B-3635F0676876}"/>
              </a:ext>
            </a:extLst>
          </p:cNvPr>
          <p:cNvSpPr txBox="1"/>
          <p:nvPr/>
        </p:nvSpPr>
        <p:spPr>
          <a:xfrm>
            <a:off x="2146300" y="3365500"/>
            <a:ext cx="11684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850" b="1">
                <a:solidFill>
                  <a:srgbClr val="FFFFFF"/>
                </a:solidFill>
                <a:latin typeface="Microsoft YaHei" panose="020B0503020204020204" pitchFamily="34" charset="-122"/>
              </a:rPr>
              <a:t>Lab1</a:t>
            </a:r>
            <a:endParaRPr lang="zh-CN" altLang="en-US" sz="85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1B01C8A7-F845-0CAF-B237-B4C2DB1F352C}"/>
              </a:ext>
            </a:extLst>
          </p:cNvPr>
          <p:cNvSpPr/>
          <p:nvPr/>
        </p:nvSpPr>
        <p:spPr>
          <a:xfrm>
            <a:off x="3492500" y="3238500"/>
            <a:ext cx="27940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6837514C-38E9-137E-A9CB-F1F2D4E2BF89}"/>
              </a:ext>
            </a:extLst>
          </p:cNvPr>
          <p:cNvSpPr txBox="1"/>
          <p:nvPr/>
        </p:nvSpPr>
        <p:spPr>
          <a:xfrm>
            <a:off x="3543300" y="3365500"/>
            <a:ext cx="26924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zh-CN" altLang="en-US" sz="850" b="1">
                <a:solidFill>
                  <a:srgbClr val="09243D"/>
                </a:solidFill>
                <a:latin typeface="Microsoft YaHei" panose="020B0503020204020204" pitchFamily="34" charset="-122"/>
              </a:rPr>
              <a:t>系统调用入口</a:t>
            </a: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23531F6C-5CCD-5601-76C6-F65C19ECBBE4}"/>
              </a:ext>
            </a:extLst>
          </p:cNvPr>
          <p:cNvSpPr/>
          <p:nvPr/>
        </p:nvSpPr>
        <p:spPr>
          <a:xfrm>
            <a:off x="6413500" y="3238500"/>
            <a:ext cx="35814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7C9822ED-037B-7C7F-9A0F-D2444292692D}"/>
              </a:ext>
            </a:extLst>
          </p:cNvPr>
          <p:cNvSpPr txBox="1"/>
          <p:nvPr/>
        </p:nvSpPr>
        <p:spPr>
          <a:xfrm>
            <a:off x="6464300" y="3365500"/>
            <a:ext cx="34798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850" b="1">
                <a:solidFill>
                  <a:srgbClr val="09243D"/>
                </a:solidFill>
                <a:latin typeface="Microsoft YaHei" panose="020B0503020204020204" pitchFamily="34" charset="-122"/>
              </a:rPr>
              <a:t>hello / add2</a:t>
            </a:r>
            <a:endParaRPr lang="zh-CN" altLang="en-US" sz="85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653C4DC3-EA3F-A3A9-2A08-31628895428E}"/>
              </a:ext>
            </a:extLst>
          </p:cNvPr>
          <p:cNvSpPr/>
          <p:nvPr/>
        </p:nvSpPr>
        <p:spPr>
          <a:xfrm>
            <a:off x="2095500" y="3784600"/>
            <a:ext cx="1270000" cy="457200"/>
          </a:xfrm>
          <a:prstGeom prst="roundRect">
            <a:avLst/>
          </a:prstGeom>
          <a:solidFill>
            <a:srgbClr val="0E3D5D"/>
          </a:solidFill>
          <a:ln w="1270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553301D0-CB6D-6A2A-F89B-C3DB85D4932A}"/>
              </a:ext>
            </a:extLst>
          </p:cNvPr>
          <p:cNvSpPr txBox="1"/>
          <p:nvPr/>
        </p:nvSpPr>
        <p:spPr>
          <a:xfrm>
            <a:off x="2146300" y="3911600"/>
            <a:ext cx="11684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850" b="1">
                <a:solidFill>
                  <a:srgbClr val="FFFFFF"/>
                </a:solidFill>
                <a:latin typeface="Microsoft YaHei" panose="020B0503020204020204" pitchFamily="34" charset="-122"/>
              </a:rPr>
              <a:t>Lab2</a:t>
            </a:r>
            <a:endParaRPr lang="zh-CN" altLang="en-US" sz="85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3967EFE5-38C0-0777-1A0A-08640A1F126A}"/>
              </a:ext>
            </a:extLst>
          </p:cNvPr>
          <p:cNvSpPr/>
          <p:nvPr/>
        </p:nvSpPr>
        <p:spPr>
          <a:xfrm>
            <a:off x="3492500" y="3784600"/>
            <a:ext cx="27940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1446868A-E30F-1A1C-2B7C-21BD17F93AF3}"/>
              </a:ext>
            </a:extLst>
          </p:cNvPr>
          <p:cNvSpPr txBox="1"/>
          <p:nvPr/>
        </p:nvSpPr>
        <p:spPr>
          <a:xfrm>
            <a:off x="3543300" y="3911600"/>
            <a:ext cx="26924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zh-CN" altLang="en-US" sz="850" b="1">
                <a:solidFill>
                  <a:srgbClr val="09243D"/>
                </a:solidFill>
                <a:latin typeface="Microsoft YaHei" panose="020B0503020204020204" pitchFamily="34" charset="-122"/>
              </a:rPr>
              <a:t>进程状态观察</a:t>
            </a: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3223FD6B-6728-3861-4A8D-5541E4D8B8A7}"/>
              </a:ext>
            </a:extLst>
          </p:cNvPr>
          <p:cNvSpPr/>
          <p:nvPr/>
        </p:nvSpPr>
        <p:spPr>
          <a:xfrm>
            <a:off x="6413500" y="3784600"/>
            <a:ext cx="35814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AEB17E6D-A807-430E-BEB0-376B3B612BC0}"/>
              </a:ext>
            </a:extLst>
          </p:cNvPr>
          <p:cNvSpPr txBox="1"/>
          <p:nvPr/>
        </p:nvSpPr>
        <p:spPr>
          <a:xfrm>
            <a:off x="6464300" y="3911600"/>
            <a:ext cx="34798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850" b="1">
                <a:solidFill>
                  <a:srgbClr val="09243D"/>
                </a:solidFill>
                <a:latin typeface="Microsoft YaHei" panose="020B0503020204020204" pitchFamily="34" charset="-122"/>
              </a:rPr>
              <a:t>pstate / pcount / pchildtest</a:t>
            </a:r>
            <a:endParaRPr lang="zh-CN" altLang="en-US" sz="85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D07246B6-2CAF-FE58-73EC-638DF3140A5D}"/>
              </a:ext>
            </a:extLst>
          </p:cNvPr>
          <p:cNvSpPr/>
          <p:nvPr/>
        </p:nvSpPr>
        <p:spPr>
          <a:xfrm>
            <a:off x="2095500" y="4330700"/>
            <a:ext cx="1270000" cy="457200"/>
          </a:xfrm>
          <a:prstGeom prst="roundRect">
            <a:avLst/>
          </a:prstGeom>
          <a:solidFill>
            <a:srgbClr val="0E3D5D"/>
          </a:solidFill>
          <a:ln w="1270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A7844AC0-900F-22A9-EABB-BE51726F9790}"/>
              </a:ext>
            </a:extLst>
          </p:cNvPr>
          <p:cNvSpPr txBox="1"/>
          <p:nvPr/>
        </p:nvSpPr>
        <p:spPr>
          <a:xfrm>
            <a:off x="2146300" y="4457700"/>
            <a:ext cx="11684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850" b="1">
                <a:solidFill>
                  <a:srgbClr val="FFFFFF"/>
                </a:solidFill>
                <a:latin typeface="Microsoft YaHei" panose="020B0503020204020204" pitchFamily="34" charset="-122"/>
              </a:rPr>
              <a:t>Lab3</a:t>
            </a:r>
            <a:endParaRPr lang="zh-CN" altLang="en-US" sz="85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5F343455-1D39-1353-C367-3FCB6324C720}"/>
              </a:ext>
            </a:extLst>
          </p:cNvPr>
          <p:cNvSpPr/>
          <p:nvPr/>
        </p:nvSpPr>
        <p:spPr>
          <a:xfrm>
            <a:off x="3492500" y="4330700"/>
            <a:ext cx="27940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D6B7DE3E-A3DB-AB26-E367-C9846DD9E638}"/>
              </a:ext>
            </a:extLst>
          </p:cNvPr>
          <p:cNvSpPr txBox="1"/>
          <p:nvPr/>
        </p:nvSpPr>
        <p:spPr>
          <a:xfrm>
            <a:off x="3543300" y="4457700"/>
            <a:ext cx="26924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zh-CN" altLang="en-US" sz="850" b="1">
                <a:solidFill>
                  <a:srgbClr val="09243D"/>
                </a:solidFill>
                <a:latin typeface="Microsoft YaHei" panose="020B0503020204020204" pitchFamily="34" charset="-122"/>
              </a:rPr>
              <a:t>页表与 </a:t>
            </a:r>
            <a:r>
              <a:rPr lang="en-US" altLang="zh-CN" sz="850" b="1">
                <a:solidFill>
                  <a:srgbClr val="09243D"/>
                </a:solidFill>
                <a:latin typeface="Microsoft YaHei" panose="020B0503020204020204" pitchFamily="34" charset="-122"/>
              </a:rPr>
              <a:t>copyout</a:t>
            </a:r>
            <a:endParaRPr lang="zh-CN" altLang="en-US" sz="85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608EE805-C997-526F-0ACF-2AFEBABB3C03}"/>
              </a:ext>
            </a:extLst>
          </p:cNvPr>
          <p:cNvSpPr/>
          <p:nvPr/>
        </p:nvSpPr>
        <p:spPr>
          <a:xfrm>
            <a:off x="6413500" y="4330700"/>
            <a:ext cx="35814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CFC1907D-A57A-DDBF-F39E-72562CEE433B}"/>
              </a:ext>
            </a:extLst>
          </p:cNvPr>
          <p:cNvSpPr txBox="1"/>
          <p:nvPr/>
        </p:nvSpPr>
        <p:spPr>
          <a:xfrm>
            <a:off x="6464300" y="4457700"/>
            <a:ext cx="34798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850" b="1">
                <a:solidFill>
                  <a:srgbClr val="09243D"/>
                </a:solidFill>
                <a:latin typeface="Microsoft YaHei" panose="020B0503020204020204" pitchFamily="34" charset="-122"/>
              </a:rPr>
              <a:t>pgcount / memstat</a:t>
            </a:r>
            <a:endParaRPr lang="zh-CN" altLang="en-US" sz="85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BF60151A-6B3E-0EC8-8E91-EE2917919605}"/>
              </a:ext>
            </a:extLst>
          </p:cNvPr>
          <p:cNvSpPr/>
          <p:nvPr/>
        </p:nvSpPr>
        <p:spPr>
          <a:xfrm>
            <a:off x="2095500" y="4876800"/>
            <a:ext cx="1270000" cy="457200"/>
          </a:xfrm>
          <a:prstGeom prst="roundRect">
            <a:avLst/>
          </a:prstGeom>
          <a:solidFill>
            <a:srgbClr val="0E3D5D"/>
          </a:solidFill>
          <a:ln w="1270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C7FAF9D0-2901-059E-DD5F-CF7C27B3597F}"/>
              </a:ext>
            </a:extLst>
          </p:cNvPr>
          <p:cNvSpPr txBox="1"/>
          <p:nvPr/>
        </p:nvSpPr>
        <p:spPr>
          <a:xfrm>
            <a:off x="2146300" y="5003800"/>
            <a:ext cx="11684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850" b="1">
                <a:solidFill>
                  <a:srgbClr val="FFFFFF"/>
                </a:solidFill>
                <a:latin typeface="Microsoft YaHei" panose="020B0503020204020204" pitchFamily="34" charset="-122"/>
              </a:rPr>
              <a:t>Lab4</a:t>
            </a:r>
            <a:endParaRPr lang="zh-CN" altLang="en-US" sz="85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B7058C76-1804-832C-5AA6-6550B13B9B93}"/>
              </a:ext>
            </a:extLst>
          </p:cNvPr>
          <p:cNvSpPr/>
          <p:nvPr/>
        </p:nvSpPr>
        <p:spPr>
          <a:xfrm>
            <a:off x="3492500" y="4876800"/>
            <a:ext cx="27940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A9B9DBC3-5E54-C0AC-B978-2BF4F2A65AA5}"/>
              </a:ext>
            </a:extLst>
          </p:cNvPr>
          <p:cNvSpPr txBox="1"/>
          <p:nvPr/>
        </p:nvSpPr>
        <p:spPr>
          <a:xfrm>
            <a:off x="3543300" y="5003800"/>
            <a:ext cx="26924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850" b="1">
                <a:solidFill>
                  <a:srgbClr val="09243D"/>
                </a:solidFill>
                <a:latin typeface="Microsoft YaHei" panose="020B0503020204020204" pitchFamily="34" charset="-122"/>
              </a:rPr>
              <a:t>fd </a:t>
            </a:r>
            <a:r>
              <a:rPr lang="zh-CN" altLang="en-US" sz="850" b="1">
                <a:solidFill>
                  <a:srgbClr val="09243D"/>
                </a:solidFill>
                <a:latin typeface="Microsoft YaHei" panose="020B0503020204020204" pitchFamily="34" charset="-122"/>
              </a:rPr>
              <a:t>与 </a:t>
            </a:r>
            <a:r>
              <a:rPr lang="en-US" altLang="zh-CN" sz="850" b="1">
                <a:solidFill>
                  <a:srgbClr val="09243D"/>
                </a:solidFill>
                <a:latin typeface="Microsoft YaHei" panose="020B0503020204020204" pitchFamily="34" charset="-122"/>
              </a:rPr>
              <a:t>file</a:t>
            </a:r>
            <a:endParaRPr lang="zh-CN" altLang="en-US" sz="85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3858D396-B2F8-0F3A-585D-BB9A145BEE95}"/>
              </a:ext>
            </a:extLst>
          </p:cNvPr>
          <p:cNvSpPr/>
          <p:nvPr/>
        </p:nvSpPr>
        <p:spPr>
          <a:xfrm>
            <a:off x="6413500" y="4876800"/>
            <a:ext cx="35814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6DF2A841-4722-0CD0-794C-1CDA473C3116}"/>
              </a:ext>
            </a:extLst>
          </p:cNvPr>
          <p:cNvSpPr txBox="1"/>
          <p:nvPr/>
        </p:nvSpPr>
        <p:spPr>
          <a:xfrm>
            <a:off x="6464300" y="5003800"/>
            <a:ext cx="34798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850" b="1">
                <a:solidFill>
                  <a:srgbClr val="09243D"/>
                </a:solidFill>
                <a:latin typeface="Microsoft YaHei" panose="020B0503020204020204" pitchFamily="34" charset="-122"/>
              </a:rPr>
              <a:t>fcount / fdcount / fdinfo</a:t>
            </a:r>
            <a:endParaRPr lang="zh-CN" altLang="en-US" sz="85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1819C80F-235B-8A6A-F842-AAD3E1EE1718}"/>
              </a:ext>
            </a:extLst>
          </p:cNvPr>
          <p:cNvSpPr/>
          <p:nvPr/>
        </p:nvSpPr>
        <p:spPr>
          <a:xfrm>
            <a:off x="2095500" y="5422900"/>
            <a:ext cx="1270000" cy="457200"/>
          </a:xfrm>
          <a:prstGeom prst="roundRect">
            <a:avLst/>
          </a:prstGeom>
          <a:solidFill>
            <a:srgbClr val="7CE8F2"/>
          </a:solidFill>
          <a:ln w="1270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97B7F6F4-0A69-0476-DD01-CDF9807DFB18}"/>
              </a:ext>
            </a:extLst>
          </p:cNvPr>
          <p:cNvSpPr txBox="1"/>
          <p:nvPr/>
        </p:nvSpPr>
        <p:spPr>
          <a:xfrm>
            <a:off x="2146300" y="5549900"/>
            <a:ext cx="11684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850" b="1">
                <a:solidFill>
                  <a:srgbClr val="09243D"/>
                </a:solidFill>
                <a:latin typeface="Microsoft YaHei" panose="020B0503020204020204" pitchFamily="34" charset="-122"/>
              </a:rPr>
              <a:t>Lab5</a:t>
            </a:r>
            <a:endParaRPr lang="zh-CN" altLang="en-US" sz="85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4CC9AE7F-A69F-2473-D293-345F06412E16}"/>
              </a:ext>
            </a:extLst>
          </p:cNvPr>
          <p:cNvSpPr/>
          <p:nvPr/>
        </p:nvSpPr>
        <p:spPr>
          <a:xfrm>
            <a:off x="3492500" y="5422900"/>
            <a:ext cx="2794000" cy="457200"/>
          </a:xfrm>
          <a:prstGeom prst="roundRect">
            <a:avLst/>
          </a:prstGeom>
          <a:solidFill>
            <a:srgbClr val="7CE8F2"/>
          </a:solidFill>
          <a:ln w="1270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305EA2D1-913A-8F9C-F661-E62130CFCF9D}"/>
              </a:ext>
            </a:extLst>
          </p:cNvPr>
          <p:cNvSpPr txBox="1"/>
          <p:nvPr/>
        </p:nvSpPr>
        <p:spPr>
          <a:xfrm>
            <a:off x="3543300" y="5549900"/>
            <a:ext cx="26924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zh-CN" altLang="en-US" sz="850" b="1">
                <a:solidFill>
                  <a:srgbClr val="09243D"/>
                </a:solidFill>
                <a:latin typeface="Microsoft YaHei" panose="020B0503020204020204" pitchFamily="34" charset="-122"/>
              </a:rPr>
              <a:t>综合复现</a:t>
            </a:r>
          </a:p>
        </p:txBody>
      </p: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986D0943-1086-6908-EA63-28AB9224E25B}"/>
              </a:ext>
            </a:extLst>
          </p:cNvPr>
          <p:cNvSpPr/>
          <p:nvPr/>
        </p:nvSpPr>
        <p:spPr>
          <a:xfrm>
            <a:off x="6413500" y="5422900"/>
            <a:ext cx="3581400" cy="457200"/>
          </a:xfrm>
          <a:prstGeom prst="roundRect">
            <a:avLst/>
          </a:prstGeom>
          <a:solidFill>
            <a:srgbClr val="7CE8F2"/>
          </a:solidFill>
          <a:ln w="1270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94C3CF41-CBD4-D726-9301-9E239D8557FE}"/>
              </a:ext>
            </a:extLst>
          </p:cNvPr>
          <p:cNvSpPr txBox="1"/>
          <p:nvPr/>
        </p:nvSpPr>
        <p:spPr>
          <a:xfrm>
            <a:off x="6464300" y="5549900"/>
            <a:ext cx="34798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zh-CN" altLang="en-US" sz="850" b="1">
                <a:solidFill>
                  <a:srgbClr val="09243D"/>
                </a:solidFill>
                <a:latin typeface="Microsoft YaHei" panose="020B0503020204020204" pitchFamily="34" charset="-122"/>
              </a:rPr>
              <a:t>全量验证</a:t>
            </a:r>
          </a:p>
        </p:txBody>
      </p:sp>
    </p:spTree>
    <p:extLst>
      <p:ext uri="{BB962C8B-B14F-4D97-AF65-F5344CB8AC3E}">
        <p14:creationId xmlns:p14="http://schemas.microsoft.com/office/powerpoint/2010/main" val="40481361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BF38D550-A8FE-4CFB-6667-B194B860B06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F8FC"/>
          </a:solidFill>
          <a:ln>
            <a:solidFill>
              <a:srgbClr val="EEF8F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E7EACE8-5DF9-8FD0-2CB7-8071E0774EB5}"/>
              </a:ext>
            </a:extLst>
          </p:cNvPr>
          <p:cNvSpPr/>
          <p:nvPr/>
        </p:nvSpPr>
        <p:spPr>
          <a:xfrm>
            <a:off x="0" y="0"/>
            <a:ext cx="1625600" cy="6858000"/>
          </a:xfrm>
          <a:prstGeom prst="rect">
            <a:avLst/>
          </a:prstGeom>
          <a:solidFill>
            <a:srgbClr val="061B33"/>
          </a:solidFill>
          <a:ln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C5AF92E-EEAE-68BF-BD26-F66CA85FB733}"/>
              </a:ext>
            </a:extLst>
          </p:cNvPr>
          <p:cNvSpPr/>
          <p:nvPr/>
        </p:nvSpPr>
        <p:spPr>
          <a:xfrm>
            <a:off x="1625600" y="0"/>
            <a:ext cx="76200" cy="6858000"/>
          </a:xfrm>
          <a:prstGeom prst="rect">
            <a:avLst/>
          </a:prstGeom>
          <a:solidFill>
            <a:srgbClr val="19D3E6"/>
          </a:solidFill>
          <a:ln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53D74C7-9048-D208-D246-429580331750}"/>
              </a:ext>
            </a:extLst>
          </p:cNvPr>
          <p:cNvSpPr txBox="1"/>
          <p:nvPr/>
        </p:nvSpPr>
        <p:spPr>
          <a:xfrm>
            <a:off x="2006600" y="431800"/>
            <a:ext cx="75565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2500" b="1">
                <a:solidFill>
                  <a:srgbClr val="09243D"/>
                </a:solidFill>
                <a:latin typeface="Microsoft YaHei" panose="020B0503020204020204" pitchFamily="34" charset="-122"/>
              </a:rPr>
              <a:t>Lab1/2</a:t>
            </a:r>
            <a:r>
              <a:rPr lang="zh-CN" altLang="en-US" sz="2500" b="1">
                <a:solidFill>
                  <a:srgbClr val="09243D"/>
                </a:solidFill>
                <a:latin typeface="Microsoft YaHei" panose="020B0503020204020204" pitchFamily="34" charset="-122"/>
              </a:rPr>
              <a:t>：先走通内核入口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B26F40A-91E3-1251-B426-55972E1DEA1E}"/>
              </a:ext>
            </a:extLst>
          </p:cNvPr>
          <p:cNvSpPr txBox="1"/>
          <p:nvPr/>
        </p:nvSpPr>
        <p:spPr>
          <a:xfrm>
            <a:off x="889000" y="457200"/>
            <a:ext cx="4826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1700" b="1">
                <a:solidFill>
                  <a:srgbClr val="7CE8F2"/>
                </a:solidFill>
                <a:latin typeface="Microsoft YaHei" panose="020B0503020204020204" pitchFamily="34" charset="-122"/>
              </a:rPr>
              <a:t>07</a:t>
            </a:r>
            <a:endParaRPr lang="zh-CN" altLang="en-US" sz="1700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5E1EF20-882D-3D10-03F0-9A9B93D462C2}"/>
              </a:ext>
            </a:extLst>
          </p:cNvPr>
          <p:cNvSpPr txBox="1"/>
          <p:nvPr/>
        </p:nvSpPr>
        <p:spPr>
          <a:xfrm>
            <a:off x="2006600" y="1117600"/>
            <a:ext cx="7874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1500">
                <a:solidFill>
                  <a:srgbClr val="09243D"/>
                </a:solidFill>
                <a:latin typeface="Microsoft YaHei" panose="020B0503020204020204" pitchFamily="34" charset="-122"/>
              </a:rPr>
              <a:t>Lab1/2 </a:t>
            </a:r>
            <a:r>
              <a:rPr lang="zh-CN" altLang="en-US" sz="1500">
                <a:solidFill>
                  <a:srgbClr val="09243D"/>
                </a:solidFill>
                <a:latin typeface="Microsoft YaHei" panose="020B0503020204020204" pitchFamily="34" charset="-122"/>
              </a:rPr>
              <a:t>让学生从最小系统调用进入内核，再观察进程表和调度带来的非固定输出。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C2763EF1-AC8F-02B6-87D2-7438DC030C18}"/>
              </a:ext>
            </a:extLst>
          </p:cNvPr>
          <p:cNvSpPr/>
          <p:nvPr/>
        </p:nvSpPr>
        <p:spPr>
          <a:xfrm>
            <a:off x="2133600" y="2209800"/>
            <a:ext cx="1117600" cy="5334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100" b="1">
                <a:solidFill>
                  <a:srgbClr val="09243D"/>
                </a:solidFill>
                <a:latin typeface="Microsoft YaHei" panose="020B0503020204020204" pitchFamily="34" charset="-122"/>
              </a:rPr>
              <a:t>用户程序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D6CBD6B-0944-3785-C4B0-F0F13B0F9A84}"/>
              </a:ext>
            </a:extLst>
          </p:cNvPr>
          <p:cNvSpPr txBox="1"/>
          <p:nvPr/>
        </p:nvSpPr>
        <p:spPr>
          <a:xfrm>
            <a:off x="3276600" y="2324100"/>
            <a:ext cx="304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b="1">
                <a:solidFill>
                  <a:srgbClr val="1C6DD0"/>
                </a:solidFill>
                <a:latin typeface="Microsoft YaHei" panose="020B0503020204020204" pitchFamily="34" charset="-122"/>
              </a:rPr>
              <a:t>&gt;</a:t>
            </a:r>
            <a:endParaRPr lang="zh-CN" altLang="en-US" b="1">
              <a:solidFill>
                <a:srgbClr val="1C6DD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0905E7C2-375B-CB8A-516D-E846B58F315A}"/>
              </a:ext>
            </a:extLst>
          </p:cNvPr>
          <p:cNvSpPr/>
          <p:nvPr/>
        </p:nvSpPr>
        <p:spPr>
          <a:xfrm>
            <a:off x="3556000" y="2209800"/>
            <a:ext cx="1117600" cy="533400"/>
          </a:xfrm>
          <a:prstGeom prst="roundRect">
            <a:avLst/>
          </a:prstGeom>
          <a:solidFill>
            <a:srgbClr val="061B33"/>
          </a:solidFill>
          <a:ln w="13970"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usys</a:t>
            </a:r>
            <a:endParaRPr lang="zh-CN" altLang="en-US" sz="11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4D47909-9A03-9106-C733-DC42CC7E3DB6}"/>
              </a:ext>
            </a:extLst>
          </p:cNvPr>
          <p:cNvSpPr txBox="1"/>
          <p:nvPr/>
        </p:nvSpPr>
        <p:spPr>
          <a:xfrm>
            <a:off x="4699000" y="2324100"/>
            <a:ext cx="304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b="1">
                <a:solidFill>
                  <a:srgbClr val="1C6DD0"/>
                </a:solidFill>
                <a:latin typeface="Microsoft YaHei" panose="020B0503020204020204" pitchFamily="34" charset="-122"/>
              </a:rPr>
              <a:t>&gt;</a:t>
            </a:r>
            <a:endParaRPr lang="zh-CN" altLang="en-US" b="1">
              <a:solidFill>
                <a:srgbClr val="1C6DD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1E814D49-7D69-AFA7-BF30-2A4F7BD4EAC9}"/>
              </a:ext>
            </a:extLst>
          </p:cNvPr>
          <p:cNvSpPr/>
          <p:nvPr/>
        </p:nvSpPr>
        <p:spPr>
          <a:xfrm>
            <a:off x="4978400" y="2209800"/>
            <a:ext cx="1117600" cy="533400"/>
          </a:xfrm>
          <a:prstGeom prst="roundRect">
            <a:avLst/>
          </a:prstGeom>
          <a:solidFill>
            <a:srgbClr val="061B33"/>
          </a:solidFill>
          <a:ln w="13970"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syscall</a:t>
            </a:r>
            <a:endParaRPr lang="zh-CN" altLang="en-US" sz="11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31DC655-C1C4-23D5-51D9-874391FAFBF3}"/>
              </a:ext>
            </a:extLst>
          </p:cNvPr>
          <p:cNvSpPr txBox="1"/>
          <p:nvPr/>
        </p:nvSpPr>
        <p:spPr>
          <a:xfrm>
            <a:off x="6121400" y="2324100"/>
            <a:ext cx="304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b="1">
                <a:solidFill>
                  <a:srgbClr val="1C6DD0"/>
                </a:solidFill>
                <a:latin typeface="Microsoft YaHei" panose="020B0503020204020204" pitchFamily="34" charset="-122"/>
              </a:rPr>
              <a:t>&gt;</a:t>
            </a:r>
            <a:endParaRPr lang="zh-CN" altLang="en-US" b="1">
              <a:solidFill>
                <a:srgbClr val="1C6DD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39CFE8B6-687D-9C1F-E606-DF2D65FD1421}"/>
              </a:ext>
            </a:extLst>
          </p:cNvPr>
          <p:cNvSpPr/>
          <p:nvPr/>
        </p:nvSpPr>
        <p:spPr>
          <a:xfrm>
            <a:off x="6400800" y="2209800"/>
            <a:ext cx="1117600" cy="533400"/>
          </a:xfrm>
          <a:prstGeom prst="roundRect">
            <a:avLst/>
          </a:prstGeom>
          <a:solidFill>
            <a:srgbClr val="061B33"/>
          </a:solidFill>
          <a:ln w="13970"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sys_*</a:t>
            </a:r>
            <a:endParaRPr lang="zh-CN" altLang="en-US" sz="11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F97989B-F590-51F8-F27C-7922C43F9D05}"/>
              </a:ext>
            </a:extLst>
          </p:cNvPr>
          <p:cNvSpPr txBox="1"/>
          <p:nvPr/>
        </p:nvSpPr>
        <p:spPr>
          <a:xfrm>
            <a:off x="7543800" y="2324100"/>
            <a:ext cx="304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b="1">
                <a:solidFill>
                  <a:srgbClr val="1C6DD0"/>
                </a:solidFill>
                <a:latin typeface="Microsoft YaHei" panose="020B0503020204020204" pitchFamily="34" charset="-122"/>
              </a:rPr>
              <a:t>&gt;</a:t>
            </a:r>
            <a:endParaRPr lang="zh-CN" altLang="en-US" b="1">
              <a:solidFill>
                <a:srgbClr val="1C6DD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58633062-492C-0413-44CA-1EBF948A7A80}"/>
              </a:ext>
            </a:extLst>
          </p:cNvPr>
          <p:cNvSpPr/>
          <p:nvPr/>
        </p:nvSpPr>
        <p:spPr>
          <a:xfrm>
            <a:off x="7823200" y="2209800"/>
            <a:ext cx="1117600" cy="533400"/>
          </a:xfrm>
          <a:prstGeom prst="roundRect">
            <a:avLst/>
          </a:prstGeom>
          <a:solidFill>
            <a:srgbClr val="061B33"/>
          </a:solidFill>
          <a:ln w="13970"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kernel helper</a:t>
            </a:r>
            <a:endParaRPr lang="zh-CN" altLang="en-US" sz="11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102DA8FD-31FE-841B-2422-AD04C8742D78}"/>
              </a:ext>
            </a:extLst>
          </p:cNvPr>
          <p:cNvSpPr/>
          <p:nvPr/>
        </p:nvSpPr>
        <p:spPr>
          <a:xfrm>
            <a:off x="2921000" y="3810000"/>
            <a:ext cx="2032000" cy="482600"/>
          </a:xfrm>
          <a:prstGeom prst="roundRect">
            <a:avLst/>
          </a:prstGeom>
          <a:solidFill>
            <a:srgbClr val="0E3D5D"/>
          </a:solidFill>
          <a:ln w="13970">
            <a:solidFill>
              <a:srgbClr val="0E3D5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400" b="1">
                <a:solidFill>
                  <a:srgbClr val="FFFFFF"/>
                </a:solidFill>
                <a:latin typeface="Microsoft YaHei" panose="020B0503020204020204" pitchFamily="34" charset="-122"/>
              </a:rPr>
              <a:t>进程表快照</a:t>
            </a: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17E0A099-30CD-EEBF-B249-A4D91F28D879}"/>
              </a:ext>
            </a:extLst>
          </p:cNvPr>
          <p:cNvSpPr/>
          <p:nvPr/>
        </p:nvSpPr>
        <p:spPr>
          <a:xfrm>
            <a:off x="2667000" y="4445000"/>
            <a:ext cx="2540000" cy="7366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100">
                <a:solidFill>
                  <a:srgbClr val="09243D"/>
                </a:solidFill>
                <a:latin typeface="Microsoft YaHei" panose="020B0503020204020204" pitchFamily="34" charset="-122"/>
              </a:rPr>
              <a:t>pstate / pcount</a:t>
            </a:r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：进程状态观察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0FFB25CB-98B0-BF4B-7B8D-B6BA37F8C551}"/>
              </a:ext>
            </a:extLst>
          </p:cNvPr>
          <p:cNvSpPr/>
          <p:nvPr/>
        </p:nvSpPr>
        <p:spPr>
          <a:xfrm>
            <a:off x="6604000" y="3962400"/>
            <a:ext cx="2667000" cy="889000"/>
          </a:xfrm>
          <a:prstGeom prst="roundRect">
            <a:avLst/>
          </a:prstGeom>
          <a:solidFill>
            <a:srgbClr val="7CE8F2"/>
          </a:solidFill>
          <a:ln w="13970">
            <a:solidFill>
              <a:srgbClr val="7CE8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状态受调度影响</a:t>
            </a:r>
          </a:p>
        </p:txBody>
      </p:sp>
    </p:spTree>
    <p:extLst>
      <p:ext uri="{BB962C8B-B14F-4D97-AF65-F5344CB8AC3E}">
        <p14:creationId xmlns:p14="http://schemas.microsoft.com/office/powerpoint/2010/main" val="42454733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1C95DFFC-46DE-C693-E21F-C6FA2A6199C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B33"/>
          </a:solidFill>
          <a:ln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A433284-BA7F-9CB8-0948-5142B8402780}"/>
              </a:ext>
            </a:extLst>
          </p:cNvPr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19D3E6"/>
          </a:solidFill>
          <a:ln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7DE1820-2C96-3896-DB3E-B527E1F9E02A}"/>
              </a:ext>
            </a:extLst>
          </p:cNvPr>
          <p:cNvSpPr/>
          <p:nvPr/>
        </p:nvSpPr>
        <p:spPr>
          <a:xfrm>
            <a:off x="10033000" y="0"/>
            <a:ext cx="2159000" cy="6858000"/>
          </a:xfrm>
          <a:prstGeom prst="rect">
            <a:avLst/>
          </a:prstGeom>
          <a:solidFill>
            <a:srgbClr val="082846"/>
          </a:solidFill>
          <a:ln>
            <a:solidFill>
              <a:srgbClr val="0828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5EBBE16-1957-4C71-3C76-E28E43C74BDD}"/>
              </a:ext>
            </a:extLst>
          </p:cNvPr>
          <p:cNvSpPr txBox="1"/>
          <p:nvPr/>
        </p:nvSpPr>
        <p:spPr>
          <a:xfrm>
            <a:off x="660400" y="431800"/>
            <a:ext cx="711200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2600" b="1">
                <a:solidFill>
                  <a:srgbClr val="FFFFFF"/>
                </a:solidFill>
                <a:latin typeface="Microsoft YaHei" panose="020B0503020204020204" pitchFamily="34" charset="-122"/>
              </a:rPr>
              <a:t>Lab3</a:t>
            </a:r>
            <a:r>
              <a:rPr lang="zh-CN" altLang="en-US" sz="2600" b="1">
                <a:solidFill>
                  <a:srgbClr val="FFFFFF"/>
                </a:solidFill>
                <a:latin typeface="Microsoft YaHei" panose="020B0503020204020204" pitchFamily="34" charset="-122"/>
              </a:rPr>
              <a:t>：页表与 </a:t>
            </a:r>
            <a:r>
              <a:rPr lang="en-US" altLang="zh-CN" sz="2600" b="1">
                <a:solidFill>
                  <a:srgbClr val="FFFFFF"/>
                </a:solidFill>
                <a:latin typeface="Microsoft YaHei" panose="020B0503020204020204" pitchFamily="34" charset="-122"/>
              </a:rPr>
              <a:t>copyout</a:t>
            </a:r>
            <a:endParaRPr lang="zh-CN" altLang="en-US" sz="26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B6AE7C9-508C-B553-5A6F-FE03A3F5D3CD}"/>
              </a:ext>
            </a:extLst>
          </p:cNvPr>
          <p:cNvSpPr txBox="1"/>
          <p:nvPr/>
        </p:nvSpPr>
        <p:spPr>
          <a:xfrm>
            <a:off x="10972800" y="431800"/>
            <a:ext cx="584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altLang="zh-CN" b="1">
                <a:solidFill>
                  <a:srgbClr val="7CE8F2"/>
                </a:solidFill>
                <a:latin typeface="Microsoft YaHei" panose="020B0503020204020204" pitchFamily="34" charset="-122"/>
              </a:rPr>
              <a:t>08</a:t>
            </a:r>
            <a:endParaRPr lang="zh-CN" altLang="en-US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71A4016-4CE9-8317-188A-574338819006}"/>
              </a:ext>
            </a:extLst>
          </p:cNvPr>
          <p:cNvSpPr txBox="1"/>
          <p:nvPr/>
        </p:nvSpPr>
        <p:spPr>
          <a:xfrm>
            <a:off x="685800" y="1092200"/>
            <a:ext cx="7747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1500">
                <a:solidFill>
                  <a:srgbClr val="EEF8FC"/>
                </a:solidFill>
                <a:latin typeface="Microsoft YaHei" panose="020B0503020204020204" pitchFamily="34" charset="-122"/>
              </a:rPr>
              <a:t>Lab3 </a:t>
            </a:r>
            <a:r>
              <a:rPr lang="zh-CN" altLang="en-US" sz="1500">
                <a:solidFill>
                  <a:srgbClr val="EEF8FC"/>
                </a:solidFill>
                <a:latin typeface="Microsoft YaHei" panose="020B0503020204020204" pitchFamily="34" charset="-122"/>
              </a:rPr>
              <a:t>通过 </a:t>
            </a:r>
            <a:r>
              <a:rPr lang="en-US" altLang="zh-CN" sz="1500">
                <a:solidFill>
                  <a:srgbClr val="EEF8FC"/>
                </a:solidFill>
                <a:latin typeface="Microsoft YaHei" panose="020B0503020204020204" pitchFamily="34" charset="-122"/>
              </a:rPr>
              <a:t>pgcount </a:t>
            </a:r>
            <a:r>
              <a:rPr lang="zh-CN" altLang="en-US" sz="1500">
                <a:solidFill>
                  <a:srgbClr val="EEF8FC"/>
                </a:solidFill>
                <a:latin typeface="Microsoft YaHei" panose="020B0503020204020204" pitchFamily="34" charset="-122"/>
              </a:rPr>
              <a:t>和 </a:t>
            </a:r>
            <a:r>
              <a:rPr lang="en-US" altLang="zh-CN" sz="1500">
                <a:solidFill>
                  <a:srgbClr val="EEF8FC"/>
                </a:solidFill>
                <a:latin typeface="Microsoft YaHei" panose="020B0503020204020204" pitchFamily="34" charset="-122"/>
              </a:rPr>
              <a:t>memstat </a:t>
            </a:r>
            <a:r>
              <a:rPr lang="zh-CN" altLang="en-US" sz="1500">
                <a:solidFill>
                  <a:srgbClr val="EEF8FC"/>
                </a:solidFill>
                <a:latin typeface="Microsoft YaHei" panose="020B0503020204020204" pitchFamily="34" charset="-122"/>
              </a:rPr>
              <a:t>区分“地址空间增长”和“真实用户页映射”。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7663D9D9-1828-7F40-4343-7517517C931E}"/>
              </a:ext>
            </a:extLst>
          </p:cNvPr>
          <p:cNvSpPr/>
          <p:nvPr/>
        </p:nvSpPr>
        <p:spPr>
          <a:xfrm>
            <a:off x="1143000" y="2159000"/>
            <a:ext cx="2095500" cy="4318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eager sbrk</a:t>
            </a:r>
            <a:endParaRPr lang="zh-CN" altLang="en-US" sz="140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9455E2DF-A5D5-E8CA-2FFB-D24F672178CC}"/>
              </a:ext>
            </a:extLst>
          </p:cNvPr>
          <p:cNvSpPr/>
          <p:nvPr/>
        </p:nvSpPr>
        <p:spPr>
          <a:xfrm>
            <a:off x="1219200" y="2819400"/>
            <a:ext cx="1905000" cy="889000"/>
          </a:xfrm>
          <a:prstGeom prst="roundRect">
            <a:avLst/>
          </a:prstGeom>
          <a:solidFill>
            <a:srgbClr val="23B26D"/>
          </a:solidFill>
          <a:ln w="13970">
            <a:solidFill>
              <a:srgbClr val="23B26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500" b="1">
                <a:solidFill>
                  <a:srgbClr val="09243D"/>
                </a:solidFill>
                <a:latin typeface="Microsoft YaHei" panose="020B0503020204020204" pitchFamily="34" charset="-122"/>
              </a:rPr>
              <a:t>立即映射 </a:t>
            </a:r>
            <a:r>
              <a:rPr lang="en-US" altLang="zh-CN" sz="1500" b="1">
                <a:solidFill>
                  <a:srgbClr val="09243D"/>
                </a:solidFill>
                <a:latin typeface="Microsoft YaHei" panose="020B0503020204020204" pitchFamily="34" charset="-122"/>
              </a:rPr>
              <a:t>2 </a:t>
            </a:r>
            <a:r>
              <a:rPr lang="zh-CN" altLang="en-US" sz="1500" b="1">
                <a:solidFill>
                  <a:srgbClr val="09243D"/>
                </a:solidFill>
                <a:latin typeface="Microsoft YaHei" panose="020B0503020204020204" pitchFamily="34" charset="-122"/>
              </a:rPr>
              <a:t>页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08447280-1F63-BB5B-6F6A-AA847594AF4E}"/>
              </a:ext>
            </a:extLst>
          </p:cNvPr>
          <p:cNvSpPr/>
          <p:nvPr/>
        </p:nvSpPr>
        <p:spPr>
          <a:xfrm>
            <a:off x="4191000" y="2159000"/>
            <a:ext cx="2095500" cy="4318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lazy sbrklazy</a:t>
            </a:r>
            <a:endParaRPr lang="zh-CN" altLang="en-US" sz="140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121F8BDF-0A0A-E7DC-DF24-3D28B3D0524E}"/>
              </a:ext>
            </a:extLst>
          </p:cNvPr>
          <p:cNvSpPr/>
          <p:nvPr/>
        </p:nvSpPr>
        <p:spPr>
          <a:xfrm>
            <a:off x="4292600" y="2819400"/>
            <a:ext cx="1905000" cy="571500"/>
          </a:xfrm>
          <a:prstGeom prst="roundRect">
            <a:avLst/>
          </a:prstGeom>
          <a:solidFill>
            <a:srgbClr val="0E3D5D"/>
          </a:solidFill>
          <a:ln w="13970">
            <a:solidFill>
              <a:srgbClr val="0E3D5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200" b="1">
                <a:solidFill>
                  <a:srgbClr val="FFFFFF"/>
                </a:solidFill>
                <a:latin typeface="Microsoft YaHei" panose="020B0503020204020204" pitchFamily="34" charset="-122"/>
              </a:rPr>
              <a:t>touch </a:t>
            </a:r>
            <a:r>
              <a:rPr lang="zh-CN" altLang="en-US" sz="1200" b="1">
                <a:solidFill>
                  <a:srgbClr val="FFFFFF"/>
                </a:solidFill>
                <a:latin typeface="Microsoft YaHei" panose="020B0503020204020204" pitchFamily="34" charset="-122"/>
              </a:rPr>
              <a:t>前 </a:t>
            </a:r>
            <a:r>
              <a:rPr lang="en-US" altLang="zh-CN" sz="1200" b="1">
                <a:solidFill>
                  <a:srgbClr val="FFFFFF"/>
                </a:solidFill>
                <a:latin typeface="Microsoft YaHei" panose="020B0503020204020204" pitchFamily="34" charset="-122"/>
              </a:rPr>
              <a:t>0</a:t>
            </a:r>
            <a:endParaRPr lang="zh-CN" altLang="en-US" sz="12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1B1FC52C-DCBF-4D92-0292-3D234EDF4A41}"/>
              </a:ext>
            </a:extLst>
          </p:cNvPr>
          <p:cNvSpPr/>
          <p:nvPr/>
        </p:nvSpPr>
        <p:spPr>
          <a:xfrm>
            <a:off x="4292600" y="3606800"/>
            <a:ext cx="1905000" cy="7620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C6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200" b="1">
                <a:solidFill>
                  <a:srgbClr val="FFFFFF"/>
                </a:solidFill>
                <a:latin typeface="Microsoft YaHei" panose="020B0503020204020204" pitchFamily="34" charset="-122"/>
              </a:rPr>
              <a:t>touch </a:t>
            </a:r>
            <a:r>
              <a:rPr lang="zh-CN" altLang="en-US" sz="1200" b="1">
                <a:solidFill>
                  <a:srgbClr val="FFFFFF"/>
                </a:solidFill>
                <a:latin typeface="Microsoft YaHei" panose="020B0503020204020204" pitchFamily="34" charset="-122"/>
              </a:rPr>
              <a:t>后 </a:t>
            </a:r>
            <a:r>
              <a:rPr lang="en-US" altLang="zh-CN" sz="1200" b="1">
                <a:solidFill>
                  <a:srgbClr val="FFFFFF"/>
                </a:solidFill>
                <a:latin typeface="Microsoft YaHei" panose="020B0503020204020204" pitchFamily="34" charset="-122"/>
              </a:rPr>
              <a:t>1 / 2</a:t>
            </a:r>
            <a:endParaRPr lang="zh-CN" altLang="en-US" sz="12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CC670CC3-887F-E658-F25E-A2A7FDB16CB2}"/>
              </a:ext>
            </a:extLst>
          </p:cNvPr>
          <p:cNvSpPr/>
          <p:nvPr/>
        </p:nvSpPr>
        <p:spPr>
          <a:xfrm>
            <a:off x="7302500" y="3098800"/>
            <a:ext cx="990600" cy="558800"/>
          </a:xfrm>
          <a:prstGeom prst="roundRect">
            <a:avLst/>
          </a:prstGeom>
          <a:solidFill>
            <a:srgbClr val="08284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000" b="1">
                <a:solidFill>
                  <a:srgbClr val="EEF8FC"/>
                </a:solidFill>
                <a:latin typeface="Microsoft YaHei" panose="020B0503020204020204" pitchFamily="34" charset="-122"/>
              </a:rPr>
              <a:t>argaddr</a:t>
            </a:r>
            <a:endParaRPr lang="zh-CN" altLang="en-US" sz="1000" b="1">
              <a:solidFill>
                <a:srgbClr val="EEF8FC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DD22757D-7C60-D813-7487-0BB8A9D568EC}"/>
              </a:ext>
            </a:extLst>
          </p:cNvPr>
          <p:cNvSpPr txBox="1"/>
          <p:nvPr/>
        </p:nvSpPr>
        <p:spPr>
          <a:xfrm>
            <a:off x="8318500" y="3200400"/>
            <a:ext cx="2540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1600" b="1">
                <a:solidFill>
                  <a:srgbClr val="7CE8F2"/>
                </a:solidFill>
                <a:latin typeface="Microsoft YaHei" panose="020B0503020204020204" pitchFamily="34" charset="-122"/>
              </a:rPr>
              <a:t>&gt;</a:t>
            </a:r>
            <a:endParaRPr lang="zh-CN" altLang="en-US" sz="1600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4034AD1E-3FE6-AF01-EC7F-55BA2080446E}"/>
              </a:ext>
            </a:extLst>
          </p:cNvPr>
          <p:cNvSpPr/>
          <p:nvPr/>
        </p:nvSpPr>
        <p:spPr>
          <a:xfrm>
            <a:off x="8521700" y="3098800"/>
            <a:ext cx="990600" cy="558800"/>
          </a:xfrm>
          <a:prstGeom prst="roundRect">
            <a:avLst/>
          </a:prstGeom>
          <a:solidFill>
            <a:srgbClr val="08284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000" b="1">
                <a:solidFill>
                  <a:srgbClr val="EEF8FC"/>
                </a:solidFill>
                <a:latin typeface="Microsoft YaHei" panose="020B0503020204020204" pitchFamily="34" charset="-122"/>
              </a:rPr>
              <a:t>copyout</a:t>
            </a:r>
            <a:endParaRPr lang="zh-CN" altLang="en-US" sz="1000" b="1">
              <a:solidFill>
                <a:srgbClr val="EEF8FC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20AC813A-E4B4-F9C8-B6D9-95DAFCF7AAF5}"/>
              </a:ext>
            </a:extLst>
          </p:cNvPr>
          <p:cNvSpPr txBox="1"/>
          <p:nvPr/>
        </p:nvSpPr>
        <p:spPr>
          <a:xfrm>
            <a:off x="9537700" y="3200400"/>
            <a:ext cx="2540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1600" b="1">
                <a:solidFill>
                  <a:srgbClr val="7CE8F2"/>
                </a:solidFill>
                <a:latin typeface="Microsoft YaHei" panose="020B0503020204020204" pitchFamily="34" charset="-122"/>
              </a:rPr>
              <a:t>&gt;</a:t>
            </a:r>
            <a:endParaRPr lang="zh-CN" altLang="en-US" sz="1600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72806305-7F19-D3D4-A98D-5AFF5E7B8E5C}"/>
              </a:ext>
            </a:extLst>
          </p:cNvPr>
          <p:cNvSpPr/>
          <p:nvPr/>
        </p:nvSpPr>
        <p:spPr>
          <a:xfrm>
            <a:off x="9740900" y="3098800"/>
            <a:ext cx="990600" cy="558800"/>
          </a:xfrm>
          <a:prstGeom prst="roundRect">
            <a:avLst/>
          </a:prstGeom>
          <a:solidFill>
            <a:srgbClr val="23B26D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000" b="1">
                <a:solidFill>
                  <a:srgbClr val="09243D"/>
                </a:solidFill>
                <a:latin typeface="Microsoft YaHei" panose="020B0503020204020204" pitchFamily="34" charset="-122"/>
              </a:rPr>
              <a:t>struct memstat</a:t>
            </a:r>
            <a:endParaRPr lang="zh-CN" altLang="en-US" sz="100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2CA6E9B0-974D-EED2-A177-40375DB8CAD1}"/>
              </a:ext>
            </a:extLst>
          </p:cNvPr>
          <p:cNvSpPr/>
          <p:nvPr/>
        </p:nvSpPr>
        <p:spPr>
          <a:xfrm>
            <a:off x="2133600" y="5207000"/>
            <a:ext cx="6604000" cy="584200"/>
          </a:xfrm>
          <a:prstGeom prst="roundRect">
            <a:avLst/>
          </a:prstGeom>
          <a:solidFill>
            <a:srgbClr val="082846"/>
          </a:solidFill>
          <a:ln w="13970">
            <a:solidFill>
              <a:srgbClr val="0E3D5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200" b="1">
                <a:solidFill>
                  <a:srgbClr val="EEF8FC"/>
                </a:solidFill>
                <a:latin typeface="Microsoft YaHei" panose="020B0503020204020204" pitchFamily="34" charset="-122"/>
              </a:rPr>
              <a:t>边界：这是页表观察，不是完整内存管理</a:t>
            </a:r>
          </a:p>
        </p:txBody>
      </p:sp>
    </p:spTree>
    <p:extLst>
      <p:ext uri="{BB962C8B-B14F-4D97-AF65-F5344CB8AC3E}">
        <p14:creationId xmlns:p14="http://schemas.microsoft.com/office/powerpoint/2010/main" val="39563919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F8A3F3F7-DBBF-8CDB-EE28-13C52E56664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F8FC"/>
          </a:solidFill>
          <a:ln>
            <a:solidFill>
              <a:srgbClr val="EEF8F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8142B2B-6B02-0744-8BAE-A7C9CDC53629}"/>
              </a:ext>
            </a:extLst>
          </p:cNvPr>
          <p:cNvSpPr/>
          <p:nvPr/>
        </p:nvSpPr>
        <p:spPr>
          <a:xfrm>
            <a:off x="0" y="0"/>
            <a:ext cx="1625600" cy="6858000"/>
          </a:xfrm>
          <a:prstGeom prst="rect">
            <a:avLst/>
          </a:prstGeom>
          <a:solidFill>
            <a:srgbClr val="061B33"/>
          </a:solidFill>
          <a:ln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AAFE58E-7266-B473-966D-C67A6C5CD8D7}"/>
              </a:ext>
            </a:extLst>
          </p:cNvPr>
          <p:cNvSpPr/>
          <p:nvPr/>
        </p:nvSpPr>
        <p:spPr>
          <a:xfrm>
            <a:off x="1625600" y="0"/>
            <a:ext cx="76200" cy="6858000"/>
          </a:xfrm>
          <a:prstGeom prst="rect">
            <a:avLst/>
          </a:prstGeom>
          <a:solidFill>
            <a:srgbClr val="19D3E6"/>
          </a:solidFill>
          <a:ln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470A85A-BACE-0686-C4D8-4431C81DDF71}"/>
              </a:ext>
            </a:extLst>
          </p:cNvPr>
          <p:cNvSpPr txBox="1"/>
          <p:nvPr/>
        </p:nvSpPr>
        <p:spPr>
          <a:xfrm>
            <a:off x="2006600" y="431800"/>
            <a:ext cx="75565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2500" b="1">
                <a:solidFill>
                  <a:srgbClr val="09243D"/>
                </a:solidFill>
                <a:latin typeface="Microsoft YaHei" panose="020B0503020204020204" pitchFamily="34" charset="-122"/>
              </a:rPr>
              <a:t>Lab4</a:t>
            </a:r>
            <a:r>
              <a:rPr lang="zh-CN" altLang="en-US" sz="2500" b="1">
                <a:solidFill>
                  <a:srgbClr val="09243D"/>
                </a:solidFill>
                <a:latin typeface="Microsoft YaHei" panose="020B0503020204020204" pitchFamily="34" charset="-122"/>
              </a:rPr>
              <a:t>：</a:t>
            </a:r>
            <a:r>
              <a:rPr lang="en-US" altLang="zh-CN" sz="2500" b="1">
                <a:solidFill>
                  <a:srgbClr val="09243D"/>
                </a:solidFill>
                <a:latin typeface="Microsoft YaHei" panose="020B0503020204020204" pitchFamily="34" charset="-122"/>
              </a:rPr>
              <a:t>fd </a:t>
            </a:r>
            <a:r>
              <a:rPr lang="zh-CN" altLang="en-US" sz="2500" b="1">
                <a:solidFill>
                  <a:srgbClr val="09243D"/>
                </a:solidFill>
                <a:latin typeface="Microsoft YaHei" panose="020B0503020204020204" pitchFamily="34" charset="-122"/>
              </a:rPr>
              <a:t>与 </a:t>
            </a:r>
            <a:r>
              <a:rPr lang="en-US" altLang="zh-CN" sz="2500" b="1">
                <a:solidFill>
                  <a:srgbClr val="09243D"/>
                </a:solidFill>
                <a:latin typeface="Microsoft YaHei" panose="020B0503020204020204" pitchFamily="34" charset="-122"/>
              </a:rPr>
              <a:t>file </a:t>
            </a:r>
            <a:r>
              <a:rPr lang="zh-CN" altLang="en-US" sz="2500" b="1">
                <a:solidFill>
                  <a:srgbClr val="09243D"/>
                </a:solidFill>
                <a:latin typeface="Microsoft YaHei" panose="020B0503020204020204" pitchFamily="34" charset="-122"/>
              </a:rPr>
              <a:t>的关系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B8C54CE-95FF-4F33-1493-0D8B2F8A4EE0}"/>
              </a:ext>
            </a:extLst>
          </p:cNvPr>
          <p:cNvSpPr txBox="1"/>
          <p:nvPr/>
        </p:nvSpPr>
        <p:spPr>
          <a:xfrm>
            <a:off x="889000" y="457200"/>
            <a:ext cx="4826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1700" b="1">
                <a:solidFill>
                  <a:srgbClr val="7CE8F2"/>
                </a:solidFill>
                <a:latin typeface="Microsoft YaHei" panose="020B0503020204020204" pitchFamily="34" charset="-122"/>
              </a:rPr>
              <a:t>09</a:t>
            </a:r>
            <a:endParaRPr lang="zh-CN" altLang="en-US" sz="1700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FCA3398-2A1E-6888-F70E-A15F58EDD3A4}"/>
              </a:ext>
            </a:extLst>
          </p:cNvPr>
          <p:cNvSpPr txBox="1"/>
          <p:nvPr/>
        </p:nvSpPr>
        <p:spPr>
          <a:xfrm>
            <a:off x="2006600" y="1117600"/>
            <a:ext cx="7874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1500">
                <a:solidFill>
                  <a:srgbClr val="09243D"/>
                </a:solidFill>
                <a:latin typeface="Microsoft YaHei" panose="020B0503020204020204" pitchFamily="34" charset="-122"/>
              </a:rPr>
              <a:t>Lab4 </a:t>
            </a:r>
            <a:r>
              <a:rPr lang="zh-CN" altLang="en-US" sz="1500">
                <a:solidFill>
                  <a:srgbClr val="09243D"/>
                </a:solidFill>
                <a:latin typeface="Microsoft YaHei" panose="020B0503020204020204" pitchFamily="34" charset="-122"/>
              </a:rPr>
              <a:t>把当前进程 </a:t>
            </a:r>
            <a:r>
              <a:rPr lang="en-US" altLang="zh-CN" sz="1500">
                <a:solidFill>
                  <a:srgbClr val="09243D"/>
                </a:solidFill>
                <a:latin typeface="Microsoft YaHei" panose="020B0503020204020204" pitchFamily="34" charset="-122"/>
              </a:rPr>
              <a:t>fd table </a:t>
            </a:r>
            <a:r>
              <a:rPr lang="zh-CN" altLang="en-US" sz="1500">
                <a:solidFill>
                  <a:srgbClr val="09243D"/>
                </a:solidFill>
                <a:latin typeface="Microsoft YaHei" panose="020B0503020204020204" pitchFamily="34" charset="-122"/>
              </a:rPr>
              <a:t>和全局 </a:t>
            </a:r>
            <a:r>
              <a:rPr lang="en-US" altLang="zh-CN" sz="1500">
                <a:solidFill>
                  <a:srgbClr val="09243D"/>
                </a:solidFill>
                <a:latin typeface="Microsoft YaHei" panose="020B0503020204020204" pitchFamily="34" charset="-122"/>
              </a:rPr>
              <a:t>file table </a:t>
            </a:r>
            <a:r>
              <a:rPr lang="zh-CN" altLang="en-US" sz="1500">
                <a:solidFill>
                  <a:srgbClr val="09243D"/>
                </a:solidFill>
                <a:latin typeface="Microsoft YaHei" panose="020B0503020204020204" pitchFamily="34" charset="-122"/>
              </a:rPr>
              <a:t>拆开观察，避免把文件系统讲成黑盒。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801089B4-AF5F-7F71-FF50-9E6026EBE80F}"/>
              </a:ext>
            </a:extLst>
          </p:cNvPr>
          <p:cNvSpPr/>
          <p:nvPr/>
        </p:nvSpPr>
        <p:spPr>
          <a:xfrm>
            <a:off x="2413000" y="2603500"/>
            <a:ext cx="1905000" cy="11430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C6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300" b="1">
                <a:solidFill>
                  <a:srgbClr val="FFFFFF"/>
                </a:solidFill>
                <a:latin typeface="Microsoft YaHei" panose="020B0503020204020204" pitchFamily="34" charset="-122"/>
              </a:rPr>
              <a:t>当前进程 </a:t>
            </a:r>
            <a:r>
              <a:rPr lang="en-US" altLang="zh-CN" sz="1300" b="1">
                <a:solidFill>
                  <a:srgbClr val="FFFFFF"/>
                </a:solidFill>
                <a:latin typeface="Microsoft YaHei" panose="020B0503020204020204" pitchFamily="34" charset="-122"/>
              </a:rPr>
              <a:t>ofile[]</a:t>
            </a:r>
          </a:p>
          <a:p>
            <a:pPr algn="ctr"/>
            <a:r>
              <a:rPr lang="en-US" altLang="zh-CN" sz="1300" b="1">
                <a:solidFill>
                  <a:srgbClr val="FFFFFF"/>
                </a:solidFill>
                <a:latin typeface="Microsoft YaHei" panose="020B0503020204020204" pitchFamily="34" charset="-122"/>
              </a:rPr>
              <a:t>fd 0 / 1 / 2 / 3</a:t>
            </a:r>
            <a:endParaRPr lang="zh-CN" altLang="en-US" sz="13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0D74A64-70AC-80C7-95CF-702CEB63BBF0}"/>
              </a:ext>
            </a:extLst>
          </p:cNvPr>
          <p:cNvSpPr txBox="1"/>
          <p:nvPr/>
        </p:nvSpPr>
        <p:spPr>
          <a:xfrm>
            <a:off x="4572000" y="2921000"/>
            <a:ext cx="38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2400" b="1">
                <a:solidFill>
                  <a:srgbClr val="1C6DD0"/>
                </a:solidFill>
                <a:latin typeface="Microsoft YaHei" panose="020B0503020204020204" pitchFamily="34" charset="-122"/>
              </a:rPr>
              <a:t>&gt;</a:t>
            </a:r>
            <a:endParaRPr lang="zh-CN" altLang="en-US" sz="2400" b="1">
              <a:solidFill>
                <a:srgbClr val="1C6DD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167F29C-8CB8-4D0C-AC67-6872FE7D20D7}"/>
              </a:ext>
            </a:extLst>
          </p:cNvPr>
          <p:cNvSpPr/>
          <p:nvPr/>
        </p:nvSpPr>
        <p:spPr>
          <a:xfrm>
            <a:off x="5207000" y="2603500"/>
            <a:ext cx="1905000" cy="1143000"/>
          </a:xfrm>
          <a:prstGeom prst="roundRect">
            <a:avLst/>
          </a:prstGeom>
          <a:solidFill>
            <a:srgbClr val="061B33"/>
          </a:solidFill>
          <a:ln w="13970"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500" b="1">
                <a:solidFill>
                  <a:srgbClr val="FFFFFF"/>
                </a:solidFill>
                <a:latin typeface="Microsoft YaHei" panose="020B0503020204020204" pitchFamily="34" charset="-122"/>
              </a:rPr>
              <a:t>struct file</a:t>
            </a:r>
            <a:endParaRPr lang="zh-CN" altLang="en-US" sz="15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388CA8A-A701-B333-9FC3-CF5001CCB376}"/>
              </a:ext>
            </a:extLst>
          </p:cNvPr>
          <p:cNvSpPr txBox="1"/>
          <p:nvPr/>
        </p:nvSpPr>
        <p:spPr>
          <a:xfrm>
            <a:off x="7366000" y="2921000"/>
            <a:ext cx="38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2400" b="1">
                <a:solidFill>
                  <a:srgbClr val="1C6DD0"/>
                </a:solidFill>
                <a:latin typeface="Microsoft YaHei" panose="020B0503020204020204" pitchFamily="34" charset="-122"/>
              </a:rPr>
              <a:t>&gt;</a:t>
            </a:r>
            <a:endParaRPr lang="zh-CN" altLang="en-US" sz="2400" b="1">
              <a:solidFill>
                <a:srgbClr val="1C6DD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6F20611B-269B-3DF3-8B86-ACCB8059911F}"/>
              </a:ext>
            </a:extLst>
          </p:cNvPr>
          <p:cNvSpPr/>
          <p:nvPr/>
        </p:nvSpPr>
        <p:spPr>
          <a:xfrm>
            <a:off x="7975600" y="2603500"/>
            <a:ext cx="2159000" cy="11430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500" b="1">
                <a:solidFill>
                  <a:srgbClr val="09243D"/>
                </a:solidFill>
                <a:latin typeface="Microsoft YaHei" panose="020B0503020204020204" pitchFamily="34" charset="-122"/>
              </a:rPr>
              <a:t>全局 </a:t>
            </a:r>
            <a:r>
              <a:rPr lang="en-US" altLang="zh-CN" sz="1500" b="1">
                <a:solidFill>
                  <a:srgbClr val="09243D"/>
                </a:solidFill>
                <a:latin typeface="Microsoft YaHei" panose="020B0503020204020204" pitchFamily="34" charset="-122"/>
              </a:rPr>
              <a:t>file table</a:t>
            </a:r>
            <a:endParaRPr lang="zh-CN" altLang="en-US" sz="150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AEEB12A4-B920-B85E-165F-D2F105B2F4C7}"/>
              </a:ext>
            </a:extLst>
          </p:cNvPr>
          <p:cNvSpPr/>
          <p:nvPr/>
        </p:nvSpPr>
        <p:spPr>
          <a:xfrm>
            <a:off x="2895600" y="4445000"/>
            <a:ext cx="2099733" cy="7366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300" b="1">
                <a:solidFill>
                  <a:srgbClr val="09243D"/>
                </a:solidFill>
                <a:latin typeface="Microsoft YaHei" panose="020B0503020204020204" pitchFamily="34" charset="-122"/>
              </a:rPr>
              <a:t>fcount</a:t>
            </a:r>
            <a:endParaRPr lang="zh-CN" altLang="en-US" sz="130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4FBF4056-4D36-F9CD-6492-F8A8C487FEBE}"/>
              </a:ext>
            </a:extLst>
          </p:cNvPr>
          <p:cNvSpPr/>
          <p:nvPr/>
        </p:nvSpPr>
        <p:spPr>
          <a:xfrm>
            <a:off x="5147733" y="4445000"/>
            <a:ext cx="2099734" cy="7366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C6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300" b="1">
                <a:solidFill>
                  <a:srgbClr val="09243D"/>
                </a:solidFill>
                <a:latin typeface="Microsoft YaHei" panose="020B0503020204020204" pitchFamily="34" charset="-122"/>
              </a:rPr>
              <a:t>fdcount</a:t>
            </a:r>
            <a:endParaRPr lang="zh-CN" altLang="en-US" sz="130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C2AB15C0-477E-000E-9F24-3B7DCA143479}"/>
              </a:ext>
            </a:extLst>
          </p:cNvPr>
          <p:cNvSpPr/>
          <p:nvPr/>
        </p:nvSpPr>
        <p:spPr>
          <a:xfrm>
            <a:off x="7399867" y="4445000"/>
            <a:ext cx="2099733" cy="736600"/>
          </a:xfrm>
          <a:prstGeom prst="roundRect">
            <a:avLst/>
          </a:prstGeom>
          <a:solidFill>
            <a:srgbClr val="23B26D"/>
          </a:solidFill>
          <a:ln w="13970">
            <a:solidFill>
              <a:srgbClr val="23B26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300" b="1">
                <a:solidFill>
                  <a:srgbClr val="09243D"/>
                </a:solidFill>
                <a:latin typeface="Microsoft YaHei" panose="020B0503020204020204" pitchFamily="34" charset="-122"/>
              </a:rPr>
              <a:t>fdinfo</a:t>
            </a:r>
            <a:endParaRPr lang="zh-CN" altLang="en-US" sz="130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8BA17EBB-70A1-044B-22BD-DB8F6FDD2D1B}"/>
              </a:ext>
            </a:extLst>
          </p:cNvPr>
          <p:cNvSpPr/>
          <p:nvPr/>
        </p:nvSpPr>
        <p:spPr>
          <a:xfrm>
            <a:off x="2984500" y="5562600"/>
            <a:ext cx="6350000" cy="5334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100">
                <a:solidFill>
                  <a:srgbClr val="09243D"/>
                </a:solidFill>
                <a:latin typeface="Microsoft YaHei" panose="020B0503020204020204" pitchFamily="34" charset="-122"/>
              </a:rPr>
              <a:t>边界：这是文件表观察，不是完整文件系统</a:t>
            </a:r>
          </a:p>
        </p:txBody>
      </p:sp>
    </p:spTree>
    <p:extLst>
      <p:ext uri="{BB962C8B-B14F-4D97-AF65-F5344CB8AC3E}">
        <p14:creationId xmlns:p14="http://schemas.microsoft.com/office/powerpoint/2010/main" val="42374993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9CA33609-6A5E-02BC-49C7-7C926AD9595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B33"/>
          </a:solidFill>
          <a:ln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4AC2457-DB77-F837-77EC-42E7D3D3CA1D}"/>
              </a:ext>
            </a:extLst>
          </p:cNvPr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19D3E6"/>
          </a:solidFill>
          <a:ln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B9040B7-C64C-F2F0-7DC3-AFB8B6A3DEAF}"/>
              </a:ext>
            </a:extLst>
          </p:cNvPr>
          <p:cNvSpPr/>
          <p:nvPr/>
        </p:nvSpPr>
        <p:spPr>
          <a:xfrm>
            <a:off x="10033000" y="0"/>
            <a:ext cx="2159000" cy="6858000"/>
          </a:xfrm>
          <a:prstGeom prst="rect">
            <a:avLst/>
          </a:prstGeom>
          <a:solidFill>
            <a:srgbClr val="082846"/>
          </a:solidFill>
          <a:ln>
            <a:solidFill>
              <a:srgbClr val="0828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E641022-7B63-F707-34FA-901F248E779A}"/>
              </a:ext>
            </a:extLst>
          </p:cNvPr>
          <p:cNvSpPr txBox="1"/>
          <p:nvPr/>
        </p:nvSpPr>
        <p:spPr>
          <a:xfrm>
            <a:off x="660400" y="431800"/>
            <a:ext cx="711200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2600" b="1">
                <a:solidFill>
                  <a:srgbClr val="FFFFFF"/>
                </a:solidFill>
                <a:latin typeface="Microsoft YaHei" panose="020B0503020204020204" pitchFamily="34" charset="-122"/>
              </a:rPr>
              <a:t>Lab5</a:t>
            </a:r>
            <a:r>
              <a:rPr lang="zh-CN" altLang="en-US" sz="2600" b="1">
                <a:solidFill>
                  <a:srgbClr val="FFFFFF"/>
                </a:solidFill>
                <a:latin typeface="Microsoft YaHei" panose="020B0503020204020204" pitchFamily="34" charset="-122"/>
              </a:rPr>
              <a:t>：把实验变成验收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8ECBCC5-2225-8D1F-7B52-B945A7F916E8}"/>
              </a:ext>
            </a:extLst>
          </p:cNvPr>
          <p:cNvSpPr txBox="1"/>
          <p:nvPr/>
        </p:nvSpPr>
        <p:spPr>
          <a:xfrm>
            <a:off x="10972800" y="431800"/>
            <a:ext cx="584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altLang="zh-CN" b="1">
                <a:solidFill>
                  <a:srgbClr val="7CE8F2"/>
                </a:solidFill>
                <a:latin typeface="Microsoft YaHei" panose="020B0503020204020204" pitchFamily="34" charset="-122"/>
              </a:rPr>
              <a:t>10</a:t>
            </a:r>
            <a:endParaRPr lang="zh-CN" altLang="en-US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9469399-8B7E-41A1-2699-0538D9C1C5A7}"/>
              </a:ext>
            </a:extLst>
          </p:cNvPr>
          <p:cNvSpPr txBox="1"/>
          <p:nvPr/>
        </p:nvSpPr>
        <p:spPr>
          <a:xfrm>
            <a:off x="685800" y="1092200"/>
            <a:ext cx="7747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1500">
                <a:solidFill>
                  <a:srgbClr val="EEF8FC"/>
                </a:solidFill>
                <a:latin typeface="Microsoft YaHei" panose="020B0503020204020204" pitchFamily="34" charset="-122"/>
              </a:rPr>
              <a:t>Lab5 </a:t>
            </a:r>
            <a:r>
              <a:rPr lang="zh-CN" altLang="en-US" sz="1500">
                <a:solidFill>
                  <a:srgbClr val="EEF8FC"/>
                </a:solidFill>
                <a:latin typeface="Microsoft YaHei" panose="020B0503020204020204" pitchFamily="34" charset="-122"/>
              </a:rPr>
              <a:t>不新增内核机制，而是把 </a:t>
            </a:r>
            <a:r>
              <a:rPr lang="en-US" altLang="zh-CN" sz="1500">
                <a:solidFill>
                  <a:srgbClr val="EEF8FC"/>
                </a:solidFill>
                <a:latin typeface="Microsoft YaHei" panose="020B0503020204020204" pitchFamily="34" charset="-122"/>
              </a:rPr>
              <a:t>Lab0-Lab4 </a:t>
            </a:r>
            <a:r>
              <a:rPr lang="zh-CN" altLang="en-US" sz="1500">
                <a:solidFill>
                  <a:srgbClr val="EEF8FC"/>
                </a:solidFill>
                <a:latin typeface="Microsoft YaHei" panose="020B0503020204020204" pitchFamily="34" charset="-122"/>
              </a:rPr>
              <a:t>串成一次完整的干净基线到全量验证。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9DED6EF3-108E-553F-975B-2E3788360433}"/>
              </a:ext>
            </a:extLst>
          </p:cNvPr>
          <p:cNvSpPr/>
          <p:nvPr/>
        </p:nvSpPr>
        <p:spPr>
          <a:xfrm>
            <a:off x="1524000" y="1955800"/>
            <a:ext cx="2921000" cy="3810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C6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干净基线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461FE7F4-C884-4CA8-F4DC-A45F1736BA96}"/>
              </a:ext>
            </a:extLst>
          </p:cNvPr>
          <p:cNvSpPr/>
          <p:nvPr/>
        </p:nvSpPr>
        <p:spPr>
          <a:xfrm>
            <a:off x="1524000" y="2501900"/>
            <a:ext cx="2921000" cy="3810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C6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应用 </a:t>
            </a:r>
            <a:r>
              <a:rPr lang="en-US" altLang="zh-CN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0001-0009</a:t>
            </a:r>
            <a:endParaRPr lang="zh-CN" altLang="en-US" sz="11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ACD8DD0E-F1C0-FDD8-3587-20DB9D3C3043}"/>
              </a:ext>
            </a:extLst>
          </p:cNvPr>
          <p:cNvSpPr/>
          <p:nvPr/>
        </p:nvSpPr>
        <p:spPr>
          <a:xfrm>
            <a:off x="1524000" y="3048000"/>
            <a:ext cx="2921000" cy="3810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C6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make</a:t>
            </a:r>
            <a:endParaRPr lang="zh-CN" altLang="en-US" sz="11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2B959DFC-B1C7-C180-C9DF-D166B25DBC2B}"/>
              </a:ext>
            </a:extLst>
          </p:cNvPr>
          <p:cNvSpPr/>
          <p:nvPr/>
        </p:nvSpPr>
        <p:spPr>
          <a:xfrm>
            <a:off x="1524000" y="3594100"/>
            <a:ext cx="2921000" cy="3810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C6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boot</a:t>
            </a:r>
            <a:endParaRPr lang="zh-CN" altLang="en-US" sz="11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85959C21-6C78-2C52-1376-28B6D72E2A5D}"/>
              </a:ext>
            </a:extLst>
          </p:cNvPr>
          <p:cNvSpPr/>
          <p:nvPr/>
        </p:nvSpPr>
        <p:spPr>
          <a:xfrm>
            <a:off x="1524000" y="4140200"/>
            <a:ext cx="2921000" cy="3810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100" b="1">
                <a:solidFill>
                  <a:srgbClr val="09243D"/>
                </a:solidFill>
                <a:latin typeface="Microsoft YaHei" panose="020B0503020204020204" pitchFamily="34" charset="-122"/>
              </a:rPr>
              <a:t>测试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C26ADCD8-6D2E-ADDF-03BD-DABC7700370D}"/>
              </a:ext>
            </a:extLst>
          </p:cNvPr>
          <p:cNvSpPr/>
          <p:nvPr/>
        </p:nvSpPr>
        <p:spPr>
          <a:xfrm>
            <a:off x="1524000" y="4686300"/>
            <a:ext cx="2921000" cy="3810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C6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摘要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1F8CDDEF-8CAD-A4DA-AD88-B0B1D24CCF88}"/>
              </a:ext>
            </a:extLst>
          </p:cNvPr>
          <p:cNvSpPr/>
          <p:nvPr/>
        </p:nvSpPr>
        <p:spPr>
          <a:xfrm>
            <a:off x="1524000" y="5232400"/>
            <a:ext cx="2921000" cy="381000"/>
          </a:xfrm>
          <a:prstGeom prst="roundRect">
            <a:avLst/>
          </a:prstGeom>
          <a:solidFill>
            <a:srgbClr val="23B26D"/>
          </a:solidFill>
          <a:ln w="13970">
            <a:solidFill>
              <a:srgbClr val="23B26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100" b="1">
                <a:solidFill>
                  <a:srgbClr val="09243D"/>
                </a:solidFill>
                <a:latin typeface="Microsoft YaHei" panose="020B0503020204020204" pitchFamily="34" charset="-122"/>
              </a:rPr>
              <a:t>报告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E32651A2-25E1-58B1-3A01-60401600EC6D}"/>
              </a:ext>
            </a:extLst>
          </p:cNvPr>
          <p:cNvSpPr/>
          <p:nvPr/>
        </p:nvSpPr>
        <p:spPr>
          <a:xfrm>
            <a:off x="6858000" y="3111500"/>
            <a:ext cx="2540000" cy="1206500"/>
          </a:xfrm>
          <a:prstGeom prst="roundRect">
            <a:avLst/>
          </a:prstGeom>
          <a:solidFill>
            <a:srgbClr val="F5B84B"/>
          </a:solidFill>
          <a:ln w="13970">
            <a:solidFill>
              <a:srgbClr val="F5B84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b="1">
                <a:solidFill>
                  <a:srgbClr val="09243D"/>
                </a:solidFill>
                <a:latin typeface="Microsoft YaHei" panose="020B0503020204020204" pitchFamily="34" charset="-122"/>
              </a:rPr>
              <a:t>Lab5 = </a:t>
            </a:r>
            <a:r>
              <a:rPr lang="zh-CN" altLang="en-US" b="1">
                <a:solidFill>
                  <a:srgbClr val="09243D"/>
                </a:solidFill>
                <a:latin typeface="Microsoft YaHei" panose="020B0503020204020204" pitchFamily="34" charset="-122"/>
              </a:rPr>
              <a:t>综合复现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6BFD2688-3A2C-F114-FE3E-4F69627559E4}"/>
              </a:ext>
            </a:extLst>
          </p:cNvPr>
          <p:cNvSpPr/>
          <p:nvPr/>
        </p:nvSpPr>
        <p:spPr>
          <a:xfrm>
            <a:off x="6426200" y="4648200"/>
            <a:ext cx="3556000" cy="1016000"/>
          </a:xfrm>
          <a:prstGeom prst="roundRect">
            <a:avLst/>
          </a:prstGeom>
          <a:solidFill>
            <a:srgbClr val="082846"/>
          </a:solidFill>
          <a:ln w="13970">
            <a:solidFill>
              <a:srgbClr val="0E3D5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r>
              <a:rPr lang="en-US" altLang="zh-CN" sz="1100">
                <a:solidFill>
                  <a:srgbClr val="EEF8FC"/>
                </a:solidFill>
                <a:latin typeface="Microsoft YaHei" panose="020B0503020204020204" pitchFamily="34" charset="-122"/>
              </a:rPr>
              <a:t>- </a:t>
            </a:r>
            <a:r>
              <a:rPr lang="zh-CN" altLang="en-US" sz="1100">
                <a:solidFill>
                  <a:srgbClr val="EEF8FC"/>
                </a:solidFill>
                <a:latin typeface="Microsoft YaHei" panose="020B0503020204020204" pitchFamily="34" charset="-122"/>
              </a:rPr>
              <a:t>干净基线</a:t>
            </a:r>
          </a:p>
          <a:p>
            <a:r>
              <a:rPr lang="en-US" altLang="zh-CN" sz="1100">
                <a:solidFill>
                  <a:srgbClr val="EEF8FC"/>
                </a:solidFill>
                <a:latin typeface="Microsoft YaHei" panose="020B0503020204020204" pitchFamily="34" charset="-122"/>
              </a:rPr>
              <a:t>- </a:t>
            </a:r>
            <a:r>
              <a:rPr lang="zh-CN" altLang="en-US" sz="1100">
                <a:solidFill>
                  <a:srgbClr val="EEF8FC"/>
                </a:solidFill>
                <a:latin typeface="Microsoft YaHei" panose="020B0503020204020204" pitchFamily="34" charset="-122"/>
              </a:rPr>
              <a:t>应用集成补丁 </a:t>
            </a:r>
            <a:r>
              <a:rPr lang="en-US" altLang="zh-CN" sz="1100">
                <a:solidFill>
                  <a:srgbClr val="EEF8FC"/>
                </a:solidFill>
                <a:latin typeface="Microsoft YaHei" panose="020B0503020204020204" pitchFamily="34" charset="-122"/>
              </a:rPr>
              <a:t>0001-0009</a:t>
            </a:r>
          </a:p>
          <a:p>
            <a:r>
              <a:rPr lang="en-US" altLang="zh-CN" sz="1100">
                <a:solidFill>
                  <a:srgbClr val="EEF8FC"/>
                </a:solidFill>
                <a:latin typeface="Microsoft YaHei" panose="020B0503020204020204" pitchFamily="34" charset="-122"/>
              </a:rPr>
              <a:t>- make</a:t>
            </a:r>
            <a:endParaRPr lang="zh-CN" altLang="en-US" sz="1100">
              <a:solidFill>
                <a:srgbClr val="EEF8FC"/>
              </a:solidFill>
              <a:latin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183978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5F7F1F63-11D8-8D4B-DBCE-E4D74C9EC19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F8FC"/>
          </a:solidFill>
          <a:ln>
            <a:solidFill>
              <a:srgbClr val="EEF8F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979A9EB-C689-35A1-C4A0-E73816EC6D9B}"/>
              </a:ext>
            </a:extLst>
          </p:cNvPr>
          <p:cNvSpPr/>
          <p:nvPr/>
        </p:nvSpPr>
        <p:spPr>
          <a:xfrm>
            <a:off x="0" y="0"/>
            <a:ext cx="1625600" cy="6858000"/>
          </a:xfrm>
          <a:prstGeom prst="rect">
            <a:avLst/>
          </a:prstGeom>
          <a:solidFill>
            <a:srgbClr val="061B33"/>
          </a:solidFill>
          <a:ln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11B97D0-A467-03D5-B32B-511825CAE4ED}"/>
              </a:ext>
            </a:extLst>
          </p:cNvPr>
          <p:cNvSpPr/>
          <p:nvPr/>
        </p:nvSpPr>
        <p:spPr>
          <a:xfrm>
            <a:off x="1625600" y="0"/>
            <a:ext cx="76200" cy="6858000"/>
          </a:xfrm>
          <a:prstGeom prst="rect">
            <a:avLst/>
          </a:prstGeom>
          <a:solidFill>
            <a:srgbClr val="19D3E6"/>
          </a:solidFill>
          <a:ln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8C82B6C-B97B-AF0E-85CB-0315FDDD6139}"/>
              </a:ext>
            </a:extLst>
          </p:cNvPr>
          <p:cNvSpPr txBox="1"/>
          <p:nvPr/>
        </p:nvSpPr>
        <p:spPr>
          <a:xfrm>
            <a:off x="2006600" y="431800"/>
            <a:ext cx="75565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500" b="1">
                <a:solidFill>
                  <a:srgbClr val="09243D"/>
                </a:solidFill>
                <a:latin typeface="Microsoft YaHei" panose="020B0503020204020204" pitchFamily="34" charset="-122"/>
              </a:rPr>
              <a:t>工具链：从脚本到课程入口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DC5BA3B-54B4-24F2-F5E1-0FACE2388BC1}"/>
              </a:ext>
            </a:extLst>
          </p:cNvPr>
          <p:cNvSpPr txBox="1"/>
          <p:nvPr/>
        </p:nvSpPr>
        <p:spPr>
          <a:xfrm>
            <a:off x="889000" y="457200"/>
            <a:ext cx="4826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1700" b="1">
                <a:solidFill>
                  <a:srgbClr val="7CE8F2"/>
                </a:solidFill>
                <a:latin typeface="Microsoft YaHei" panose="020B0503020204020204" pitchFamily="34" charset="-122"/>
              </a:rPr>
              <a:t>11</a:t>
            </a:r>
            <a:endParaRPr lang="zh-CN" altLang="en-US" sz="1700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41C2387-8CB2-6906-757B-CCDD24AB4A33}"/>
              </a:ext>
            </a:extLst>
          </p:cNvPr>
          <p:cNvSpPr txBox="1"/>
          <p:nvPr/>
        </p:nvSpPr>
        <p:spPr>
          <a:xfrm>
            <a:off x="2006600" y="1117600"/>
            <a:ext cx="7874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500">
                <a:solidFill>
                  <a:srgbClr val="09243D"/>
                </a:solidFill>
                <a:latin typeface="Microsoft YaHei" panose="020B0503020204020204" pitchFamily="34" charset="-122"/>
              </a:rPr>
              <a:t>工具链把复杂命令收束成课程入口，同时保留真实日志、摘要和可复核证据。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1ACEF9A0-880F-1F84-134E-D39A2887CED0}"/>
              </a:ext>
            </a:extLst>
          </p:cNvPr>
          <p:cNvSpPr/>
          <p:nvPr/>
        </p:nvSpPr>
        <p:spPr>
          <a:xfrm>
            <a:off x="5334000" y="2984500"/>
            <a:ext cx="1841500" cy="8128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2000" b="1">
                <a:solidFill>
                  <a:srgbClr val="09243D"/>
                </a:solidFill>
                <a:latin typeface="Microsoft YaHei" panose="020B0503020204020204" pitchFamily="34" charset="-122"/>
              </a:rPr>
              <a:t>labctl</a:t>
            </a:r>
            <a:endParaRPr lang="zh-CN" altLang="en-US" sz="200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146C6872-6112-3155-FDB1-88FDA7851BBA}"/>
              </a:ext>
            </a:extLst>
          </p:cNvPr>
          <p:cNvSpPr/>
          <p:nvPr/>
        </p:nvSpPr>
        <p:spPr>
          <a:xfrm>
            <a:off x="2667000" y="1905000"/>
            <a:ext cx="1841500" cy="609600"/>
          </a:xfrm>
          <a:prstGeom prst="roundRect">
            <a:avLst/>
          </a:prstGeom>
          <a:solidFill>
            <a:srgbClr val="061B33"/>
          </a:solidFill>
          <a:ln w="13970"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teammate-verify</a:t>
            </a:r>
            <a:endParaRPr lang="zh-CN" altLang="en-US" sz="11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17ED00E9-6513-5211-43C6-C4A8934A2E01}"/>
              </a:ext>
            </a:extLst>
          </p:cNvPr>
          <p:cNvSpPr/>
          <p:nvPr/>
        </p:nvSpPr>
        <p:spPr>
          <a:xfrm>
            <a:off x="8255000" y="1905000"/>
            <a:ext cx="1841500" cy="609600"/>
          </a:xfrm>
          <a:prstGeom prst="roundRect">
            <a:avLst/>
          </a:prstGeom>
          <a:solidFill>
            <a:srgbClr val="061B33"/>
          </a:solidFill>
          <a:ln w="13970"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QEMU</a:t>
            </a:r>
            <a:endParaRPr lang="zh-CN" altLang="en-US" sz="11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0CF855A3-B818-672E-F902-BC69FC32F7F3}"/>
              </a:ext>
            </a:extLst>
          </p:cNvPr>
          <p:cNvSpPr/>
          <p:nvPr/>
        </p:nvSpPr>
        <p:spPr>
          <a:xfrm>
            <a:off x="2667000" y="4572000"/>
            <a:ext cx="1841500" cy="609600"/>
          </a:xfrm>
          <a:prstGeom prst="roundRect">
            <a:avLst/>
          </a:prstGeom>
          <a:solidFill>
            <a:srgbClr val="061B33"/>
          </a:solidFill>
          <a:ln w="13970"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摘要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567828AB-6F3A-606B-367D-AC5E7CBFE711}"/>
              </a:ext>
            </a:extLst>
          </p:cNvPr>
          <p:cNvSpPr/>
          <p:nvPr/>
        </p:nvSpPr>
        <p:spPr>
          <a:xfrm>
            <a:off x="8255000" y="4572000"/>
            <a:ext cx="1841500" cy="609600"/>
          </a:xfrm>
          <a:prstGeom prst="roundRect">
            <a:avLst/>
          </a:prstGeom>
          <a:solidFill>
            <a:srgbClr val="061B33"/>
          </a:solidFill>
          <a:ln w="13970"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grade-summaries</a:t>
            </a:r>
            <a:endParaRPr lang="zh-CN" altLang="en-US" sz="11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209BA874-5E3B-DAA2-88AB-9DFA57ABB770}"/>
              </a:ext>
            </a:extLst>
          </p:cNvPr>
          <p:cNvSpPr/>
          <p:nvPr/>
        </p:nvSpPr>
        <p:spPr>
          <a:xfrm>
            <a:off x="5334000" y="5461000"/>
            <a:ext cx="1841500" cy="609600"/>
          </a:xfrm>
          <a:prstGeom prst="roundRect">
            <a:avLst/>
          </a:prstGeom>
          <a:solidFill>
            <a:srgbClr val="061B33"/>
          </a:solidFill>
          <a:ln w="13970"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文档一致性</a:t>
            </a:r>
          </a:p>
          <a:p>
            <a:pPr algn="ctr"/>
            <a:r>
              <a:rPr lang="en-US" altLang="zh-CN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SHA256 </a:t>
            </a:r>
            <a:r>
              <a:rPr lang="zh-CN" altLang="en-US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核验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B19ADA3A-4CBD-D85B-93A4-EAC990B82A19}"/>
              </a:ext>
            </a:extLst>
          </p:cNvPr>
          <p:cNvSpPr/>
          <p:nvPr/>
        </p:nvSpPr>
        <p:spPr>
          <a:xfrm>
            <a:off x="5334000" y="1905000"/>
            <a:ext cx="1841500" cy="482600"/>
          </a:xfrm>
          <a:prstGeom prst="roundRect">
            <a:avLst/>
          </a:prstGeom>
          <a:solidFill>
            <a:srgbClr val="23B26D"/>
          </a:solidFill>
          <a:ln w="13970">
            <a:solidFill>
              <a:srgbClr val="23B26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300" b="1">
                <a:solidFill>
                  <a:srgbClr val="09243D"/>
                </a:solidFill>
                <a:latin typeface="Microsoft YaHei" panose="020B0503020204020204" pitchFamily="34" charset="-122"/>
              </a:rPr>
              <a:t>课程入口</a:t>
            </a:r>
          </a:p>
        </p:txBody>
      </p:sp>
    </p:spTree>
    <p:extLst>
      <p:ext uri="{BB962C8B-B14F-4D97-AF65-F5344CB8AC3E}">
        <p14:creationId xmlns:p14="http://schemas.microsoft.com/office/powerpoint/2010/main" val="21458714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CEFAD57A-163B-4D67-816E-3E2482AC39E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B33"/>
          </a:solidFill>
          <a:ln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85622F5-1711-8B8A-77D0-D75416D35228}"/>
              </a:ext>
            </a:extLst>
          </p:cNvPr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19D3E6"/>
          </a:solidFill>
          <a:ln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5FBD4E8-4512-D59B-AB67-60D3AA717CB3}"/>
              </a:ext>
            </a:extLst>
          </p:cNvPr>
          <p:cNvSpPr/>
          <p:nvPr/>
        </p:nvSpPr>
        <p:spPr>
          <a:xfrm>
            <a:off x="10033000" y="0"/>
            <a:ext cx="2159000" cy="6858000"/>
          </a:xfrm>
          <a:prstGeom prst="rect">
            <a:avLst/>
          </a:prstGeom>
          <a:solidFill>
            <a:srgbClr val="082846"/>
          </a:solidFill>
          <a:ln>
            <a:solidFill>
              <a:srgbClr val="0828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BCBE96C-F9A9-4713-2272-E69A2244F28A}"/>
              </a:ext>
            </a:extLst>
          </p:cNvPr>
          <p:cNvSpPr txBox="1"/>
          <p:nvPr/>
        </p:nvSpPr>
        <p:spPr>
          <a:xfrm>
            <a:off x="660400" y="431800"/>
            <a:ext cx="711200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600" b="1">
                <a:solidFill>
                  <a:srgbClr val="FFFFFF"/>
                </a:solidFill>
                <a:latin typeface="Microsoft YaHei" panose="020B0503020204020204" pitchFamily="34" charset="-122"/>
              </a:rPr>
              <a:t>三方复现证据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B631D54-CB7E-E8B3-E44C-E6E5B1E1ABA5}"/>
              </a:ext>
            </a:extLst>
          </p:cNvPr>
          <p:cNvSpPr txBox="1"/>
          <p:nvPr/>
        </p:nvSpPr>
        <p:spPr>
          <a:xfrm>
            <a:off x="10972800" y="431800"/>
            <a:ext cx="584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altLang="zh-CN" b="1">
                <a:solidFill>
                  <a:srgbClr val="7CE8F2"/>
                </a:solidFill>
                <a:latin typeface="Microsoft YaHei" panose="020B0503020204020204" pitchFamily="34" charset="-122"/>
              </a:rPr>
              <a:t>12</a:t>
            </a:r>
            <a:endParaRPr lang="zh-CN" altLang="en-US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832F44B-A79E-5FE6-61FF-75CF055FFF38}"/>
              </a:ext>
            </a:extLst>
          </p:cNvPr>
          <p:cNvSpPr txBox="1"/>
          <p:nvPr/>
        </p:nvSpPr>
        <p:spPr>
          <a:xfrm>
            <a:off x="685800" y="1092200"/>
            <a:ext cx="7747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500">
                <a:solidFill>
                  <a:srgbClr val="EEF8FC"/>
                </a:solidFill>
                <a:latin typeface="Microsoft YaHei" panose="020B0503020204020204" pitchFamily="34" charset="-122"/>
              </a:rPr>
              <a:t>最终 </a:t>
            </a:r>
            <a:r>
              <a:rPr lang="en-US" altLang="zh-CN" sz="1500">
                <a:solidFill>
                  <a:srgbClr val="EEF8FC"/>
                </a:solidFill>
                <a:latin typeface="Microsoft YaHei" panose="020B0503020204020204" pitchFamily="34" charset="-122"/>
              </a:rPr>
              <a:t>HEAD </a:t>
            </a:r>
            <a:r>
              <a:rPr lang="zh-CN" altLang="en-US" sz="1500">
                <a:solidFill>
                  <a:srgbClr val="EEF8FC"/>
                </a:solidFill>
                <a:latin typeface="Microsoft YaHei" panose="020B0503020204020204" pitchFamily="34" charset="-122"/>
              </a:rPr>
              <a:t>的结果不是单机截图，而是队长和两位队友的全量验证摘要。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990332CD-5B21-0E31-E81E-DDCDB4CC0357}"/>
              </a:ext>
            </a:extLst>
          </p:cNvPr>
          <p:cNvSpPr/>
          <p:nvPr/>
        </p:nvSpPr>
        <p:spPr>
          <a:xfrm>
            <a:off x="1397000" y="2286000"/>
            <a:ext cx="2032000" cy="5334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b="1">
                <a:solidFill>
                  <a:srgbClr val="09243D"/>
                </a:solidFill>
                <a:latin typeface="Microsoft YaHei" panose="020B0503020204020204" pitchFamily="34" charset="-122"/>
              </a:rPr>
              <a:t>rain</a:t>
            </a:r>
            <a:endParaRPr lang="zh-CN" altLang="en-US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8447CA28-0EB5-5E6A-44F7-6A63C0E2E396}"/>
              </a:ext>
            </a:extLst>
          </p:cNvPr>
          <p:cNvSpPr/>
          <p:nvPr/>
        </p:nvSpPr>
        <p:spPr>
          <a:xfrm>
            <a:off x="1397000" y="2984500"/>
            <a:ext cx="2032000" cy="1117600"/>
          </a:xfrm>
          <a:prstGeom prst="roundRect">
            <a:avLst/>
          </a:prstGeom>
          <a:solidFill>
            <a:srgbClr val="23B26D"/>
          </a:solidFill>
          <a:ln w="13970">
            <a:solidFill>
              <a:srgbClr val="23B26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500" b="1">
                <a:solidFill>
                  <a:srgbClr val="09243D"/>
                </a:solidFill>
                <a:latin typeface="Microsoft YaHei" panose="020B0503020204020204" pitchFamily="34" charset="-122"/>
              </a:rPr>
              <a:t>全量验证通过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67FFE6F3-0A82-F201-3C1D-499BD8C55DF9}"/>
              </a:ext>
            </a:extLst>
          </p:cNvPr>
          <p:cNvSpPr/>
          <p:nvPr/>
        </p:nvSpPr>
        <p:spPr>
          <a:xfrm>
            <a:off x="4191000" y="2286000"/>
            <a:ext cx="2032000" cy="5334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b="1">
                <a:solidFill>
                  <a:srgbClr val="09243D"/>
                </a:solidFill>
                <a:latin typeface="Microsoft YaHei" panose="020B0503020204020204" pitchFamily="34" charset="-122"/>
              </a:rPr>
              <a:t>root</a:t>
            </a:r>
            <a:endParaRPr lang="zh-CN" altLang="en-US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51366FB0-C79C-2F52-B4B7-D28DB915D56B}"/>
              </a:ext>
            </a:extLst>
          </p:cNvPr>
          <p:cNvSpPr/>
          <p:nvPr/>
        </p:nvSpPr>
        <p:spPr>
          <a:xfrm>
            <a:off x="4191000" y="2984500"/>
            <a:ext cx="2032000" cy="1117600"/>
          </a:xfrm>
          <a:prstGeom prst="roundRect">
            <a:avLst/>
          </a:prstGeom>
          <a:solidFill>
            <a:srgbClr val="23B26D"/>
          </a:solidFill>
          <a:ln w="13970">
            <a:solidFill>
              <a:srgbClr val="23B26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500" b="1">
                <a:solidFill>
                  <a:srgbClr val="09243D"/>
                </a:solidFill>
                <a:latin typeface="Microsoft YaHei" panose="020B0503020204020204" pitchFamily="34" charset="-122"/>
              </a:rPr>
              <a:t>全量验证通过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674CC7A5-08C9-F7CD-8AB5-0D3168E94805}"/>
              </a:ext>
            </a:extLst>
          </p:cNvPr>
          <p:cNvSpPr/>
          <p:nvPr/>
        </p:nvSpPr>
        <p:spPr>
          <a:xfrm>
            <a:off x="6985000" y="2286000"/>
            <a:ext cx="2032000" cy="5334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b="1">
                <a:solidFill>
                  <a:srgbClr val="09243D"/>
                </a:solidFill>
                <a:latin typeface="Microsoft YaHei" panose="020B0503020204020204" pitchFamily="34" charset="-122"/>
              </a:rPr>
              <a:t>z2996</a:t>
            </a:r>
            <a:endParaRPr lang="zh-CN" altLang="en-US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966352F6-7D80-854D-F492-EA3BCDDACF1A}"/>
              </a:ext>
            </a:extLst>
          </p:cNvPr>
          <p:cNvSpPr/>
          <p:nvPr/>
        </p:nvSpPr>
        <p:spPr>
          <a:xfrm>
            <a:off x="6985000" y="2984500"/>
            <a:ext cx="2032000" cy="1117600"/>
          </a:xfrm>
          <a:prstGeom prst="roundRect">
            <a:avLst/>
          </a:prstGeom>
          <a:solidFill>
            <a:srgbClr val="23B26D"/>
          </a:solidFill>
          <a:ln w="13970">
            <a:solidFill>
              <a:srgbClr val="23B26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500" b="1">
                <a:solidFill>
                  <a:srgbClr val="09243D"/>
                </a:solidFill>
                <a:latin typeface="Microsoft YaHei" panose="020B0503020204020204" pitchFamily="34" charset="-122"/>
              </a:rPr>
              <a:t>全量验证通过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026BC49F-EAE4-FF36-241D-71C00A4A43C3}"/>
              </a:ext>
            </a:extLst>
          </p:cNvPr>
          <p:cNvSpPr/>
          <p:nvPr/>
        </p:nvSpPr>
        <p:spPr>
          <a:xfrm>
            <a:off x="2667000" y="4953000"/>
            <a:ext cx="4191000" cy="685800"/>
          </a:xfrm>
          <a:prstGeom prst="roundRect">
            <a:avLst/>
          </a:prstGeom>
          <a:solidFill>
            <a:srgbClr val="08284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300" b="1">
                <a:solidFill>
                  <a:srgbClr val="EEF8FC"/>
                </a:solidFill>
                <a:latin typeface="Microsoft YaHei" panose="020B0503020204020204" pitchFamily="34" charset="-122"/>
              </a:rPr>
              <a:t>grade-summaries</a:t>
            </a:r>
          </a:p>
          <a:p>
            <a:pPr algn="ctr"/>
            <a:r>
              <a:rPr lang="en-US" altLang="zh-CN" sz="1300" b="1">
                <a:solidFill>
                  <a:srgbClr val="EEF8FC"/>
                </a:solidFill>
                <a:latin typeface="Microsoft YaHei" panose="020B0503020204020204" pitchFamily="34" charset="-122"/>
              </a:rPr>
              <a:t>3 clean PASS / 0 needs attention</a:t>
            </a:r>
            <a:endParaRPr lang="zh-CN" altLang="en-US" sz="1300" b="1">
              <a:solidFill>
                <a:srgbClr val="EEF8FC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85A99F91-ECEE-2CD5-C860-ECBF47CB1180}"/>
              </a:ext>
            </a:extLst>
          </p:cNvPr>
          <p:cNvSpPr/>
          <p:nvPr/>
        </p:nvSpPr>
        <p:spPr>
          <a:xfrm>
            <a:off x="7175500" y="4953000"/>
            <a:ext cx="1968500" cy="6858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C6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150" b="1">
                <a:solidFill>
                  <a:srgbClr val="FFFFFF"/>
                </a:solidFill>
                <a:latin typeface="Microsoft YaHei" panose="020B0503020204020204" pitchFamily="34" charset="-122"/>
              </a:rPr>
              <a:t>工程复现 </a:t>
            </a:r>
            <a:r>
              <a:rPr lang="en-US" altLang="zh-CN" sz="1150" b="1">
                <a:solidFill>
                  <a:srgbClr val="FFFFFF"/>
                </a:solidFill>
                <a:latin typeface="Microsoft YaHei" panose="020B0503020204020204" pitchFamily="34" charset="-122"/>
              </a:rPr>
              <a:t>commit</a:t>
            </a:r>
            <a:r>
              <a:rPr lang="zh-CN" altLang="en-US" sz="1150" b="1">
                <a:solidFill>
                  <a:srgbClr val="FFFFFF"/>
                </a:solidFill>
                <a:latin typeface="Microsoft YaHei" panose="020B0503020204020204" pitchFamily="34" charset="-122"/>
              </a:rPr>
              <a:t>：</a:t>
            </a:r>
            <a:r>
              <a:rPr lang="en-US" altLang="zh-CN" sz="1150" b="1">
                <a:solidFill>
                  <a:srgbClr val="FFFFFF"/>
                </a:solidFill>
                <a:latin typeface="Microsoft YaHei" panose="020B0503020204020204" pitchFamily="34" charset="-122"/>
              </a:rPr>
              <a:t>db85947</a:t>
            </a:r>
            <a:endParaRPr lang="zh-CN" altLang="en-US" sz="115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4268551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D0B166DB-0E6E-B19E-9286-484041F910B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F8FC"/>
          </a:solidFill>
          <a:ln>
            <a:solidFill>
              <a:srgbClr val="EEF8F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4DEBEEA-46E7-E90C-66AB-E053AC7597FD}"/>
              </a:ext>
            </a:extLst>
          </p:cNvPr>
          <p:cNvSpPr/>
          <p:nvPr/>
        </p:nvSpPr>
        <p:spPr>
          <a:xfrm>
            <a:off x="0" y="0"/>
            <a:ext cx="1625600" cy="6858000"/>
          </a:xfrm>
          <a:prstGeom prst="rect">
            <a:avLst/>
          </a:prstGeom>
          <a:solidFill>
            <a:srgbClr val="061B33"/>
          </a:solidFill>
          <a:ln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AEA8178-D74C-AC16-931D-6A6FF9BB21D5}"/>
              </a:ext>
            </a:extLst>
          </p:cNvPr>
          <p:cNvSpPr/>
          <p:nvPr/>
        </p:nvSpPr>
        <p:spPr>
          <a:xfrm>
            <a:off x="1625600" y="0"/>
            <a:ext cx="76200" cy="6858000"/>
          </a:xfrm>
          <a:prstGeom prst="rect">
            <a:avLst/>
          </a:prstGeom>
          <a:solidFill>
            <a:srgbClr val="19D3E6"/>
          </a:solidFill>
          <a:ln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5D7CE64-2F04-D4C3-5D2C-DF95B79A11A1}"/>
              </a:ext>
            </a:extLst>
          </p:cNvPr>
          <p:cNvSpPr txBox="1"/>
          <p:nvPr/>
        </p:nvSpPr>
        <p:spPr>
          <a:xfrm>
            <a:off x="2006600" y="431800"/>
            <a:ext cx="75565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500" b="1">
                <a:solidFill>
                  <a:srgbClr val="09243D"/>
                </a:solidFill>
                <a:latin typeface="Microsoft YaHei" panose="020B0503020204020204" pitchFamily="34" charset="-122"/>
              </a:rPr>
              <a:t>证据链可以重新计算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0AACDF1-19A8-14EC-2A17-7D5788E3AE65}"/>
              </a:ext>
            </a:extLst>
          </p:cNvPr>
          <p:cNvSpPr txBox="1"/>
          <p:nvPr/>
        </p:nvSpPr>
        <p:spPr>
          <a:xfrm>
            <a:off x="889000" y="457200"/>
            <a:ext cx="4826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1700" b="1">
                <a:solidFill>
                  <a:srgbClr val="7CE8F2"/>
                </a:solidFill>
                <a:latin typeface="Microsoft YaHei" panose="020B0503020204020204" pitchFamily="34" charset="-122"/>
              </a:rPr>
              <a:t>13</a:t>
            </a:r>
            <a:endParaRPr lang="zh-CN" altLang="en-US" sz="1700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9BCE635-0551-729F-91BF-290E2E651937}"/>
              </a:ext>
            </a:extLst>
          </p:cNvPr>
          <p:cNvSpPr txBox="1"/>
          <p:nvPr/>
        </p:nvSpPr>
        <p:spPr>
          <a:xfrm>
            <a:off x="2006600" y="1117600"/>
            <a:ext cx="7874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500">
                <a:solidFill>
                  <a:srgbClr val="09243D"/>
                </a:solidFill>
                <a:latin typeface="Microsoft YaHei" panose="020B0503020204020204" pitchFamily="34" charset="-122"/>
              </a:rPr>
              <a:t>视频和截图不进 </a:t>
            </a:r>
            <a:r>
              <a:rPr lang="en-US" altLang="zh-CN" sz="1500">
                <a:solidFill>
                  <a:srgbClr val="09243D"/>
                </a:solidFill>
                <a:latin typeface="Microsoft YaHei" panose="020B0503020204020204" pitchFamily="34" charset="-122"/>
              </a:rPr>
              <a:t>Git</a:t>
            </a:r>
            <a:r>
              <a:rPr lang="zh-CN" altLang="en-US" sz="1500">
                <a:solidFill>
                  <a:srgbClr val="09243D"/>
                </a:solidFill>
                <a:latin typeface="Microsoft YaHei" panose="020B0503020204020204" pitchFamily="34" charset="-122"/>
              </a:rPr>
              <a:t>，但外部文件名、大小、时长、</a:t>
            </a:r>
            <a:r>
              <a:rPr lang="en-US" altLang="zh-CN" sz="1500">
                <a:solidFill>
                  <a:srgbClr val="09243D"/>
                </a:solidFill>
                <a:latin typeface="Microsoft YaHei" panose="020B0503020204020204" pitchFamily="34" charset="-122"/>
              </a:rPr>
              <a:t>SHA256 </a:t>
            </a:r>
            <a:r>
              <a:rPr lang="zh-CN" altLang="en-US" sz="1500">
                <a:solidFill>
                  <a:srgbClr val="09243D"/>
                </a:solidFill>
                <a:latin typeface="Microsoft YaHei" panose="020B0503020204020204" pitchFamily="34" charset="-122"/>
              </a:rPr>
              <a:t>和网盘位置都可以复核。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EE55043A-4983-1E53-77AB-5ABA4ADCBED3}"/>
              </a:ext>
            </a:extLst>
          </p:cNvPr>
          <p:cNvSpPr/>
          <p:nvPr/>
        </p:nvSpPr>
        <p:spPr>
          <a:xfrm>
            <a:off x="2108200" y="2082800"/>
            <a:ext cx="1778000" cy="533400"/>
          </a:xfrm>
          <a:prstGeom prst="roundRect">
            <a:avLst/>
          </a:prstGeom>
          <a:solidFill>
            <a:srgbClr val="061B33"/>
          </a:solidFill>
          <a:ln w="13970"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400" b="1">
                <a:solidFill>
                  <a:srgbClr val="FFFFFF"/>
                </a:solidFill>
                <a:latin typeface="Microsoft YaHei" panose="020B0503020204020204" pitchFamily="34" charset="-122"/>
              </a:rPr>
              <a:t>最终视频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1098E7BB-E8B9-9793-2E2D-AB7AF59BF0A5}"/>
              </a:ext>
            </a:extLst>
          </p:cNvPr>
          <p:cNvSpPr/>
          <p:nvPr/>
        </p:nvSpPr>
        <p:spPr>
          <a:xfrm>
            <a:off x="4216400" y="1905000"/>
            <a:ext cx="5842000" cy="9906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r>
              <a:rPr lang="zh-CN" altLang="en-US" sz="1050">
                <a:solidFill>
                  <a:srgbClr val="09243D"/>
                </a:solidFill>
                <a:latin typeface="Microsoft YaHei" panose="020B0503020204020204" pitchFamily="34" charset="-122"/>
              </a:rPr>
              <a:t>文件：</a:t>
            </a:r>
            <a:r>
              <a:rPr lang="en-US" altLang="zh-CN" sz="1050">
                <a:solidFill>
                  <a:srgbClr val="09243D"/>
                </a:solidFill>
                <a:latin typeface="Microsoft YaHei" panose="020B0503020204020204" pitchFamily="34" charset="-122"/>
              </a:rPr>
              <a:t>20260611_final_integrated_0001_0009_demo.mp4</a:t>
            </a:r>
          </a:p>
          <a:p>
            <a:r>
              <a:rPr lang="zh-CN" altLang="en-US" sz="1050">
                <a:solidFill>
                  <a:srgbClr val="09243D"/>
                </a:solidFill>
                <a:latin typeface="Microsoft YaHei" panose="020B0503020204020204" pitchFamily="34" charset="-122"/>
              </a:rPr>
              <a:t>时长</a:t>
            </a:r>
            <a:r>
              <a:rPr lang="en-US" altLang="zh-CN" sz="1050">
                <a:solidFill>
                  <a:srgbClr val="09243D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1050">
                <a:solidFill>
                  <a:srgbClr val="09243D"/>
                </a:solidFill>
                <a:latin typeface="Microsoft YaHei" panose="020B0503020204020204" pitchFamily="34" charset="-122"/>
              </a:rPr>
              <a:t>规格：</a:t>
            </a:r>
            <a:r>
              <a:rPr lang="en-US" altLang="zh-CN" sz="1050">
                <a:solidFill>
                  <a:srgbClr val="09243D"/>
                </a:solidFill>
                <a:latin typeface="Microsoft YaHei" panose="020B0503020204020204" pitchFamily="34" charset="-122"/>
              </a:rPr>
              <a:t>00:03:12</a:t>
            </a:r>
            <a:r>
              <a:rPr lang="zh-CN" altLang="en-US" sz="1050">
                <a:solidFill>
                  <a:srgbClr val="09243D"/>
                </a:solidFill>
                <a:latin typeface="Microsoft YaHei" panose="020B0503020204020204" pitchFamily="34" charset="-122"/>
              </a:rPr>
              <a:t>，</a:t>
            </a:r>
            <a:r>
              <a:rPr lang="en-US" altLang="zh-CN" sz="1050">
                <a:solidFill>
                  <a:srgbClr val="09243D"/>
                </a:solidFill>
                <a:latin typeface="Microsoft YaHei" panose="020B0503020204020204" pitchFamily="34" charset="-122"/>
              </a:rPr>
              <a:t>2560×1440</a:t>
            </a:r>
            <a:r>
              <a:rPr lang="zh-CN" altLang="en-US" sz="1050">
                <a:solidFill>
                  <a:srgbClr val="09243D"/>
                </a:solidFill>
                <a:latin typeface="Microsoft YaHei" panose="020B0503020204020204" pitchFamily="34" charset="-122"/>
              </a:rPr>
              <a:t>，</a:t>
            </a:r>
            <a:r>
              <a:rPr lang="en-US" altLang="zh-CN" sz="1050">
                <a:solidFill>
                  <a:srgbClr val="09243D"/>
                </a:solidFill>
                <a:latin typeface="Microsoft YaHei" panose="020B0503020204020204" pitchFamily="34" charset="-122"/>
              </a:rPr>
              <a:t>60 fps</a:t>
            </a:r>
          </a:p>
          <a:p>
            <a:r>
              <a:rPr lang="zh-CN" altLang="en-US" sz="1050">
                <a:solidFill>
                  <a:srgbClr val="09243D"/>
                </a:solidFill>
                <a:latin typeface="Microsoft YaHei" panose="020B0503020204020204" pitchFamily="34" charset="-122"/>
              </a:rPr>
              <a:t>大小：</a:t>
            </a:r>
            <a:r>
              <a:rPr lang="en-US" altLang="zh-CN" sz="1050">
                <a:solidFill>
                  <a:srgbClr val="09243D"/>
                </a:solidFill>
                <a:latin typeface="Microsoft YaHei" panose="020B0503020204020204" pitchFamily="34" charset="-122"/>
              </a:rPr>
              <a:t>31,529,984 bytes</a:t>
            </a:r>
            <a:endParaRPr lang="zh-CN" altLang="en-US" sz="1050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02DD9E41-4BA7-79CA-C170-41F7CD69BCF1}"/>
              </a:ext>
            </a:extLst>
          </p:cNvPr>
          <p:cNvSpPr/>
          <p:nvPr/>
        </p:nvSpPr>
        <p:spPr>
          <a:xfrm>
            <a:off x="2108200" y="3327400"/>
            <a:ext cx="1778000" cy="533400"/>
          </a:xfrm>
          <a:prstGeom prst="roundRect">
            <a:avLst/>
          </a:prstGeom>
          <a:solidFill>
            <a:srgbClr val="23B26D"/>
          </a:solidFill>
          <a:ln w="13970">
            <a:solidFill>
              <a:srgbClr val="23B26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SHA256</a:t>
            </a:r>
            <a:endParaRPr lang="zh-CN" altLang="en-US" sz="140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A5DFC9E6-289B-1497-DC6C-0989098CFECE}"/>
              </a:ext>
            </a:extLst>
          </p:cNvPr>
          <p:cNvSpPr/>
          <p:nvPr/>
        </p:nvSpPr>
        <p:spPr>
          <a:xfrm>
            <a:off x="4216400" y="3276600"/>
            <a:ext cx="5842000" cy="635000"/>
          </a:xfrm>
          <a:prstGeom prst="roundRect">
            <a:avLst/>
          </a:prstGeom>
          <a:solidFill>
            <a:srgbClr val="061B33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720" b="1">
                <a:solidFill>
                  <a:srgbClr val="7CE8F2"/>
                </a:solidFill>
                <a:latin typeface="Microsoft YaHei" panose="020B0503020204020204" pitchFamily="34" charset="-122"/>
              </a:rPr>
              <a:t>SHA256</a:t>
            </a:r>
            <a:r>
              <a:rPr lang="zh-CN" altLang="en-US" sz="720" b="1">
                <a:solidFill>
                  <a:srgbClr val="7CE8F2"/>
                </a:solidFill>
                <a:latin typeface="Microsoft YaHei" panose="020B0503020204020204" pitchFamily="34" charset="-122"/>
              </a:rPr>
              <a:t>：</a:t>
            </a:r>
            <a:r>
              <a:rPr lang="en-US" altLang="zh-CN" sz="720" b="1">
                <a:solidFill>
                  <a:srgbClr val="7CE8F2"/>
                </a:solidFill>
                <a:latin typeface="Microsoft YaHei" panose="020B0503020204020204" pitchFamily="34" charset="-122"/>
              </a:rPr>
              <a:t>2A2C9863C185846225A98AC874499867A71588CED2020A64249CBF99C7BC0365</a:t>
            </a:r>
            <a:endParaRPr lang="zh-CN" altLang="en-US" sz="720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80598EA2-CA62-E673-8F63-8DB7DA11683A}"/>
              </a:ext>
            </a:extLst>
          </p:cNvPr>
          <p:cNvSpPr/>
          <p:nvPr/>
        </p:nvSpPr>
        <p:spPr>
          <a:xfrm>
            <a:off x="2108200" y="4445000"/>
            <a:ext cx="1778000" cy="5334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C6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400" b="1">
                <a:solidFill>
                  <a:srgbClr val="FFFFFF"/>
                </a:solidFill>
                <a:latin typeface="Microsoft YaHei" panose="020B0503020204020204" pitchFamily="34" charset="-122"/>
              </a:rPr>
              <a:t>网盘资产包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AC4A0E5D-F227-63B1-FDBA-E3E621D3677B}"/>
              </a:ext>
            </a:extLst>
          </p:cNvPr>
          <p:cNvSpPr/>
          <p:nvPr/>
        </p:nvSpPr>
        <p:spPr>
          <a:xfrm>
            <a:off x="4216400" y="4343400"/>
            <a:ext cx="3810000" cy="8382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200" b="1">
                <a:solidFill>
                  <a:srgbClr val="09243D"/>
                </a:solidFill>
                <a:latin typeface="Microsoft YaHei" panose="020B0503020204020204" pitchFamily="34" charset="-122"/>
              </a:rPr>
              <a:t>网盘：</a:t>
            </a:r>
            <a:r>
              <a:rPr lang="en-US" altLang="zh-CN" sz="1200" b="1">
                <a:solidFill>
                  <a:srgbClr val="09243D"/>
                </a:solidFill>
                <a:latin typeface="Microsoft YaHei" panose="020B0503020204020204" pitchFamily="34" charset="-122"/>
              </a:rPr>
              <a:t>proj54_submission_assets</a:t>
            </a:r>
            <a:r>
              <a:rPr lang="zh-CN" altLang="en-US" sz="1200" b="1">
                <a:solidFill>
                  <a:srgbClr val="09243D"/>
                </a:solidFill>
                <a:latin typeface="Microsoft YaHei" panose="020B0503020204020204" pitchFamily="34" charset="-122"/>
              </a:rPr>
              <a:t>，提取码 </a:t>
            </a:r>
            <a:r>
              <a:rPr lang="en-US" altLang="zh-CN" sz="1200" b="1">
                <a:solidFill>
                  <a:srgbClr val="09243D"/>
                </a:solidFill>
                <a:latin typeface="Microsoft YaHei" panose="020B0503020204020204" pitchFamily="34" charset="-122"/>
              </a:rPr>
              <a:t>1234</a:t>
            </a:r>
          </a:p>
          <a:p>
            <a:pPr algn="ctr"/>
            <a:r>
              <a:rPr lang="en-US" altLang="zh-CN" sz="1200" b="1">
                <a:solidFill>
                  <a:srgbClr val="09243D"/>
                </a:solidFill>
                <a:latin typeface="Microsoft YaHei" panose="020B0503020204020204" pitchFamily="34" charset="-122"/>
              </a:rPr>
              <a:t>14/14 matched</a:t>
            </a:r>
            <a:endParaRPr lang="zh-CN" altLang="en-US" sz="120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C0D8D224-CC7D-D000-B59C-EEA4F39E2E00}"/>
              </a:ext>
            </a:extLst>
          </p:cNvPr>
          <p:cNvSpPr/>
          <p:nvPr/>
        </p:nvSpPr>
        <p:spPr>
          <a:xfrm>
            <a:off x="8318500" y="4343400"/>
            <a:ext cx="1727200" cy="8382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200" b="1">
                <a:solidFill>
                  <a:srgbClr val="09243D"/>
                </a:solidFill>
                <a:latin typeface="Microsoft YaHei" panose="020B0503020204020204" pitchFamily="34" charset="-122"/>
              </a:rPr>
              <a:t>Git </a:t>
            </a:r>
            <a:r>
              <a:rPr lang="zh-CN" altLang="en-US" sz="1200" b="1">
                <a:solidFill>
                  <a:srgbClr val="09243D"/>
                </a:solidFill>
                <a:latin typeface="Microsoft YaHei" panose="020B0503020204020204" pitchFamily="34" charset="-122"/>
              </a:rPr>
              <a:t>只保存摘要</a:t>
            </a:r>
          </a:p>
        </p:txBody>
      </p:sp>
    </p:spTree>
    <p:extLst>
      <p:ext uri="{BB962C8B-B14F-4D97-AF65-F5344CB8AC3E}">
        <p14:creationId xmlns:p14="http://schemas.microsoft.com/office/powerpoint/2010/main" val="36372715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206A6C8C-250B-0CFE-059B-1E2750F066C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EF8FC"/>
          </a:solidFill>
          <a:ln>
            <a:solidFill>
              <a:srgbClr val="EEF8F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EB82A33-4EAD-21FE-BB33-199205F2020D}"/>
              </a:ext>
            </a:extLst>
          </p:cNvPr>
          <p:cNvSpPr/>
          <p:nvPr/>
        </p:nvSpPr>
        <p:spPr>
          <a:xfrm>
            <a:off x="0" y="0"/>
            <a:ext cx="1625600" cy="6858000"/>
          </a:xfrm>
          <a:prstGeom prst="rect">
            <a:avLst/>
          </a:prstGeom>
          <a:solidFill>
            <a:srgbClr val="061B33"/>
          </a:solidFill>
          <a:ln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C17FBE5-6F7D-FCE8-3F7D-E6CC7E447129}"/>
              </a:ext>
            </a:extLst>
          </p:cNvPr>
          <p:cNvSpPr/>
          <p:nvPr/>
        </p:nvSpPr>
        <p:spPr>
          <a:xfrm>
            <a:off x="1625600" y="0"/>
            <a:ext cx="76200" cy="6858000"/>
          </a:xfrm>
          <a:prstGeom prst="rect">
            <a:avLst/>
          </a:prstGeom>
          <a:solidFill>
            <a:srgbClr val="19D3E6"/>
          </a:solidFill>
          <a:ln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CDFF329-8C14-2BE6-2BFF-5FF55B5D9C74}"/>
              </a:ext>
            </a:extLst>
          </p:cNvPr>
          <p:cNvSpPr txBox="1"/>
          <p:nvPr/>
        </p:nvSpPr>
        <p:spPr>
          <a:xfrm>
            <a:off x="2006600" y="431800"/>
            <a:ext cx="75565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500" b="1">
                <a:solidFill>
                  <a:srgbClr val="09243D"/>
                </a:solidFill>
                <a:latin typeface="Microsoft YaHei" panose="020B0503020204020204" pitchFamily="34" charset="-122"/>
              </a:rPr>
              <a:t>与 </a:t>
            </a:r>
            <a:r>
              <a:rPr lang="en-US" altLang="zh-CN" sz="2500" b="1">
                <a:solidFill>
                  <a:srgbClr val="09243D"/>
                </a:solidFill>
                <a:latin typeface="Microsoft YaHei" panose="020B0503020204020204" pitchFamily="34" charset="-122"/>
              </a:rPr>
              <a:t>uCore/rCore </a:t>
            </a:r>
            <a:r>
              <a:rPr lang="zh-CN" altLang="en-US" sz="2500" b="1">
                <a:solidFill>
                  <a:srgbClr val="09243D"/>
                </a:solidFill>
                <a:latin typeface="Microsoft YaHei" panose="020B0503020204020204" pitchFamily="34" charset="-122"/>
              </a:rPr>
              <a:t>的差异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9FB97AF-0EBD-34AF-F276-B2BAA51D3B53}"/>
              </a:ext>
            </a:extLst>
          </p:cNvPr>
          <p:cNvSpPr txBox="1"/>
          <p:nvPr/>
        </p:nvSpPr>
        <p:spPr>
          <a:xfrm>
            <a:off x="889000" y="457200"/>
            <a:ext cx="4826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1700" b="1">
                <a:solidFill>
                  <a:srgbClr val="7CE8F2"/>
                </a:solidFill>
                <a:latin typeface="Microsoft YaHei" panose="020B0503020204020204" pitchFamily="34" charset="-122"/>
              </a:rPr>
              <a:t>14</a:t>
            </a:r>
            <a:endParaRPr lang="zh-CN" altLang="en-US" sz="1700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D688512-BF21-B8B7-23D0-C721114717DB}"/>
              </a:ext>
            </a:extLst>
          </p:cNvPr>
          <p:cNvSpPr txBox="1"/>
          <p:nvPr/>
        </p:nvSpPr>
        <p:spPr>
          <a:xfrm>
            <a:off x="2006600" y="1117600"/>
            <a:ext cx="7874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500">
                <a:solidFill>
                  <a:srgbClr val="09243D"/>
                </a:solidFill>
                <a:latin typeface="Microsoft YaHei" panose="020B0503020204020204" pitchFamily="34" charset="-122"/>
              </a:rPr>
              <a:t>本项目不是替代 </a:t>
            </a:r>
            <a:r>
              <a:rPr lang="en-US" altLang="zh-CN" sz="1500">
                <a:solidFill>
                  <a:srgbClr val="09243D"/>
                </a:solidFill>
                <a:latin typeface="Microsoft YaHei" panose="020B0503020204020204" pitchFamily="34" charset="-122"/>
              </a:rPr>
              <a:t>uCore/rCore</a:t>
            </a:r>
            <a:r>
              <a:rPr lang="zh-CN" altLang="en-US" sz="1500">
                <a:solidFill>
                  <a:srgbClr val="09243D"/>
                </a:solidFill>
                <a:latin typeface="Microsoft YaHei" panose="020B0503020204020204" pitchFamily="34" charset="-122"/>
              </a:rPr>
              <a:t>，而是面向 </a:t>
            </a:r>
            <a:r>
              <a:rPr lang="en-US" altLang="zh-CN" sz="1500">
                <a:solidFill>
                  <a:srgbClr val="09243D"/>
                </a:solidFill>
                <a:latin typeface="Microsoft YaHei" panose="020B0503020204020204" pitchFamily="34" charset="-122"/>
              </a:rPr>
              <a:t>OUC </a:t>
            </a:r>
            <a:r>
              <a:rPr lang="zh-CN" altLang="en-US" sz="1500">
                <a:solidFill>
                  <a:srgbClr val="09243D"/>
                </a:solidFill>
                <a:latin typeface="Microsoft YaHei" panose="020B0503020204020204" pitchFamily="34" charset="-122"/>
              </a:rPr>
              <a:t>课程的轻量 </a:t>
            </a:r>
            <a:r>
              <a:rPr lang="en-US" altLang="zh-CN" sz="1500">
                <a:solidFill>
                  <a:srgbClr val="09243D"/>
                </a:solidFill>
                <a:latin typeface="Microsoft YaHei" panose="020B0503020204020204" pitchFamily="34" charset="-122"/>
              </a:rPr>
              <a:t>xv6 </a:t>
            </a:r>
            <a:r>
              <a:rPr lang="zh-CN" altLang="en-US" sz="1500">
                <a:solidFill>
                  <a:srgbClr val="09243D"/>
                </a:solidFill>
                <a:latin typeface="Microsoft YaHei" panose="020B0503020204020204" pitchFamily="34" charset="-122"/>
              </a:rPr>
              <a:t>入门实验包。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306631F9-DAC5-4037-B429-9170994CD0E7}"/>
              </a:ext>
            </a:extLst>
          </p:cNvPr>
          <p:cNvSpPr/>
          <p:nvPr/>
        </p:nvSpPr>
        <p:spPr>
          <a:xfrm>
            <a:off x="2413000" y="2095500"/>
            <a:ext cx="2286000" cy="6350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300" b="1">
                <a:solidFill>
                  <a:srgbClr val="09243D"/>
                </a:solidFill>
                <a:latin typeface="Microsoft YaHei" panose="020B0503020204020204" pitchFamily="34" charset="-122"/>
              </a:rPr>
              <a:t>完整课程生态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4087ED18-126D-749F-9EF2-9BE1F0F908E6}"/>
              </a:ext>
            </a:extLst>
          </p:cNvPr>
          <p:cNvSpPr/>
          <p:nvPr/>
        </p:nvSpPr>
        <p:spPr>
          <a:xfrm>
            <a:off x="5016500" y="2095500"/>
            <a:ext cx="4572000" cy="6350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300" b="1">
                <a:solidFill>
                  <a:srgbClr val="09243D"/>
                </a:solidFill>
                <a:latin typeface="Microsoft YaHei" panose="020B0503020204020204" pitchFamily="34" charset="-122"/>
              </a:rPr>
              <a:t>本项目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822FF61F-800F-98F9-77CE-A8C7086A1A73}"/>
              </a:ext>
            </a:extLst>
          </p:cNvPr>
          <p:cNvSpPr/>
          <p:nvPr/>
        </p:nvSpPr>
        <p:spPr>
          <a:xfrm>
            <a:off x="2413000" y="3086100"/>
            <a:ext cx="2286000" cy="6350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300" b="1">
                <a:solidFill>
                  <a:srgbClr val="09243D"/>
                </a:solidFill>
                <a:latin typeface="Microsoft YaHei" panose="020B0503020204020204" pitchFamily="34" charset="-122"/>
              </a:rPr>
              <a:t>覆盖更广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405EE246-4EE1-F66D-B3AA-9A952E4A3997}"/>
              </a:ext>
            </a:extLst>
          </p:cNvPr>
          <p:cNvSpPr/>
          <p:nvPr/>
        </p:nvSpPr>
        <p:spPr>
          <a:xfrm>
            <a:off x="5016500" y="3086100"/>
            <a:ext cx="4572000" cy="6350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300" b="1">
                <a:solidFill>
                  <a:srgbClr val="09243D"/>
                </a:solidFill>
                <a:latin typeface="Microsoft YaHei" panose="020B0503020204020204" pitchFamily="34" charset="-122"/>
              </a:rPr>
              <a:t>更轻量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F02DD48F-BD88-4224-4269-6EC9521D6A3C}"/>
              </a:ext>
            </a:extLst>
          </p:cNvPr>
          <p:cNvSpPr/>
          <p:nvPr/>
        </p:nvSpPr>
        <p:spPr>
          <a:xfrm>
            <a:off x="2413000" y="4076700"/>
            <a:ext cx="2286000" cy="6350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300" b="1">
                <a:solidFill>
                  <a:srgbClr val="09243D"/>
                </a:solidFill>
                <a:latin typeface="Microsoft YaHei" panose="020B0503020204020204" pitchFamily="34" charset="-122"/>
              </a:rPr>
              <a:t>学习周期更长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A22F496F-D8EF-B1AB-7319-FF7C6DFC8C09}"/>
              </a:ext>
            </a:extLst>
          </p:cNvPr>
          <p:cNvSpPr/>
          <p:nvPr/>
        </p:nvSpPr>
        <p:spPr>
          <a:xfrm>
            <a:off x="5016500" y="4076700"/>
            <a:ext cx="4572000" cy="6350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D7E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300" b="1">
                <a:solidFill>
                  <a:srgbClr val="09243D"/>
                </a:solidFill>
                <a:latin typeface="Microsoft YaHei" panose="020B0503020204020204" pitchFamily="34" charset="-122"/>
              </a:rPr>
              <a:t>可复现验收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747B8D2C-3AD1-D4A0-E5EE-DD42157D8B33}"/>
              </a:ext>
            </a:extLst>
          </p:cNvPr>
          <p:cNvSpPr/>
          <p:nvPr/>
        </p:nvSpPr>
        <p:spPr>
          <a:xfrm>
            <a:off x="3302000" y="5461000"/>
            <a:ext cx="5461000" cy="533400"/>
          </a:xfrm>
          <a:prstGeom prst="roundRect">
            <a:avLst/>
          </a:prstGeom>
          <a:solidFill>
            <a:srgbClr val="061B33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200" b="1">
                <a:solidFill>
                  <a:srgbClr val="FFFFFF"/>
                </a:solidFill>
                <a:latin typeface="Microsoft YaHei" panose="020B0503020204020204" pitchFamily="34" charset="-122"/>
              </a:rPr>
              <a:t>重点是小步 </a:t>
            </a:r>
            <a:r>
              <a:rPr lang="en-US" altLang="zh-CN" sz="1200" b="1">
                <a:solidFill>
                  <a:srgbClr val="FFFFFF"/>
                </a:solidFill>
                <a:latin typeface="Microsoft YaHei" panose="020B0503020204020204" pitchFamily="34" charset="-122"/>
              </a:rPr>
              <a:t>patch workflow</a:t>
            </a:r>
            <a:r>
              <a:rPr lang="zh-CN" altLang="en-US" sz="1200" b="1">
                <a:solidFill>
                  <a:srgbClr val="FFFFFF"/>
                </a:solidFill>
                <a:latin typeface="Microsoft YaHei" panose="020B0503020204020204" pitchFamily="34" charset="-122"/>
              </a:rPr>
              <a:t>、</a:t>
            </a:r>
            <a:r>
              <a:rPr lang="en-US" altLang="zh-CN" sz="1200" b="1">
                <a:solidFill>
                  <a:srgbClr val="FFFFFF"/>
                </a:solidFill>
                <a:latin typeface="Microsoft YaHei" panose="020B0503020204020204" pitchFamily="34" charset="-122"/>
              </a:rPr>
              <a:t>clean baseline </a:t>
            </a:r>
            <a:r>
              <a:rPr lang="zh-CN" altLang="en-US" sz="1200" b="1">
                <a:solidFill>
                  <a:srgbClr val="FFFFFF"/>
                </a:solidFill>
                <a:latin typeface="Microsoft YaHei" panose="020B0503020204020204" pitchFamily="34" charset="-122"/>
              </a:rPr>
              <a:t>复现、</a:t>
            </a:r>
            <a:r>
              <a:rPr lang="en-US" altLang="zh-CN" sz="1200" b="1">
                <a:solidFill>
                  <a:srgbClr val="FFFFFF"/>
                </a:solidFill>
                <a:latin typeface="Microsoft YaHei" panose="020B0503020204020204" pitchFamily="34" charset="-122"/>
              </a:rPr>
              <a:t>Lab0-Lab5 </a:t>
            </a:r>
            <a:r>
              <a:rPr lang="zh-CN" altLang="en-US" sz="1200" b="1">
                <a:solidFill>
                  <a:srgbClr val="FFFFFF"/>
                </a:solidFill>
                <a:latin typeface="Microsoft YaHei" panose="020B0503020204020204" pitchFamily="34" charset="-122"/>
              </a:rPr>
              <a:t>教学路径、三方 </a:t>
            </a:r>
            <a:r>
              <a:rPr lang="en-US" altLang="zh-CN" sz="1200" b="1">
                <a:solidFill>
                  <a:srgbClr val="FFFFFF"/>
                </a:solidFill>
                <a:latin typeface="Microsoft YaHei" panose="020B0503020204020204" pitchFamily="34" charset="-122"/>
              </a:rPr>
              <a:t>full verify </a:t>
            </a:r>
            <a:r>
              <a:rPr lang="zh-CN" altLang="en-US" sz="1200" b="1">
                <a:solidFill>
                  <a:srgbClr val="FFFFFF"/>
                </a:solidFill>
                <a:latin typeface="Microsoft YaHei" panose="020B0503020204020204" pitchFamily="34" charset="-122"/>
              </a:rPr>
              <a:t>和证据 </a:t>
            </a:r>
            <a:r>
              <a:rPr lang="en-US" altLang="zh-CN" sz="1200" b="1">
                <a:solidFill>
                  <a:srgbClr val="FFFFFF"/>
                </a:solidFill>
                <a:latin typeface="Microsoft YaHei" panose="020B0503020204020204" pitchFamily="34" charset="-122"/>
              </a:rPr>
              <a:t>manifest</a:t>
            </a:r>
            <a:endParaRPr lang="zh-CN" altLang="en-US" sz="12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983036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EF54E83-CA98-2BE5-2BC1-F07125319EB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B33"/>
          </a:solidFill>
          <a:ln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69DB9C-DF5B-0070-22F1-B538679B9FF2}"/>
              </a:ext>
            </a:extLst>
          </p:cNvPr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19D3E6"/>
          </a:solidFill>
          <a:ln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AC42705-1FB7-2A33-0B40-D9526861EFB1}"/>
              </a:ext>
            </a:extLst>
          </p:cNvPr>
          <p:cNvSpPr/>
          <p:nvPr/>
        </p:nvSpPr>
        <p:spPr>
          <a:xfrm>
            <a:off x="10033000" y="0"/>
            <a:ext cx="2159000" cy="6858000"/>
          </a:xfrm>
          <a:prstGeom prst="rect">
            <a:avLst/>
          </a:prstGeom>
          <a:solidFill>
            <a:srgbClr val="082846"/>
          </a:solidFill>
          <a:ln>
            <a:solidFill>
              <a:srgbClr val="0828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4FC390B-0F95-E712-AB7D-B7571AB96F0B}"/>
              </a:ext>
            </a:extLst>
          </p:cNvPr>
          <p:cNvSpPr txBox="1"/>
          <p:nvPr/>
        </p:nvSpPr>
        <p:spPr>
          <a:xfrm>
            <a:off x="660400" y="431800"/>
            <a:ext cx="711200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600" b="1">
                <a:solidFill>
                  <a:srgbClr val="FFFFFF"/>
                </a:solidFill>
                <a:latin typeface="Microsoft YaHei" panose="020B0503020204020204" pitchFamily="34" charset="-122"/>
              </a:rPr>
              <a:t>创新在组织方式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651AA81-5CE9-55F7-EA75-D1688970EC9E}"/>
              </a:ext>
            </a:extLst>
          </p:cNvPr>
          <p:cNvSpPr txBox="1"/>
          <p:nvPr/>
        </p:nvSpPr>
        <p:spPr>
          <a:xfrm>
            <a:off x="10972800" y="431800"/>
            <a:ext cx="584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altLang="zh-CN" b="1">
                <a:solidFill>
                  <a:srgbClr val="7CE8F2"/>
                </a:solidFill>
                <a:latin typeface="Microsoft YaHei" panose="020B0503020204020204" pitchFamily="34" charset="-122"/>
              </a:rPr>
              <a:t>15</a:t>
            </a:r>
            <a:endParaRPr lang="zh-CN" altLang="en-US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7CA93F3-A2A9-6E37-1467-97A1A84151D8}"/>
              </a:ext>
            </a:extLst>
          </p:cNvPr>
          <p:cNvSpPr txBox="1"/>
          <p:nvPr/>
        </p:nvSpPr>
        <p:spPr>
          <a:xfrm>
            <a:off x="685800" y="1092200"/>
            <a:ext cx="7747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500">
                <a:solidFill>
                  <a:srgbClr val="EEF8FC"/>
                </a:solidFill>
                <a:latin typeface="Microsoft YaHei" panose="020B0503020204020204" pitchFamily="34" charset="-122"/>
              </a:rPr>
              <a:t>创新不只在系统调用，而在实验组织、工具入口、复现证据和诚信边界同时可执行。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0A8FB2D9-7F04-5446-BF93-346B894AD0F3}"/>
              </a:ext>
            </a:extLst>
          </p:cNvPr>
          <p:cNvSpPr/>
          <p:nvPr/>
        </p:nvSpPr>
        <p:spPr>
          <a:xfrm>
            <a:off x="1193800" y="2667000"/>
            <a:ext cx="2222500" cy="9144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基线补丁流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D9B9DAD1-FCA5-627A-05E6-EB7F7B167BDE}"/>
              </a:ext>
            </a:extLst>
          </p:cNvPr>
          <p:cNvSpPr/>
          <p:nvPr/>
        </p:nvSpPr>
        <p:spPr>
          <a:xfrm>
            <a:off x="4114800" y="2667000"/>
            <a:ext cx="2222500" cy="914400"/>
          </a:xfrm>
          <a:prstGeom prst="roundRect">
            <a:avLst/>
          </a:prstGeom>
          <a:solidFill>
            <a:srgbClr val="08284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en-US" altLang="zh-CN" sz="1400" b="1">
                <a:solidFill>
                  <a:srgbClr val="EEF8FC"/>
                </a:solidFill>
                <a:latin typeface="Microsoft YaHei" panose="020B0503020204020204" pitchFamily="34" charset="-122"/>
              </a:rPr>
              <a:t>copyout </a:t>
            </a:r>
            <a:r>
              <a:rPr lang="zh-CN" altLang="en-US" sz="1400" b="1">
                <a:solidFill>
                  <a:srgbClr val="EEF8FC"/>
                </a:solidFill>
                <a:latin typeface="Microsoft YaHei" panose="020B0503020204020204" pitchFamily="34" charset="-122"/>
              </a:rPr>
              <a:t>进阶实验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BA604C46-E707-6E30-01BA-61D7C84C3C57}"/>
              </a:ext>
            </a:extLst>
          </p:cNvPr>
          <p:cNvSpPr/>
          <p:nvPr/>
        </p:nvSpPr>
        <p:spPr>
          <a:xfrm>
            <a:off x="7035800" y="2667000"/>
            <a:ext cx="2222500" cy="914400"/>
          </a:xfrm>
          <a:prstGeom prst="roundRect">
            <a:avLst/>
          </a:prstGeom>
          <a:solidFill>
            <a:srgbClr val="08284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400" b="1">
                <a:solidFill>
                  <a:srgbClr val="EEF8FC"/>
                </a:solidFill>
                <a:latin typeface="Microsoft YaHei" panose="020B0503020204020204" pitchFamily="34" charset="-122"/>
              </a:rPr>
              <a:t>课程材料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C29DAF71-D7B3-FA61-E14F-B99B91EE3CE9}"/>
              </a:ext>
            </a:extLst>
          </p:cNvPr>
          <p:cNvSpPr/>
          <p:nvPr/>
        </p:nvSpPr>
        <p:spPr>
          <a:xfrm>
            <a:off x="1193800" y="4191000"/>
            <a:ext cx="2222500" cy="914400"/>
          </a:xfrm>
          <a:prstGeom prst="roundRect">
            <a:avLst/>
          </a:prstGeom>
          <a:solidFill>
            <a:srgbClr val="08284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400" b="1">
                <a:solidFill>
                  <a:srgbClr val="EEF8FC"/>
                </a:solidFill>
                <a:latin typeface="Microsoft YaHei" panose="020B0503020204020204" pitchFamily="34" charset="-122"/>
              </a:rPr>
              <a:t>复现工具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2DBD55EA-45AE-5034-FB46-F7E12F337091}"/>
              </a:ext>
            </a:extLst>
          </p:cNvPr>
          <p:cNvSpPr/>
          <p:nvPr/>
        </p:nvSpPr>
        <p:spPr>
          <a:xfrm>
            <a:off x="4114800" y="4191000"/>
            <a:ext cx="2222500" cy="914400"/>
          </a:xfrm>
          <a:prstGeom prst="roundRect">
            <a:avLst/>
          </a:prstGeom>
          <a:solidFill>
            <a:srgbClr val="23B26D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400" b="1">
                <a:solidFill>
                  <a:srgbClr val="09243D"/>
                </a:solidFill>
                <a:latin typeface="Microsoft YaHei" panose="020B0503020204020204" pitchFamily="34" charset="-122"/>
              </a:rPr>
              <a:t>验收证据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88C09052-C740-95DE-686B-131EBF95BF7A}"/>
              </a:ext>
            </a:extLst>
          </p:cNvPr>
          <p:cNvSpPr/>
          <p:nvPr/>
        </p:nvSpPr>
        <p:spPr>
          <a:xfrm>
            <a:off x="4572000" y="5461000"/>
            <a:ext cx="3175000" cy="533400"/>
          </a:xfrm>
          <a:prstGeom prst="roundRect">
            <a:avLst/>
          </a:prstGeom>
          <a:solidFill>
            <a:srgbClr val="F5B84B"/>
          </a:solidFill>
          <a:ln w="13970">
            <a:solidFill>
              <a:srgbClr val="F5B84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500" b="1">
                <a:solidFill>
                  <a:srgbClr val="09243D"/>
                </a:solidFill>
                <a:latin typeface="Microsoft YaHei" panose="020B0503020204020204" pitchFamily="34" charset="-122"/>
              </a:rPr>
              <a:t>可执行的组织创新</a:t>
            </a:r>
          </a:p>
        </p:txBody>
      </p:sp>
    </p:spTree>
    <p:extLst>
      <p:ext uri="{BB962C8B-B14F-4D97-AF65-F5344CB8AC3E}">
        <p14:creationId xmlns:p14="http://schemas.microsoft.com/office/powerpoint/2010/main" val="20136974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5FDFD445-7A41-D118-0583-D455D023E9F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B33"/>
          </a:solidFill>
          <a:ln>
            <a:solidFill>
              <a:srgbClr val="061B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A5DF01A-437C-3393-F429-D3C259DD7E2A}"/>
              </a:ext>
            </a:extLst>
          </p:cNvPr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19D3E6"/>
          </a:solidFill>
          <a:ln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DDBED0F-596B-98A9-8C9F-2C381F1208F2}"/>
              </a:ext>
            </a:extLst>
          </p:cNvPr>
          <p:cNvSpPr/>
          <p:nvPr/>
        </p:nvSpPr>
        <p:spPr>
          <a:xfrm>
            <a:off x="10033000" y="0"/>
            <a:ext cx="2159000" cy="6858000"/>
          </a:xfrm>
          <a:prstGeom prst="rect">
            <a:avLst/>
          </a:prstGeom>
          <a:solidFill>
            <a:srgbClr val="082846"/>
          </a:solidFill>
          <a:ln>
            <a:solidFill>
              <a:srgbClr val="0828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C8B1F01-DBFF-73A0-2E82-67B5DB594325}"/>
              </a:ext>
            </a:extLst>
          </p:cNvPr>
          <p:cNvSpPr txBox="1"/>
          <p:nvPr/>
        </p:nvSpPr>
        <p:spPr>
          <a:xfrm>
            <a:off x="660400" y="431800"/>
            <a:ext cx="711200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600" b="1">
                <a:solidFill>
                  <a:srgbClr val="FFFFFF"/>
                </a:solidFill>
                <a:latin typeface="Microsoft YaHei" panose="020B0503020204020204" pitchFamily="34" charset="-122"/>
              </a:rPr>
              <a:t>边界与总结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5DE15A8-3B7F-8ACB-514E-76B8B76D42E2}"/>
              </a:ext>
            </a:extLst>
          </p:cNvPr>
          <p:cNvSpPr txBox="1"/>
          <p:nvPr/>
        </p:nvSpPr>
        <p:spPr>
          <a:xfrm>
            <a:off x="10972800" y="431800"/>
            <a:ext cx="584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US" altLang="zh-CN" b="1">
                <a:solidFill>
                  <a:srgbClr val="7CE8F2"/>
                </a:solidFill>
                <a:latin typeface="Microsoft YaHei" panose="020B0503020204020204" pitchFamily="34" charset="-122"/>
              </a:rPr>
              <a:t>16</a:t>
            </a:r>
            <a:endParaRPr lang="zh-CN" altLang="en-US" b="1">
              <a:solidFill>
                <a:srgbClr val="7CE8F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2D03E13-9DC9-804C-A6CB-9C8A09A87F62}"/>
              </a:ext>
            </a:extLst>
          </p:cNvPr>
          <p:cNvSpPr txBox="1"/>
          <p:nvPr/>
        </p:nvSpPr>
        <p:spPr>
          <a:xfrm>
            <a:off x="685800" y="1092200"/>
            <a:ext cx="8255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500">
                <a:solidFill>
                  <a:srgbClr val="EEF8FC"/>
                </a:solidFill>
                <a:latin typeface="Microsoft YaHei" panose="020B0503020204020204" pitchFamily="34" charset="-122"/>
              </a:rPr>
              <a:t>边界说清楚，可信度才站得住：它不是完整内核工程，但是真实、可复现、可教学。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1BE4324C-F196-E932-9A23-E5B7FAE2F223}"/>
              </a:ext>
            </a:extLst>
          </p:cNvPr>
          <p:cNvSpPr/>
          <p:nvPr/>
        </p:nvSpPr>
        <p:spPr>
          <a:xfrm>
            <a:off x="1041400" y="2349500"/>
            <a:ext cx="2413000" cy="1041400"/>
          </a:xfrm>
          <a:prstGeom prst="roundRect">
            <a:avLst/>
          </a:prstGeom>
          <a:solidFill>
            <a:srgbClr val="23B26D"/>
          </a:solidFill>
          <a:ln w="13970">
            <a:solidFill>
              <a:srgbClr val="23B26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050" b="1">
                <a:solidFill>
                  <a:srgbClr val="09243D"/>
                </a:solidFill>
                <a:latin typeface="Microsoft YaHei" panose="020B0503020204020204" pitchFamily="34" charset="-122"/>
              </a:rPr>
              <a:t>已完成</a:t>
            </a:r>
          </a:p>
          <a:p>
            <a:pPr algn="ctr"/>
            <a:r>
              <a:rPr lang="zh-CN" altLang="en-US" sz="1050" b="1">
                <a:solidFill>
                  <a:srgbClr val="09243D"/>
                </a:solidFill>
                <a:latin typeface="Microsoft YaHei" panose="020B0503020204020204" pitchFamily="34" charset="-122"/>
              </a:rPr>
              <a:t>已完成：</a:t>
            </a:r>
            <a:r>
              <a:rPr lang="en-US" altLang="zh-CN" sz="1050" b="1">
                <a:solidFill>
                  <a:srgbClr val="09243D"/>
                </a:solidFill>
                <a:latin typeface="Microsoft YaHei" panose="020B0503020204020204" pitchFamily="34" charset="-122"/>
              </a:rPr>
              <a:t>integrated 0001-0009</a:t>
            </a:r>
            <a:r>
              <a:rPr lang="zh-CN" altLang="en-US" sz="1050" b="1">
                <a:solidFill>
                  <a:srgbClr val="09243D"/>
                </a:solidFill>
                <a:latin typeface="Microsoft YaHei" panose="020B0503020204020204" pitchFamily="34" charset="-122"/>
              </a:rPr>
              <a:t>，</a:t>
            </a:r>
            <a:r>
              <a:rPr lang="en-US" altLang="zh-CN" sz="1050" b="1">
                <a:solidFill>
                  <a:srgbClr val="09243D"/>
                </a:solidFill>
                <a:latin typeface="Microsoft YaHei" panose="020B0503020204020204" pitchFamily="34" charset="-122"/>
              </a:rPr>
              <a:t>Lab0-Lab5 </a:t>
            </a:r>
            <a:r>
              <a:rPr lang="zh-CN" altLang="en-US" sz="1050" b="1">
                <a:solidFill>
                  <a:srgbClr val="09243D"/>
                </a:solidFill>
                <a:latin typeface="Microsoft YaHei" panose="020B0503020204020204" pitchFamily="34" charset="-122"/>
              </a:rPr>
              <a:t>课程实验体系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1150211-6874-524B-2AE0-C04DBD8BB98E}"/>
              </a:ext>
            </a:extLst>
          </p:cNvPr>
          <p:cNvSpPr/>
          <p:nvPr/>
        </p:nvSpPr>
        <p:spPr>
          <a:xfrm>
            <a:off x="3962400" y="2349500"/>
            <a:ext cx="2413000" cy="10414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050" b="1">
                <a:solidFill>
                  <a:srgbClr val="09243D"/>
                </a:solidFill>
                <a:latin typeface="Microsoft YaHei" panose="020B0503020204020204" pitchFamily="34" charset="-122"/>
              </a:rPr>
              <a:t>已验证</a:t>
            </a:r>
          </a:p>
          <a:p>
            <a:pPr algn="ctr"/>
            <a:r>
              <a:rPr lang="zh-CN" altLang="en-US" sz="1050" b="1">
                <a:solidFill>
                  <a:srgbClr val="09243D"/>
                </a:solidFill>
                <a:latin typeface="Microsoft YaHei" panose="020B0503020204020204" pitchFamily="34" charset="-122"/>
              </a:rPr>
              <a:t>已验证：</a:t>
            </a:r>
            <a:r>
              <a:rPr lang="en-US" altLang="zh-CN" sz="1050" b="1">
                <a:solidFill>
                  <a:srgbClr val="09243D"/>
                </a:solidFill>
                <a:latin typeface="Microsoft YaHei" panose="020B0503020204020204" pitchFamily="34" charset="-122"/>
              </a:rPr>
              <a:t>rain / root / z2996 </a:t>
            </a:r>
            <a:r>
              <a:rPr lang="zh-CN" altLang="en-US" sz="1050" b="1">
                <a:solidFill>
                  <a:srgbClr val="09243D"/>
                </a:solidFill>
                <a:latin typeface="Microsoft YaHei" panose="020B0503020204020204" pitchFamily="34" charset="-122"/>
              </a:rPr>
              <a:t>全量验证通过，</a:t>
            </a:r>
            <a:r>
              <a:rPr lang="en-US" altLang="zh-CN" sz="1050" b="1">
                <a:solidFill>
                  <a:srgbClr val="09243D"/>
                </a:solidFill>
                <a:latin typeface="Microsoft YaHei" panose="020B0503020204020204" pitchFamily="34" charset="-122"/>
              </a:rPr>
              <a:t>14/14 SHA256 matched</a:t>
            </a:r>
            <a:endParaRPr lang="zh-CN" altLang="en-US" sz="1050" b="1">
              <a:solidFill>
                <a:srgbClr val="09243D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518633BE-27C6-C730-1C05-F218D5E784D5}"/>
              </a:ext>
            </a:extLst>
          </p:cNvPr>
          <p:cNvSpPr/>
          <p:nvPr/>
        </p:nvSpPr>
        <p:spPr>
          <a:xfrm>
            <a:off x="6883400" y="2349500"/>
            <a:ext cx="2413000" cy="1041400"/>
          </a:xfrm>
          <a:prstGeom prst="roundRect">
            <a:avLst/>
          </a:prstGeom>
          <a:solidFill>
            <a:srgbClr val="1C6DD0"/>
          </a:solidFill>
          <a:ln w="13970">
            <a:solidFill>
              <a:srgbClr val="1C6D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050" b="1">
                <a:solidFill>
                  <a:srgbClr val="FFFFFF"/>
                </a:solidFill>
                <a:latin typeface="Microsoft YaHei" panose="020B0503020204020204" pitchFamily="34" charset="-122"/>
              </a:rPr>
              <a:t>历史点</a:t>
            </a:r>
          </a:p>
          <a:p>
            <a:pPr algn="ctr"/>
            <a:r>
              <a:rPr lang="zh-CN" altLang="en-US" sz="1050" b="1">
                <a:solidFill>
                  <a:srgbClr val="FFFFFF"/>
                </a:solidFill>
                <a:latin typeface="Microsoft YaHei" panose="020B0503020204020204" pitchFamily="34" charset="-122"/>
              </a:rPr>
              <a:t>历史点：</a:t>
            </a:r>
            <a:r>
              <a:rPr lang="en-US" altLang="zh-CN" sz="1050" b="1">
                <a:solidFill>
                  <a:srgbClr val="FFFFFF"/>
                </a:solidFill>
                <a:latin typeface="Microsoft YaHei" panose="020B0503020204020204" pitchFamily="34" charset="-122"/>
              </a:rPr>
              <a:t>e8e2fb9 / 0001-0007 </a:t>
            </a:r>
            <a:r>
              <a:rPr lang="zh-CN" altLang="en-US" sz="1050" b="1">
                <a:solidFill>
                  <a:srgbClr val="FFFFFF"/>
                </a:solidFill>
                <a:latin typeface="Microsoft YaHei" panose="020B0503020204020204" pitchFamily="34" charset="-122"/>
              </a:rPr>
              <a:t>只作为历史检查点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95BC7F9D-EB15-33A9-E652-3A7C068F2CE5}"/>
              </a:ext>
            </a:extLst>
          </p:cNvPr>
          <p:cNvSpPr/>
          <p:nvPr/>
        </p:nvSpPr>
        <p:spPr>
          <a:xfrm>
            <a:off x="1041400" y="4000500"/>
            <a:ext cx="2413000" cy="1041400"/>
          </a:xfrm>
          <a:prstGeom prst="roundRect">
            <a:avLst/>
          </a:prstGeom>
          <a:solidFill>
            <a:srgbClr val="F5B84B"/>
          </a:solidFill>
          <a:ln w="13970">
            <a:solidFill>
              <a:srgbClr val="F5B84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050" b="1">
                <a:solidFill>
                  <a:srgbClr val="09243D"/>
                </a:solidFill>
                <a:latin typeface="Microsoft YaHei" panose="020B0503020204020204" pitchFamily="34" charset="-122"/>
              </a:rPr>
              <a:t>不夸大</a:t>
            </a:r>
          </a:p>
          <a:p>
            <a:pPr algn="ctr"/>
            <a:r>
              <a:rPr lang="zh-CN" altLang="en-US" sz="1050" b="1">
                <a:solidFill>
                  <a:srgbClr val="09243D"/>
                </a:solidFill>
                <a:latin typeface="Microsoft YaHei" panose="020B0503020204020204" pitchFamily="34" charset="-122"/>
              </a:rPr>
              <a:t>不夸大：</a:t>
            </a:r>
            <a:r>
              <a:rPr lang="en-US" altLang="zh-CN" sz="1050" b="1">
                <a:solidFill>
                  <a:srgbClr val="09243D"/>
                </a:solidFill>
                <a:latin typeface="Microsoft YaHei" panose="020B0503020204020204" pitchFamily="34" charset="-122"/>
              </a:rPr>
              <a:t>pgcount/memstat </a:t>
            </a:r>
            <a:r>
              <a:rPr lang="zh-CN" altLang="en-US" sz="1050" b="1">
                <a:solidFill>
                  <a:srgbClr val="09243D"/>
                </a:solidFill>
                <a:latin typeface="Microsoft YaHei" panose="020B0503020204020204" pitchFamily="34" charset="-122"/>
              </a:rPr>
              <a:t>不是完整内存管理，</a:t>
            </a:r>
            <a:r>
              <a:rPr lang="en-US" altLang="zh-CN" sz="1050" b="1">
                <a:solidFill>
                  <a:srgbClr val="09243D"/>
                </a:solidFill>
                <a:latin typeface="Microsoft YaHei" panose="020B0503020204020204" pitchFamily="34" charset="-122"/>
              </a:rPr>
              <a:t>fcount/fdcount/fdinfo </a:t>
            </a:r>
            <a:r>
              <a:rPr lang="zh-CN" altLang="en-US" sz="1050" b="1">
                <a:solidFill>
                  <a:srgbClr val="09243D"/>
                </a:solidFill>
                <a:latin typeface="Microsoft YaHei" panose="020B0503020204020204" pitchFamily="34" charset="-122"/>
              </a:rPr>
              <a:t>不是完整文件系统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F97CB929-C239-5904-70F0-E6EE6C03A4A6}"/>
              </a:ext>
            </a:extLst>
          </p:cNvPr>
          <p:cNvSpPr/>
          <p:nvPr/>
        </p:nvSpPr>
        <p:spPr>
          <a:xfrm>
            <a:off x="3962400" y="4000500"/>
            <a:ext cx="2413000" cy="1041400"/>
          </a:xfrm>
          <a:prstGeom prst="roundRect">
            <a:avLst/>
          </a:prstGeom>
          <a:solidFill>
            <a:srgbClr val="082846"/>
          </a:solidFill>
          <a:ln w="13970">
            <a:solidFill>
              <a:srgbClr val="0828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050" b="1">
                <a:solidFill>
                  <a:srgbClr val="FFFFFF"/>
                </a:solidFill>
                <a:latin typeface="Microsoft YaHei" panose="020B0503020204020204" pitchFamily="34" charset="-122"/>
              </a:rPr>
              <a:t>最后确认</a:t>
            </a:r>
          </a:p>
          <a:p>
            <a:pPr algn="ctr"/>
            <a:r>
              <a:rPr lang="zh-CN" altLang="en-US" sz="1050" b="1">
                <a:solidFill>
                  <a:srgbClr val="FFFFFF"/>
                </a:solidFill>
                <a:latin typeface="Microsoft YaHei" panose="020B0503020204020204" pitchFamily="34" charset="-122"/>
              </a:rPr>
              <a:t>提交前最后确认：平台提交方式最终确认；</a:t>
            </a:r>
            <a:r>
              <a:rPr lang="en-US" altLang="zh-CN" sz="1050" b="1">
                <a:solidFill>
                  <a:srgbClr val="FFFFFF"/>
                </a:solidFill>
                <a:latin typeface="Microsoft YaHei" panose="020B0503020204020204" pitchFamily="34" charset="-122"/>
              </a:rPr>
              <a:t>PPT 5-8 </a:t>
            </a:r>
            <a:r>
              <a:rPr lang="zh-CN" altLang="en-US" sz="1050" b="1">
                <a:solidFill>
                  <a:srgbClr val="FFFFFF"/>
                </a:solidFill>
                <a:latin typeface="Microsoft YaHei" panose="020B0503020204020204" pitchFamily="34" charset="-122"/>
              </a:rPr>
              <a:t>分钟人工排练；按 </a:t>
            </a:r>
            <a:r>
              <a:rPr lang="en-US" altLang="zh-CN" sz="1050" b="1">
                <a:solidFill>
                  <a:srgbClr val="FFFFFF"/>
                </a:solidFill>
                <a:latin typeface="Microsoft YaHei" panose="020B0503020204020204" pitchFamily="34" charset="-122"/>
              </a:rPr>
              <a:t>submission_checklist </a:t>
            </a:r>
            <a:r>
              <a:rPr lang="zh-CN" altLang="en-US" sz="1050" b="1">
                <a:solidFill>
                  <a:srgbClr val="FFFFFF"/>
                </a:solidFill>
                <a:latin typeface="Microsoft YaHei" panose="020B0503020204020204" pitchFamily="34" charset="-122"/>
              </a:rPr>
              <a:t>跑最终全检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39B5FF1E-5EBA-F69B-C5B3-65C63A34F2EE}"/>
              </a:ext>
            </a:extLst>
          </p:cNvPr>
          <p:cNvSpPr/>
          <p:nvPr/>
        </p:nvSpPr>
        <p:spPr>
          <a:xfrm>
            <a:off x="3479800" y="5740400"/>
            <a:ext cx="5207000" cy="482600"/>
          </a:xfrm>
          <a:prstGeom prst="roundRect">
            <a:avLst/>
          </a:prstGeom>
          <a:solidFill>
            <a:srgbClr val="19D3E6"/>
          </a:solidFill>
          <a:ln w="13970">
            <a:solidFill>
              <a:srgbClr val="19D3E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14300" tIns="76200" rIns="114300" bIns="76200" rtlCol="0" anchor="ctr"/>
          <a:lstStyle/>
          <a:p>
            <a:pPr algn="ctr"/>
            <a:r>
              <a:rPr lang="zh-CN" altLang="en-US" sz="1600" b="1">
                <a:solidFill>
                  <a:srgbClr val="09243D"/>
                </a:solidFill>
                <a:latin typeface="Microsoft YaHei" panose="020B0503020204020204" pitchFamily="34" charset="-122"/>
              </a:rPr>
              <a:t>真实 </a:t>
            </a:r>
            <a:r>
              <a:rPr lang="en-US" altLang="zh-CN" sz="1600" b="1">
                <a:solidFill>
                  <a:srgbClr val="09243D"/>
                </a:solidFill>
                <a:latin typeface="Microsoft YaHei" panose="020B0503020204020204" pitchFamily="34" charset="-122"/>
              </a:rPr>
              <a:t>/ </a:t>
            </a:r>
            <a:r>
              <a:rPr lang="zh-CN" altLang="en-US" sz="1600" b="1">
                <a:solidFill>
                  <a:srgbClr val="09243D"/>
                </a:solidFill>
                <a:latin typeface="Microsoft YaHei" panose="020B0503020204020204" pitchFamily="34" charset="-122"/>
              </a:rPr>
              <a:t>可复现 </a:t>
            </a:r>
            <a:r>
              <a:rPr lang="en-US" altLang="zh-CN" sz="1600" b="1">
                <a:solidFill>
                  <a:srgbClr val="09243D"/>
                </a:solidFill>
                <a:latin typeface="Microsoft YaHei" panose="020B0503020204020204" pitchFamily="34" charset="-122"/>
              </a:rPr>
              <a:t>/ </a:t>
            </a:r>
            <a:r>
              <a:rPr lang="zh-CN" altLang="en-US" sz="1600" b="1">
                <a:solidFill>
                  <a:srgbClr val="09243D"/>
                </a:solidFill>
                <a:latin typeface="Microsoft YaHei" panose="020B0503020204020204" pitchFamily="34" charset="-122"/>
              </a:rPr>
              <a:t>可教学</a:t>
            </a:r>
          </a:p>
        </p:txBody>
      </p:sp>
    </p:spTree>
    <p:extLst>
      <p:ext uri="{BB962C8B-B14F-4D97-AF65-F5344CB8AC3E}">
        <p14:creationId xmlns:p14="http://schemas.microsoft.com/office/powerpoint/2010/main" val="10423101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1765</Words>
  <Application>Microsoft Office PowerPoint</Application>
  <PresentationFormat>自定义</PresentationFormat>
  <Paragraphs>253</Paragraphs>
  <Slides>16</Slides>
  <Notes>16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1" baseType="lpstr">
      <vt:lpstr>等线</vt:lpstr>
      <vt:lpstr>等线 Light</vt:lpstr>
      <vt:lpstr>Microsoft YaHei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 ain</dc:creator>
  <cp:lastModifiedBy>R ain</cp:lastModifiedBy>
  <cp:revision>1</cp:revision>
  <dcterms:created xsi:type="dcterms:W3CDTF">2026-06-11T14:56:06Z</dcterms:created>
  <dcterms:modified xsi:type="dcterms:W3CDTF">2026-06-11T14:56:06Z</dcterms:modified>
</cp:coreProperties>
</file>